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2" r:id="rId4"/>
    <p:sldId id="263" r:id="rId5"/>
    <p:sldId id="261" r:id="rId6"/>
    <p:sldId id="266" r:id="rId7"/>
    <p:sldId id="267" r:id="rId8"/>
    <p:sldId id="269" r:id="rId9"/>
    <p:sldId id="258" r:id="rId10"/>
    <p:sldId id="260" r:id="rId11"/>
    <p:sldId id="270" r:id="rId12"/>
    <p:sldId id="259" r:id="rId13"/>
    <p:sldId id="268" r:id="rId14"/>
    <p:sldId id="271" r:id="rId15"/>
    <p:sldId id="272" r:id="rId16"/>
    <p:sldId id="277" r:id="rId17"/>
    <p:sldId id="28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-136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8E71D-E7D1-3643-959F-DA0FB7A02D7E}" type="datetimeFigureOut">
              <a:rPr lang="en-US" smtClean="0"/>
              <a:t>12/2/13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925C5-3766-B941-AE62-9D50A8ADC6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64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5925C5-3766-B941-AE62-9D50A8ADC6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2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5925C5-3766-B941-AE62-9D50A8ADC6A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7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57319"/>
            <a:ext cx="8915400" cy="87782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034553"/>
            <a:ext cx="8001000" cy="3823447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91440" rIns="274320" bIns="9144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025435"/>
            <a:ext cx="89154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943600"/>
            <a:ext cx="8001000" cy="91440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91440" rIns="274320" bIns="91440" rtlCol="0" anchor="t" anchorCtr="0"/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7988300" cy="3886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200399"/>
            <a:ext cx="8915400" cy="2286000"/>
          </a:xfrm>
          <a:solidFill>
            <a:schemeClr val="tx2"/>
          </a:solidFill>
        </p:spPr>
        <p:txBody>
          <a:bodyPr vert="horz" lIns="1188720" tIns="45720" rIns="274320" bIns="45720" rtlCol="0" anchor="b" anchorCtr="0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5484607"/>
            <a:ext cx="8001000" cy="777240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91440" rIns="274320" bIns="9144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595563"/>
            <a:ext cx="3566160" cy="368141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7534" y="2595563"/>
            <a:ext cx="3566160" cy="368141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588" y="2017713"/>
            <a:ext cx="3566160" cy="877887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588" y="3065929"/>
            <a:ext cx="3566160" cy="32110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47534" y="2017713"/>
            <a:ext cx="3566160" cy="877887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47534" y="3065929"/>
            <a:ext cx="3566160" cy="32110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600"/>
            </a:lvl6pPr>
            <a:lvl7pPr marL="2055813" indent="-344488">
              <a:defRPr sz="1600"/>
            </a:lvl7pPr>
            <a:lvl8pPr marL="2055813" indent="-344488">
              <a:defRPr sz="1600"/>
            </a:lvl8pPr>
            <a:lvl9pPr marL="2055813" indent="-344488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20588" y="188259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212028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238974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12028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238974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212028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238974" y="2904565"/>
            <a:ext cx="3383280" cy="1588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8915400" cy="914400"/>
          </a:xfr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7534" y="2590800"/>
            <a:ext cx="3566160" cy="368617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2000"/>
            </a:lvl6pPr>
            <a:lvl7pPr marL="2055813" indent="-344488">
              <a:defRPr sz="2000"/>
            </a:lvl7pPr>
            <a:lvl8pPr marL="2055813" indent="-344488">
              <a:defRPr sz="2000"/>
            </a:lvl8pPr>
            <a:lvl9pPr marL="2055813" indent="-344488"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952" y="2039111"/>
            <a:ext cx="3566160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274320" rIns="274320" bIns="27432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4712"/>
            <a:ext cx="8915400" cy="914400"/>
          </a:xfr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7987" y="2048256"/>
            <a:ext cx="3427413" cy="420624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039112"/>
            <a:ext cx="4572000" cy="4224528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92608" tIns="274320" rIns="274320" bIns="274320" rtlCol="0" anchor="t" anchorCtr="0">
            <a:normAutofit/>
          </a:bodyPr>
          <a:lstStyle>
            <a:lvl1pPr marL="0" indent="0"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Font typeface="Wingdings 2" pitchFamily="18" charset="2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7988300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3986784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4928616" y="1129553"/>
            <a:ext cx="3986784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114800"/>
            <a:ext cx="8915400" cy="877824"/>
          </a:xfrm>
        </p:spPr>
        <p:txBody>
          <a:bodyPr tIns="137160" bIns="137160" anchor="b" anchorCtr="0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002305"/>
            <a:ext cx="8001000" cy="185569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137160" rIns="274320" bIns="137160" rtlCol="0" anchor="t" anchorCtr="0">
            <a:normAutofit/>
          </a:bodyPr>
          <a:lstStyle>
            <a:lvl1pPr marL="0" indent="0" algn="l" defTabSz="914400" rtl="0" eaLnBrk="1" latinLnBrk="0" hangingPunct="1">
              <a:spcBef>
                <a:spcPts val="300"/>
              </a:spcBef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0094" y="188259"/>
            <a:ext cx="2133600" cy="365125"/>
          </a:xfrm>
        </p:spPr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27100" y="1129553"/>
            <a:ext cx="6601968" cy="29809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7543800" y="1129553"/>
            <a:ext cx="1371600" cy="14813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543800" y="2629169"/>
            <a:ext cx="1371600" cy="148132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7553" y="1129554"/>
            <a:ext cx="914400" cy="5533278"/>
          </a:xfrm>
        </p:spPr>
        <p:txBody>
          <a:bodyPr vert="eaVert" lIns="274320" tIns="685800" bIns="68580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1734671"/>
            <a:ext cx="6426200" cy="4542304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123856"/>
            <a:ext cx="8913813" cy="914400"/>
          </a:xfrm>
          <a:prstGeom prst="rect">
            <a:avLst/>
          </a:prstGeom>
          <a:solidFill>
            <a:schemeClr val="tx2"/>
          </a:solidFill>
        </p:spPr>
        <p:txBody>
          <a:bodyPr vert="horz" lIns="1188720" tIns="45720" rIns="27432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4424" y="2595562"/>
            <a:ext cx="7610476" cy="3670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80094" y="18825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0FAA508-F0CD-46EA-95FB-26B559A0B5D9}" type="datetimeFigureOut">
              <a:rPr lang="en-US" smtClean="0"/>
              <a:t>12/2/13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0588" y="188259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9894" y="65690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A822907-8A9D-4F6B-98F6-913902AD56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0"/>
            <a:ext cx="7999413" cy="18288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6675120"/>
            <a:ext cx="7999413" cy="18288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marL="0" indent="0" algn="l" defTabSz="914400" rtl="0" eaLnBrk="1" latinLnBrk="0" hangingPunct="1"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accent1"/>
        </a:buClr>
        <a:buFont typeface="Wingdings 2" pitchFamily="18" charset="2"/>
        <a:buChar char="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/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/>
        </a:buClr>
        <a:buFont typeface="Wingdings 2" pitchFamily="18" charset="2"/>
        <a:buChar char="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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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7272"/>
            <a:ext cx="9144000" cy="1499141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Product Signaling Through User Reviews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732" y="2272552"/>
            <a:ext cx="8017935" cy="3823447"/>
          </a:xfrm>
        </p:spPr>
        <p:txBody>
          <a:bodyPr/>
          <a:lstStyle/>
          <a:p>
            <a:pPr algn="ctr"/>
            <a:r>
              <a:rPr lang="en-US" dirty="0" smtClean="0"/>
              <a:t>Presented By:</a:t>
            </a:r>
          </a:p>
          <a:p>
            <a:pPr algn="ctr"/>
            <a:r>
              <a:rPr lang="en-US" dirty="0" smtClean="0"/>
              <a:t>Nathan Smooha</a:t>
            </a:r>
          </a:p>
          <a:p>
            <a:pPr algn="ctr"/>
            <a:r>
              <a:rPr lang="en-US" dirty="0" smtClean="0"/>
              <a:t>December 3, </a:t>
            </a:r>
            <a:r>
              <a:rPr lang="en-US" dirty="0" smtClean="0"/>
              <a:t>2013</a:t>
            </a:r>
          </a:p>
          <a:p>
            <a:pPr algn="ctr"/>
            <a:r>
              <a:rPr lang="en-US" dirty="0" smtClean="0"/>
              <a:t>Experimental </a:t>
            </a:r>
            <a:r>
              <a:rPr lang="en-US" dirty="0" smtClean="0"/>
              <a:t>Economics </a:t>
            </a:r>
          </a:p>
          <a:p>
            <a:pPr algn="ctr"/>
            <a:r>
              <a:rPr lang="en-US" dirty="0" smtClean="0"/>
              <a:t>Texas A&amp;M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396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6934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131334"/>
            <a:ext cx="9144000" cy="5472666"/>
          </a:xfrm>
        </p:spPr>
        <p:txBody>
          <a:bodyPr/>
          <a:lstStyle/>
          <a:p>
            <a:r>
              <a:rPr lang="en-US" dirty="0"/>
              <a:t>Online shopping is a form of electronic commerce which affords consumers the ability to purchase goods and services from a firm over the </a:t>
            </a:r>
            <a:r>
              <a:rPr lang="en-US" dirty="0" smtClean="0"/>
              <a:t>Internet.</a:t>
            </a:r>
          </a:p>
          <a:p>
            <a:r>
              <a:rPr lang="en-US" dirty="0" smtClean="0"/>
              <a:t>There </a:t>
            </a:r>
            <a:r>
              <a:rPr lang="en-US" dirty="0"/>
              <a:t>are now 102,728 e-commerce retailers in the United States that are generating at least $12,000 per year in </a:t>
            </a:r>
            <a:r>
              <a:rPr lang="en-US" dirty="0" smtClean="0"/>
              <a:t>revenue.</a:t>
            </a:r>
          </a:p>
          <a:p>
            <a:r>
              <a:rPr lang="en-US" dirty="0" smtClean="0"/>
              <a:t>The </a:t>
            </a:r>
            <a:r>
              <a:rPr lang="en-US" dirty="0"/>
              <a:t>three largest online retailing corporations, </a:t>
            </a:r>
            <a:r>
              <a:rPr lang="en-US" dirty="0" err="1"/>
              <a:t>Alibaba</a:t>
            </a:r>
            <a:r>
              <a:rPr lang="en-US" dirty="0"/>
              <a:t>, </a:t>
            </a:r>
            <a:r>
              <a:rPr lang="en-US" dirty="0" err="1"/>
              <a:t>Amazon.com</a:t>
            </a:r>
            <a:r>
              <a:rPr lang="en-US" dirty="0"/>
              <a:t>, and eBay, accumulated over $3 billion dollars of revenue in </a:t>
            </a:r>
            <a:r>
              <a:rPr lang="en-US" dirty="0" smtClean="0"/>
              <a:t>2013.</a:t>
            </a:r>
          </a:p>
          <a:p>
            <a:r>
              <a:rPr lang="en-US" dirty="0" smtClean="0"/>
              <a:t>E-</a:t>
            </a:r>
            <a:r>
              <a:rPr lang="en-US" dirty="0"/>
              <a:t>commerce business-to-consumer product sales totaled $142.5 billion, representing about 8% of retail product sales in the U.S.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4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456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Industrial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3856"/>
            <a:ext cx="9143999" cy="5586234"/>
          </a:xfrm>
        </p:spPr>
        <p:txBody>
          <a:bodyPr>
            <a:normAutofit/>
          </a:bodyPr>
          <a:lstStyle/>
          <a:p>
            <a:r>
              <a:rPr lang="en-US" dirty="0" smtClean="0"/>
              <a:t>Industrial organization is a popular topic within experimental economics.</a:t>
            </a:r>
            <a:endParaRPr lang="en-US" dirty="0"/>
          </a:p>
          <a:p>
            <a:r>
              <a:rPr lang="en-US" dirty="0" smtClean="0"/>
              <a:t>Experimental designs tend </a:t>
            </a:r>
            <a:r>
              <a:rPr lang="en-US" dirty="0"/>
              <a:t>to focus on market structure, firm objectives, industry studies</a:t>
            </a:r>
            <a:r>
              <a:rPr lang="en-US" dirty="0" smtClean="0"/>
              <a:t>, etc.</a:t>
            </a:r>
          </a:p>
          <a:p>
            <a:r>
              <a:rPr lang="en-US" dirty="0"/>
              <a:t>Some of the primary areas of interest include: product quality, asymmetric information, and market failures</a:t>
            </a:r>
            <a:r>
              <a:rPr lang="en-US" dirty="0" smtClean="0"/>
              <a:t>.</a:t>
            </a:r>
          </a:p>
          <a:p>
            <a:r>
              <a:rPr lang="en-US" dirty="0"/>
              <a:t>Moral hazard is a special case of information asymmetry that is especially concerning to economists because it often leads to market </a:t>
            </a:r>
            <a:r>
              <a:rPr lang="en-US" dirty="0" smtClean="0"/>
              <a:t>failures.</a:t>
            </a:r>
          </a:p>
          <a:p>
            <a:r>
              <a:rPr lang="en-US" dirty="0"/>
              <a:t>Note that different kinds of moral hazard can arise with asymmetric information, and there are various situations when it transpires.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4371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3318"/>
            <a:ext cx="91440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Moral Hazard and Signaling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07718"/>
            <a:ext cx="9144000" cy="5530221"/>
          </a:xfrm>
        </p:spPr>
        <p:txBody>
          <a:bodyPr/>
          <a:lstStyle/>
          <a:p>
            <a:r>
              <a:rPr lang="en-US" dirty="0" smtClean="0"/>
              <a:t>Moral </a:t>
            </a:r>
            <a:r>
              <a:rPr lang="en-US" dirty="0"/>
              <a:t>hazard </a:t>
            </a:r>
            <a:r>
              <a:rPr lang="en-US" dirty="0" smtClean="0"/>
              <a:t>is often </a:t>
            </a:r>
            <a:r>
              <a:rPr lang="en-US" dirty="0"/>
              <a:t>caused be the inability of buyers to perceive the characteristics of sellers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Solution: simple</a:t>
            </a:r>
            <a:r>
              <a:rPr lang="en-US" dirty="0"/>
              <a:t>, indirect communication from one set of agents to the other. </a:t>
            </a:r>
            <a:endParaRPr lang="en-US" dirty="0" smtClean="0"/>
          </a:p>
          <a:p>
            <a:r>
              <a:rPr lang="en-US" dirty="0" smtClean="0"/>
              <a:t>Sellers </a:t>
            </a:r>
            <a:r>
              <a:rPr lang="en-US" dirty="0"/>
              <a:t>are allowed to invest in costly, observable “signals” that are delivered to the buyers</a:t>
            </a:r>
            <a:r>
              <a:rPr lang="en-US" dirty="0" smtClean="0"/>
              <a:t>.</a:t>
            </a:r>
          </a:p>
          <a:p>
            <a:r>
              <a:rPr lang="en-US" dirty="0"/>
              <a:t>E</a:t>
            </a:r>
            <a:r>
              <a:rPr lang="en-US" dirty="0" smtClean="0"/>
              <a:t>xperiments </a:t>
            </a:r>
            <a:r>
              <a:rPr lang="en-US" dirty="0"/>
              <a:t>evaluating asymmetric information often try to determine the different </a:t>
            </a:r>
            <a:r>
              <a:rPr lang="en-US" dirty="0" err="1"/>
              <a:t>equilibria</a:t>
            </a:r>
            <a:r>
              <a:rPr lang="en-US" dirty="0"/>
              <a:t> that can </a:t>
            </a:r>
            <a:r>
              <a:rPr lang="en-US" dirty="0" smtClean="0"/>
              <a:t>arise.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41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8888"/>
            <a:ext cx="91440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Online Businesses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93289"/>
            <a:ext cx="9143999" cy="555908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Advantages:</a:t>
            </a:r>
          </a:p>
          <a:p>
            <a:r>
              <a:rPr lang="en-US" dirty="0" smtClean="0"/>
              <a:t>Have </a:t>
            </a:r>
            <a:r>
              <a:rPr lang="en-US" dirty="0"/>
              <a:t>eliminated the need for physical stores, so they operate exclusively over the Internet</a:t>
            </a:r>
            <a:r>
              <a:rPr lang="en-US" dirty="0" smtClean="0"/>
              <a:t>.</a:t>
            </a:r>
          </a:p>
          <a:p>
            <a:r>
              <a:rPr lang="en-US" dirty="0"/>
              <a:t>Customers are attracted to online shopping because of convenience, quick comparisons, broad product selection, and competitive prices. 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Disadvantages:</a:t>
            </a:r>
            <a:endParaRPr lang="en-US" b="1" dirty="0"/>
          </a:p>
          <a:p>
            <a:r>
              <a:rPr lang="en-US" dirty="0"/>
              <a:t>Product delivery and security of personal information are two primary </a:t>
            </a:r>
            <a:r>
              <a:rPr lang="en-US" dirty="0" smtClean="0"/>
              <a:t>concerns.</a:t>
            </a:r>
          </a:p>
          <a:p>
            <a:r>
              <a:rPr lang="en-US" dirty="0" smtClean="0"/>
              <a:t>Returning </a:t>
            </a:r>
            <a:r>
              <a:rPr lang="en-US" dirty="0"/>
              <a:t>or exchanging an item can be incredibly cumbersome. </a:t>
            </a:r>
            <a:endParaRPr lang="en-US" dirty="0" smtClean="0"/>
          </a:p>
          <a:p>
            <a:r>
              <a:rPr lang="en-US" dirty="0" smtClean="0"/>
              <a:t>Consumers </a:t>
            </a:r>
            <a:r>
              <a:rPr lang="en-US" dirty="0"/>
              <a:t>are at a higher risk of fraud by shopping online.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476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456"/>
            <a:ext cx="91440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Overcoming Moral Hazard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3856"/>
            <a:ext cx="9144000" cy="5542943"/>
          </a:xfrm>
        </p:spPr>
        <p:txBody>
          <a:bodyPr>
            <a:normAutofit/>
          </a:bodyPr>
          <a:lstStyle/>
          <a:p>
            <a:r>
              <a:rPr lang="en-US" dirty="0"/>
              <a:t>Sellers no longer need to send signals to buyers prior to a transaction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Buyers </a:t>
            </a:r>
            <a:r>
              <a:rPr lang="en-US" dirty="0"/>
              <a:t>can leave reviews on a product for other consumers to see.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fact, many online stores allow customers to comment on and/or rate their items</a:t>
            </a:r>
            <a:r>
              <a:rPr lang="en-US" dirty="0" smtClean="0"/>
              <a:t>.</a:t>
            </a:r>
          </a:p>
          <a:p>
            <a:r>
              <a:rPr lang="en-US" dirty="0"/>
              <a:t>One of the great benefits of online shopping is the ability to read product </a:t>
            </a:r>
            <a:r>
              <a:rPr lang="en-US" dirty="0" smtClean="0"/>
              <a:t>reviews.</a:t>
            </a:r>
          </a:p>
          <a:p>
            <a:r>
              <a:rPr lang="en-US" dirty="0" smtClean="0"/>
              <a:t>According </a:t>
            </a:r>
            <a:r>
              <a:rPr lang="en-US" dirty="0"/>
              <a:t>to the research, reviews play an important role in influencing consumers who tend to make purchases online</a:t>
            </a:r>
            <a:r>
              <a:rPr lang="en-US" dirty="0" smtClean="0"/>
              <a:t>.</a:t>
            </a:r>
          </a:p>
          <a:p>
            <a:r>
              <a:rPr lang="en-US" dirty="0"/>
              <a:t>Most online shoppers indicate that they must first consult online reviews before buying an item.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32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456"/>
            <a:ext cx="91440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Literature 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3856"/>
            <a:ext cx="9144000" cy="573414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Market Failure and </a:t>
            </a:r>
            <a:r>
              <a:rPr lang="en-US" b="1" dirty="0" smtClean="0"/>
              <a:t>Signaling:</a:t>
            </a:r>
            <a:endParaRPr lang="en-US" b="1" dirty="0"/>
          </a:p>
          <a:p>
            <a:r>
              <a:rPr lang="en-US" dirty="0" smtClean="0"/>
              <a:t>Miller </a:t>
            </a:r>
            <a:r>
              <a:rPr lang="en-US" dirty="0"/>
              <a:t>and </a:t>
            </a:r>
            <a:r>
              <a:rPr lang="en-US" dirty="0" err="1"/>
              <a:t>Plott</a:t>
            </a:r>
            <a:r>
              <a:rPr lang="en-US" dirty="0"/>
              <a:t> (1985)</a:t>
            </a:r>
          </a:p>
          <a:p>
            <a:r>
              <a:rPr lang="en-US" dirty="0" smtClean="0"/>
              <a:t>Lynch</a:t>
            </a:r>
            <a:r>
              <a:rPr lang="en-US" dirty="0"/>
              <a:t>, Miller, </a:t>
            </a:r>
            <a:r>
              <a:rPr lang="en-US" dirty="0" err="1"/>
              <a:t>Plott</a:t>
            </a:r>
            <a:r>
              <a:rPr lang="en-US" dirty="0"/>
              <a:t>, and Porter (1986</a:t>
            </a:r>
            <a:r>
              <a:rPr lang="en-US" dirty="0" smtClean="0"/>
              <a:t>)</a:t>
            </a:r>
          </a:p>
          <a:p>
            <a:r>
              <a:rPr lang="en-US" dirty="0"/>
              <a:t>Holt and Sherman (1990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b="1" dirty="0" smtClean="0"/>
              <a:t>User Reviews:</a:t>
            </a:r>
          </a:p>
          <a:p>
            <a:r>
              <a:rPr lang="en-US" dirty="0" err="1" smtClean="0"/>
              <a:t>Hennig-Thurau</a:t>
            </a:r>
            <a:r>
              <a:rPr lang="en-US" dirty="0" smtClean="0"/>
              <a:t> et al. (2004)</a:t>
            </a:r>
          </a:p>
          <a:p>
            <a:r>
              <a:rPr lang="en-US" dirty="0" err="1" smtClean="0"/>
              <a:t>Dellarocas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smtClean="0"/>
              <a:t>Narayan (2006)</a:t>
            </a:r>
            <a:endParaRPr lang="en-US" dirty="0"/>
          </a:p>
          <a:p>
            <a:r>
              <a:rPr lang="en-US" dirty="0" err="1"/>
              <a:t>Duan</a:t>
            </a:r>
            <a:r>
              <a:rPr lang="en-US" dirty="0"/>
              <a:t>, </a:t>
            </a:r>
            <a:r>
              <a:rPr lang="en-US" dirty="0" err="1"/>
              <a:t>Gu</a:t>
            </a:r>
            <a:r>
              <a:rPr lang="en-US" dirty="0"/>
              <a:t>, and </a:t>
            </a:r>
            <a:r>
              <a:rPr lang="en-US" dirty="0" err="1"/>
              <a:t>Whinston</a:t>
            </a:r>
            <a:r>
              <a:rPr lang="en-US" dirty="0"/>
              <a:t> (2008</a:t>
            </a:r>
            <a:r>
              <a:rPr lang="en-US" dirty="0" smtClean="0"/>
              <a:t>)</a:t>
            </a:r>
          </a:p>
          <a:p>
            <a:r>
              <a:rPr lang="en-US" dirty="0"/>
              <a:t>Hu, Liu, and Zhang (2008</a:t>
            </a:r>
            <a:r>
              <a:rPr lang="en-US" dirty="0" smtClean="0"/>
              <a:t>)</a:t>
            </a:r>
          </a:p>
          <a:p>
            <a:r>
              <a:rPr lang="en-US" dirty="0"/>
              <a:t>Kim and Gupta (2011)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3011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6609"/>
            <a:ext cx="91440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Contribution to Existing Literature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1009"/>
            <a:ext cx="9144000" cy="5515790"/>
          </a:xfrm>
        </p:spPr>
        <p:txBody>
          <a:bodyPr/>
          <a:lstStyle/>
          <a:p>
            <a:r>
              <a:rPr lang="en-US" dirty="0" smtClean="0"/>
              <a:t>A large </a:t>
            </a:r>
            <a:r>
              <a:rPr lang="en-US" dirty="0"/>
              <a:t>amount of the recent research on online reviews has focused on measuring the effect user reviews has on product </a:t>
            </a:r>
            <a:r>
              <a:rPr lang="en-US" dirty="0" smtClean="0"/>
              <a:t>sales.</a:t>
            </a:r>
          </a:p>
          <a:p>
            <a:r>
              <a:rPr lang="en-US" dirty="0" smtClean="0"/>
              <a:t>This </a:t>
            </a:r>
            <a:r>
              <a:rPr lang="en-US" dirty="0"/>
              <a:t>will be one of the first experiments to analyze the effect of user reviews on market outcomes</a:t>
            </a:r>
            <a:r>
              <a:rPr lang="en-US" dirty="0" smtClean="0"/>
              <a:t>.</a:t>
            </a:r>
          </a:p>
          <a:p>
            <a:r>
              <a:rPr lang="en-US" dirty="0"/>
              <a:t>It adds to the existing literature by measuring the impact user reviews have on market efficiency</a:t>
            </a:r>
            <a:r>
              <a:rPr lang="en-US" dirty="0" smtClean="0"/>
              <a:t>.</a:t>
            </a:r>
          </a:p>
          <a:p>
            <a:r>
              <a:rPr lang="en-US" dirty="0"/>
              <a:t>I</a:t>
            </a:r>
            <a:r>
              <a:rPr lang="en-US" dirty="0" smtClean="0"/>
              <a:t>t </a:t>
            </a:r>
            <a:r>
              <a:rPr lang="en-US" dirty="0"/>
              <a:t>will be one of the first “signaling” experiments attempting to solve the problems of moral hazard through buyer controlled </a:t>
            </a:r>
            <a:r>
              <a:rPr lang="en-US" dirty="0" smtClean="0"/>
              <a:t>signals.</a:t>
            </a:r>
          </a:p>
          <a:p>
            <a:r>
              <a:rPr lang="en-US" dirty="0"/>
              <a:t>The goal of the experiment is to assess the impact user reviews have on sellers' behavior.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23651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8534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Experimental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2934"/>
            <a:ext cx="9144000" cy="5577155"/>
          </a:xfrm>
        </p:spPr>
        <p:txBody>
          <a:bodyPr>
            <a:normAutofit/>
          </a:bodyPr>
          <a:lstStyle/>
          <a:p>
            <a:r>
              <a:rPr lang="en-US" dirty="0"/>
              <a:t>The experiment will be constructed using </a:t>
            </a:r>
            <a:r>
              <a:rPr lang="en-US" dirty="0" smtClean="0"/>
              <a:t>a 2x2 factorial design.</a:t>
            </a:r>
          </a:p>
          <a:p>
            <a:r>
              <a:rPr lang="en-US" dirty="0"/>
              <a:t>The treatment variable is whether or not buyers are able to leave a review or not</a:t>
            </a:r>
            <a:r>
              <a:rPr lang="en-US" dirty="0" smtClean="0"/>
              <a:t>.</a:t>
            </a:r>
          </a:p>
          <a:p>
            <a:r>
              <a:rPr lang="en-US" dirty="0" smtClean="0"/>
              <a:t>Each </a:t>
            </a:r>
            <a:r>
              <a:rPr lang="en-US" dirty="0"/>
              <a:t>cell of the table above will consist of two dimensions, denoted as </a:t>
            </a:r>
            <a:r>
              <a:rPr lang="en-US" dirty="0" err="1"/>
              <a:t>i</a:t>
            </a:r>
            <a:r>
              <a:rPr lang="en-US" dirty="0"/>
              <a:t>  and j  for </a:t>
            </a:r>
            <a:r>
              <a:rPr lang="en-US" dirty="0" smtClean="0"/>
              <a:t>simplicity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The </a:t>
            </a:r>
            <a:r>
              <a:rPr lang="en-US" dirty="0" err="1"/>
              <a:t>i</a:t>
            </a:r>
            <a:r>
              <a:rPr lang="en-US" dirty="0"/>
              <a:t>  dimension corresponds to a set of j  market periods, while the j  dimension corresponds to an individual market period run within a given </a:t>
            </a:r>
            <a:r>
              <a:rPr lang="en-US" dirty="0" err="1" smtClean="0"/>
              <a:t>i</a:t>
            </a:r>
            <a:r>
              <a:rPr lang="en-US" dirty="0" smtClean="0"/>
              <a:t>.</a:t>
            </a:r>
          </a:p>
          <a:p>
            <a:r>
              <a:rPr lang="en-US" dirty="0"/>
              <a:t>For each cell of the experiment, </a:t>
            </a:r>
            <a:r>
              <a:rPr lang="en-US" dirty="0" err="1"/>
              <a:t>i</a:t>
            </a:r>
            <a:r>
              <a:rPr lang="en-US" dirty="0"/>
              <a:t>=</a:t>
            </a:r>
            <a:r>
              <a:rPr lang="en-US" dirty="0" smtClean="0"/>
              <a:t>10 and j will be greater than or equal to 5.</a:t>
            </a:r>
          </a:p>
          <a:p>
            <a:r>
              <a:rPr lang="en-US" dirty="0" smtClean="0"/>
              <a:t>The </a:t>
            </a:r>
            <a:r>
              <a:rPr lang="en-US" dirty="0"/>
              <a:t>individual market periods will be “infinitely repeated” after five have already been completed, with probability p</a:t>
            </a:r>
            <a:r>
              <a:rPr lang="en-US" dirty="0" smtClean="0"/>
              <a:t>=3/5 </a:t>
            </a:r>
            <a:r>
              <a:rPr lang="en-US" dirty="0"/>
              <a:t>of another market period </a:t>
            </a:r>
            <a:r>
              <a:rPr lang="en-US" dirty="0" smtClean="0"/>
              <a:t>occurring</a:t>
            </a:r>
          </a:p>
        </p:txBody>
      </p:sp>
    </p:spTree>
    <p:extLst>
      <p:ext uri="{BB962C8B-B14F-4D97-AF65-F5344CB8AC3E}">
        <p14:creationId xmlns:p14="http://schemas.microsoft.com/office/powerpoint/2010/main" val="3518274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456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Experimental Design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3856"/>
            <a:ext cx="9143999" cy="5542944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different cohort of 30 individuals will be recruited to participate for each cell</a:t>
            </a:r>
            <a:r>
              <a:rPr lang="en-US" dirty="0" smtClean="0"/>
              <a:t>.</a:t>
            </a:r>
          </a:p>
          <a:p>
            <a:r>
              <a:rPr lang="en-US" dirty="0"/>
              <a:t>Of the subjects who attend, half will be randomly chosen to be the sellers of similar </a:t>
            </a:r>
            <a:r>
              <a:rPr lang="en-US" dirty="0" smtClean="0"/>
              <a:t>goods.</a:t>
            </a:r>
          </a:p>
          <a:p>
            <a:r>
              <a:rPr lang="en-US" dirty="0"/>
              <a:t>Prior to the start of each individual market period j , buyers and sellers will all be assigned a randomly determined ID </a:t>
            </a:r>
            <a:r>
              <a:rPr lang="en-US" dirty="0" smtClean="0"/>
              <a:t>number.</a:t>
            </a:r>
          </a:p>
          <a:p>
            <a:r>
              <a:rPr lang="en-US" dirty="0"/>
              <a:t>These ID numbers will change at the start of each new market period j  in order to maintain seller anonymity and prevent reputation building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No </a:t>
            </a:r>
            <a:r>
              <a:rPr lang="en-US" dirty="0"/>
              <a:t>information is carried over from earlier periods to later ones.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42999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456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Experiment Outline (Sellers)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3856"/>
            <a:ext cx="9144000" cy="5528512"/>
          </a:xfrm>
        </p:spPr>
        <p:txBody>
          <a:bodyPr>
            <a:normAutofit/>
          </a:bodyPr>
          <a:lstStyle/>
          <a:p>
            <a:r>
              <a:rPr lang="en-US" dirty="0" smtClean="0"/>
              <a:t>Sellers </a:t>
            </a:r>
            <a:r>
              <a:rPr lang="en-US" dirty="0"/>
              <a:t>must decide whether they wish to produce low quality or high quality </a:t>
            </a:r>
            <a:r>
              <a:rPr lang="en-US" dirty="0" smtClean="0"/>
              <a:t>products, and they will decide whether to sell these goods at high or low prices.</a:t>
            </a:r>
          </a:p>
          <a:p>
            <a:r>
              <a:rPr lang="en-US" dirty="0" smtClean="0"/>
              <a:t>The </a:t>
            </a:r>
            <a:r>
              <a:rPr lang="en-US" dirty="0"/>
              <a:t>decision in product quality will not be directly observed by buyers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Sellers </a:t>
            </a:r>
            <a:r>
              <a:rPr lang="en-US" dirty="0"/>
              <a:t>will have the opportunity to adjust both the level of quality and the prices at the start of each new market period </a:t>
            </a:r>
            <a:r>
              <a:rPr lang="en-US" dirty="0" smtClean="0"/>
              <a:t>j.</a:t>
            </a:r>
          </a:p>
          <a:p>
            <a:r>
              <a:rPr lang="en-US" dirty="0" smtClean="0"/>
              <a:t>All </a:t>
            </a:r>
            <a:r>
              <a:rPr lang="en-US" dirty="0"/>
              <a:t>sellers will face the same constant marginal cost </a:t>
            </a:r>
            <a:r>
              <a:rPr lang="en-US" dirty="0" smtClean="0"/>
              <a:t>schedule, and units will be “made to order.”</a:t>
            </a:r>
          </a:p>
          <a:p>
            <a:r>
              <a:rPr lang="en-US" dirty="0" smtClean="0"/>
              <a:t>MC</a:t>
            </a:r>
            <a:r>
              <a:rPr lang="en-US" baseline="-25000" dirty="0" smtClean="0"/>
              <a:t>L </a:t>
            </a:r>
            <a:r>
              <a:rPr lang="en-US" dirty="0" smtClean="0"/>
              <a:t>= 2; MC</a:t>
            </a:r>
            <a:r>
              <a:rPr lang="en-US" baseline="-25000" dirty="0" smtClean="0"/>
              <a:t>H</a:t>
            </a:r>
            <a:r>
              <a:rPr lang="en-US" dirty="0" smtClean="0"/>
              <a:t> = 6; P</a:t>
            </a:r>
            <a:r>
              <a:rPr lang="en-US" baseline="-25000" dirty="0" smtClean="0"/>
              <a:t>L</a:t>
            </a:r>
            <a:r>
              <a:rPr lang="en-US" dirty="0" smtClean="0"/>
              <a:t> = 2; P</a:t>
            </a:r>
            <a:r>
              <a:rPr lang="en-US" baseline="-25000" dirty="0" smtClean="0"/>
              <a:t>H</a:t>
            </a:r>
            <a:r>
              <a:rPr lang="en-US" dirty="0" smtClean="0"/>
              <a:t> = 10</a:t>
            </a:r>
          </a:p>
          <a:p>
            <a:r>
              <a:rPr lang="en-US" dirty="0" smtClean="0"/>
              <a:t>Profit </a:t>
            </a:r>
            <a:r>
              <a:rPr lang="en-US" dirty="0"/>
              <a:t>that sellers receive for a good will be equal to the price of the good minus the marginal cost.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331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456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Experiment Outline (Buyers)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3856"/>
            <a:ext cx="9144000" cy="5557374"/>
          </a:xfrm>
        </p:spPr>
        <p:txBody>
          <a:bodyPr>
            <a:normAutofit/>
          </a:bodyPr>
          <a:lstStyle/>
          <a:p>
            <a:r>
              <a:rPr lang="en-US" dirty="0"/>
              <a:t>A particular trading period j  will involve buyers and sellers interacting</a:t>
            </a:r>
            <a:r>
              <a:rPr lang="en-US" dirty="0" smtClean="0"/>
              <a:t>.</a:t>
            </a:r>
          </a:p>
          <a:p>
            <a:r>
              <a:rPr lang="en-US" dirty="0"/>
              <a:t> The sellers will post their asking prices, and the buyers choose who to engage in a trade</a:t>
            </a:r>
            <a:r>
              <a:rPr lang="en-US" dirty="0" smtClean="0"/>
              <a:t>.</a:t>
            </a:r>
          </a:p>
          <a:p>
            <a:r>
              <a:rPr lang="en-US" dirty="0"/>
              <a:t>Buyers can buy any number of units from a given </a:t>
            </a:r>
            <a:r>
              <a:rPr lang="en-US" dirty="0" smtClean="0"/>
              <a:t>seller. </a:t>
            </a:r>
          </a:p>
          <a:p>
            <a:r>
              <a:rPr lang="en-US" dirty="0" smtClean="0"/>
              <a:t>Buyers face </a:t>
            </a:r>
            <a:r>
              <a:rPr lang="en-US" dirty="0"/>
              <a:t>a budget </a:t>
            </a:r>
            <a:r>
              <a:rPr lang="en-US" dirty="0" smtClean="0"/>
              <a:t>constraint, which will be replenished for each new trading period j.</a:t>
            </a:r>
          </a:p>
          <a:p>
            <a:r>
              <a:rPr lang="en-US" dirty="0" smtClean="0"/>
              <a:t>Buyers are not obligated to purchase any goods, but they receive no utility from their budget.</a:t>
            </a:r>
          </a:p>
          <a:p>
            <a:r>
              <a:rPr lang="en-US" dirty="0" smtClean="0"/>
              <a:t>Buyers </a:t>
            </a:r>
            <a:r>
              <a:rPr lang="en-US" dirty="0"/>
              <a:t>will possess the same constant utility </a:t>
            </a:r>
            <a:r>
              <a:rPr lang="en-US" dirty="0" smtClean="0"/>
              <a:t>function.</a:t>
            </a:r>
          </a:p>
          <a:p>
            <a:r>
              <a:rPr lang="en-US" dirty="0" smtClean="0"/>
              <a:t>U</a:t>
            </a:r>
            <a:r>
              <a:rPr lang="en-US" baseline="-25000" dirty="0" smtClean="0"/>
              <a:t>H </a:t>
            </a:r>
            <a:r>
              <a:rPr lang="en-US" dirty="0" smtClean="0"/>
              <a:t>= 14 and U</a:t>
            </a:r>
            <a:r>
              <a:rPr lang="en-US" baseline="-25000" dirty="0" smtClean="0"/>
              <a:t>L</a:t>
            </a:r>
            <a:r>
              <a:rPr lang="en-US" dirty="0"/>
              <a:t> </a:t>
            </a:r>
            <a:r>
              <a:rPr lang="en-US" dirty="0" smtClean="0"/>
              <a:t>=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218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456"/>
            <a:ext cx="91440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Treatment (Leaving Reviews)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3856"/>
            <a:ext cx="9144000" cy="5514082"/>
          </a:xfrm>
        </p:spPr>
        <p:txBody>
          <a:bodyPr/>
          <a:lstStyle/>
          <a:p>
            <a:r>
              <a:rPr lang="en-US" dirty="0" smtClean="0"/>
              <a:t>After </a:t>
            </a:r>
            <a:r>
              <a:rPr lang="en-US" dirty="0"/>
              <a:t>all trading has concluded for a given market period j , buyers will have the option to leave a review for the different units of goods they bought.</a:t>
            </a:r>
            <a:endParaRPr lang="en-US" dirty="0"/>
          </a:p>
          <a:p>
            <a:r>
              <a:rPr lang="en-US" dirty="0"/>
              <a:t>In a review, the buyers can identify the seller they purchased from by using the designated ID number, and they will indicate whether they were “satisfied” or “unsatisfied” with their purchase</a:t>
            </a:r>
            <a:r>
              <a:rPr lang="en-US" dirty="0" smtClean="0"/>
              <a:t>.</a:t>
            </a:r>
          </a:p>
          <a:p>
            <a:r>
              <a:rPr lang="en-US" dirty="0"/>
              <a:t>Despite the IDs being randomized for each new </a:t>
            </a:r>
            <a:r>
              <a:rPr lang="en-US" dirty="0" smtClean="0"/>
              <a:t>j, </a:t>
            </a:r>
            <a:r>
              <a:rPr lang="en-US" dirty="0"/>
              <a:t>all of the reviews that sellers receive within a given set of trading periods </a:t>
            </a:r>
            <a:r>
              <a:rPr lang="en-US" dirty="0" err="1" smtClean="0"/>
              <a:t>i</a:t>
            </a:r>
            <a:r>
              <a:rPr lang="en-US" dirty="0" smtClean="0"/>
              <a:t> will </a:t>
            </a:r>
            <a:r>
              <a:rPr lang="en-US" dirty="0"/>
              <a:t>be </a:t>
            </a:r>
            <a:r>
              <a:rPr lang="en-US" dirty="0" smtClean="0"/>
              <a:t>maintained </a:t>
            </a:r>
            <a:r>
              <a:rPr lang="en-US" dirty="0"/>
              <a:t>and carried over for each j  market </a:t>
            </a:r>
            <a:r>
              <a:rPr lang="en-US" dirty="0" smtClean="0"/>
              <a:t>period.</a:t>
            </a:r>
          </a:p>
          <a:p>
            <a:r>
              <a:rPr lang="en-US" dirty="0"/>
              <a:t>The reviews attached to a seller will reset after each new set of market periods </a:t>
            </a:r>
            <a:r>
              <a:rPr lang="en-US" dirty="0" err="1" smtClean="0"/>
              <a:t>i</a:t>
            </a:r>
            <a:r>
              <a:rPr lang="en-US" dirty="0" smtClean="0"/>
              <a:t>.</a:t>
            </a:r>
          </a:p>
          <a:p>
            <a:r>
              <a:rPr lang="en-US" dirty="0" smtClean="0"/>
              <a:t>For the “low cost</a:t>
            </a:r>
            <a:r>
              <a:rPr lang="en-US" dirty="0"/>
              <a:t>” cell, </a:t>
            </a:r>
            <a:r>
              <a:rPr lang="en-US" dirty="0" smtClean="0"/>
              <a:t>the </a:t>
            </a:r>
            <a:r>
              <a:rPr lang="en-US" dirty="0"/>
              <a:t>fixed marginal cost that buyers must pay in order to leave a review will be R=3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38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456"/>
            <a:ext cx="91440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Theoretical Prediction (No Reviews)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3856"/>
            <a:ext cx="9144000" cy="5557373"/>
          </a:xfrm>
        </p:spPr>
        <p:txBody>
          <a:bodyPr>
            <a:normAutofit/>
          </a:bodyPr>
          <a:lstStyle/>
          <a:p>
            <a:r>
              <a:rPr lang="en-US" dirty="0"/>
              <a:t>To determine a reasonable Nash equilibrium of this n -person, “infinitely repeated” game</a:t>
            </a:r>
            <a:r>
              <a:rPr lang="en-US" dirty="0" smtClean="0"/>
              <a:t>, first </a:t>
            </a:r>
            <a:r>
              <a:rPr lang="en-US" dirty="0"/>
              <a:t>focus on the simple 2-person, single period scenario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Using </a:t>
            </a:r>
            <a:r>
              <a:rPr lang="en-US" dirty="0"/>
              <a:t>backward induction, we can determine that the pure-strategy, </a:t>
            </a:r>
            <a:r>
              <a:rPr lang="en-US" dirty="0" err="1"/>
              <a:t>subgame</a:t>
            </a:r>
            <a:r>
              <a:rPr lang="en-US" dirty="0"/>
              <a:t>-perfect Nash equilibrium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seller will choose to produce low quality goods and sell them at low prices, and the buyer will elect to purchase the goods. This outcome leads to a mutual payoff of 2 for both agents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 </a:t>
            </a:r>
            <a:r>
              <a:rPr lang="en-US" dirty="0"/>
              <a:t>can now extend the analysis to the n -person, “infinitely repeated” game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outcome of the infinitely repeated game matches that of the stage game.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217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6609"/>
            <a:ext cx="91440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Theoretical Predictions (Reviews, No Cost)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1010"/>
            <a:ext cx="9144000" cy="5515790"/>
          </a:xfrm>
        </p:spPr>
        <p:txBody>
          <a:bodyPr>
            <a:normAutofit/>
          </a:bodyPr>
          <a:lstStyle/>
          <a:p>
            <a:r>
              <a:rPr lang="en-US" dirty="0"/>
              <a:t>The “no reviews” treatment does not lead to the most efficient outcome.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would be more beneficial for both parties if high quality goods were sold at high prices, as opposed to the inefficient alternative</a:t>
            </a:r>
            <a:r>
              <a:rPr lang="en-US" dirty="0" smtClean="0"/>
              <a:t>.</a:t>
            </a:r>
          </a:p>
          <a:p>
            <a:r>
              <a:rPr lang="en-US" dirty="0"/>
              <a:t>The reviews allow buyers to relay information to one another about the types of goods being sold by any particular seller</a:t>
            </a:r>
            <a:r>
              <a:rPr lang="en-US" dirty="0" smtClean="0"/>
              <a:t>.</a:t>
            </a:r>
          </a:p>
          <a:p>
            <a:r>
              <a:rPr lang="en-US" dirty="0"/>
              <a:t>Let buyers adopt </a:t>
            </a:r>
            <a:r>
              <a:rPr lang="en-US" dirty="0" smtClean="0"/>
              <a:t>a grim </a:t>
            </a:r>
            <a:r>
              <a:rPr lang="en-US" dirty="0"/>
              <a:t>trigger strategy by taking advantage of user </a:t>
            </a:r>
            <a:r>
              <a:rPr lang="en-US" dirty="0" smtClean="0"/>
              <a:t>reviews.</a:t>
            </a:r>
            <a:endParaRPr lang="en-US" dirty="0"/>
          </a:p>
          <a:p>
            <a:r>
              <a:rPr lang="en-US" dirty="0"/>
              <a:t>According to the Folk Theorem, the </a:t>
            </a:r>
            <a:r>
              <a:rPr lang="en-US" dirty="0" err="1"/>
              <a:t>minmax</a:t>
            </a:r>
            <a:r>
              <a:rPr lang="en-US" dirty="0"/>
              <a:t> strategy profile </a:t>
            </a:r>
            <a:r>
              <a:rPr lang="en-US" dirty="0" smtClean="0"/>
              <a:t>with </a:t>
            </a:r>
            <a:r>
              <a:rPr lang="en-US" dirty="0" err="1" smtClean="0"/>
              <a:t>δ</a:t>
            </a:r>
            <a:r>
              <a:rPr lang="en-US" dirty="0" smtClean="0"/>
              <a:t> greater than or equal to 3/5 is </a:t>
            </a:r>
            <a:r>
              <a:rPr lang="en-US" dirty="0"/>
              <a:t>a Nash equilibrium of the infinitely repeated game. 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00610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7749"/>
            <a:ext cx="91440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Theoretical Predictions (Review, Low Cost)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4687"/>
            <a:ext cx="9144000" cy="5532112"/>
          </a:xfrm>
        </p:spPr>
        <p:txBody>
          <a:bodyPr>
            <a:normAutofit/>
          </a:bodyPr>
          <a:lstStyle/>
          <a:p>
            <a:r>
              <a:rPr lang="en-US" dirty="0"/>
              <a:t>In this treatment, there is now a cost of R=3  in order for consumers to leave a review. </a:t>
            </a:r>
            <a:endParaRPr lang="en-US" dirty="0" smtClean="0"/>
          </a:p>
          <a:p>
            <a:r>
              <a:rPr lang="en-US" dirty="0"/>
              <a:t>This cost </a:t>
            </a:r>
            <a:r>
              <a:rPr lang="en-US" dirty="0" smtClean="0"/>
              <a:t>could represent </a:t>
            </a:r>
            <a:r>
              <a:rPr lang="en-US" dirty="0"/>
              <a:t>the “time and effort” people expend to write and post a review on a website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cost is high enough such that it offsets the additional gains buyers receive from purchasing high quality, high priced </a:t>
            </a:r>
            <a:r>
              <a:rPr lang="en-US" dirty="0" smtClean="0"/>
              <a:t>items.</a:t>
            </a:r>
          </a:p>
          <a:p>
            <a:r>
              <a:rPr lang="en-US" dirty="0" smtClean="0"/>
              <a:t>The </a:t>
            </a:r>
            <a:r>
              <a:rPr lang="en-US" dirty="0"/>
              <a:t>previously described trigger strategy breaks down, and the inefficient outcome of the “no reviews” treatment arises once again</a:t>
            </a:r>
            <a:r>
              <a:rPr lang="en-US" dirty="0" smtClean="0"/>
              <a:t>.</a:t>
            </a:r>
          </a:p>
          <a:p>
            <a:r>
              <a:rPr lang="en-US" dirty="0"/>
              <a:t> In fact, buyers are better off purchasing low quality, low priced </a:t>
            </a:r>
            <a:r>
              <a:rPr lang="en-US" dirty="0" smtClean="0"/>
              <a:t>goods.</a:t>
            </a:r>
          </a:p>
          <a:p>
            <a:r>
              <a:rPr lang="en-US" dirty="0"/>
              <a:t>So, is there a way to alleviate the problems caused by </a:t>
            </a:r>
            <a:r>
              <a:rPr lang="en-US" dirty="0" smtClean="0"/>
              <a:t>the inherent costs associated with leaving a review?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46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2179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Analysis Expectations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77978"/>
            <a:ext cx="9144000" cy="54743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Sellers:</a:t>
            </a:r>
          </a:p>
          <a:p>
            <a:r>
              <a:rPr lang="en-US" dirty="0" smtClean="0"/>
              <a:t>I </a:t>
            </a:r>
            <a:r>
              <a:rPr lang="en-US" dirty="0"/>
              <a:t>hope to examine the impact of peer reviews on sellers quality selection and pricing behavior. </a:t>
            </a:r>
            <a:endParaRPr lang="en-US" dirty="0" smtClean="0"/>
          </a:p>
          <a:p>
            <a:r>
              <a:rPr lang="en-US" dirty="0"/>
              <a:t>Will there be any convergence to the efficient symmetric equilibrium in terms of quality and price? </a:t>
            </a:r>
            <a:endParaRPr lang="en-US" dirty="0" smtClean="0"/>
          </a:p>
          <a:p>
            <a:r>
              <a:rPr lang="en-US" dirty="0"/>
              <a:t>How will the introduction of user reviews affect their decisions</a:t>
            </a:r>
            <a:r>
              <a:rPr lang="en-US" dirty="0" smtClean="0"/>
              <a:t>?</a:t>
            </a:r>
          </a:p>
          <a:p>
            <a:pPr marL="0" indent="0">
              <a:buNone/>
            </a:pPr>
            <a:r>
              <a:rPr lang="en-US" b="1" smtClean="0"/>
              <a:t>Buyers:</a:t>
            </a:r>
            <a:endParaRPr lang="en-US" b="1" dirty="0" smtClean="0"/>
          </a:p>
          <a:p>
            <a:r>
              <a:rPr lang="en-US" dirty="0"/>
              <a:t>I hope to examine the impact of peer reviews on their buying decisions</a:t>
            </a:r>
            <a:r>
              <a:rPr lang="en-US" dirty="0" smtClean="0"/>
              <a:t>.</a:t>
            </a:r>
          </a:p>
          <a:p>
            <a:r>
              <a:rPr lang="en-US" dirty="0"/>
              <a:t>Will reviewed goods, even those with a negative review, sell better than goods with no reviews</a:t>
            </a:r>
            <a:r>
              <a:rPr lang="en-US" dirty="0" smtClean="0"/>
              <a:t>?</a:t>
            </a:r>
          </a:p>
          <a:p>
            <a:r>
              <a:rPr lang="en-US" dirty="0"/>
              <a:t>Will buyers even choose to pay a fee in order to leave a review?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572449"/>
      </p:ext>
    </p:extLst>
  </p:cSld>
  <p:clrMapOvr>
    <a:masterClrMapping/>
  </p:clrMapOvr>
</p:sld>
</file>

<file path=ppt/theme/theme1.xml><?xml version="1.0" encoding="utf-8"?>
<a:theme xmlns:a="http://schemas.openxmlformats.org/drawingml/2006/main" name="Perception">
  <a:themeElements>
    <a:clrScheme name="Perception">
      <a:dk1>
        <a:sysClr val="windowText" lastClr="000000"/>
      </a:dk1>
      <a:lt1>
        <a:sysClr val="window" lastClr="FFFFFF"/>
      </a:lt1>
      <a:dk2>
        <a:srgbClr val="333333"/>
      </a:dk2>
      <a:lt2>
        <a:srgbClr val="BBC0AC"/>
      </a:lt2>
      <a:accent1>
        <a:srgbClr val="A2C816"/>
      </a:accent1>
      <a:accent2>
        <a:srgbClr val="E07602"/>
      </a:accent2>
      <a:accent3>
        <a:srgbClr val="E4C402"/>
      </a:accent3>
      <a:accent4>
        <a:srgbClr val="7DC1EF"/>
      </a:accent4>
      <a:accent5>
        <a:srgbClr val="21449B"/>
      </a:accent5>
      <a:accent6>
        <a:srgbClr val="A2B170"/>
      </a:accent6>
      <a:hlink>
        <a:srgbClr val="8DA440"/>
      </a:hlink>
      <a:folHlink>
        <a:srgbClr val="4C4F3F"/>
      </a:folHlink>
    </a:clrScheme>
    <a:fontScheme name="Perception">
      <a:maj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entury Gothic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erception">
      <a:fillStyleLst>
        <a:solidFill>
          <a:schemeClr val="phClr"/>
        </a:solidFill>
        <a:solidFill>
          <a:schemeClr val="phClr">
            <a:shade val="90000"/>
          </a:schemeClr>
        </a:solidFill>
        <a:solidFill>
          <a:schemeClr val="phClr">
            <a:shade val="80000"/>
          </a:schemeClr>
        </a:soli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>
              <a:alpha val="8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bliqueTopRight"/>
            <a:lightRig rig="threePt" dir="tl"/>
          </a:scene3d>
          <a:sp3d>
            <a:bevelT w="25400" h="25400"/>
          </a:sp3d>
        </a:effectStyle>
        <a:effectStyle>
          <a:effectLst/>
          <a:scene3d>
            <a:camera prst="perspectiveFront" fov="4200000"/>
            <a:lightRig rig="balanced" dir="tl">
              <a:rot lat="0" lon="0" rev="18600000"/>
            </a:lightRig>
          </a:scene3d>
          <a:sp3d prstMaterial="metal">
            <a:bevelT w="63500" h="50800" prst="angle"/>
          </a:sp3d>
        </a:effectStyle>
      </a:effectStyleLst>
      <a:bgFillStyleLst>
        <a:solidFill>
          <a:schemeClr val="phClr">
            <a:tint val="90000"/>
          </a:schemeClr>
        </a:solidFill>
        <a:solidFill>
          <a:schemeClr val="phClr">
            <a:tint val="50000"/>
          </a:schemeClr>
        </a:solidFill>
        <a:solidFill>
          <a:schemeClr val="phClr">
            <a:shade val="60000"/>
          </a:schemeClr>
        </a:soli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Perception.thmx</Template>
  <TotalTime>881</TotalTime>
  <Words>1731</Words>
  <Application>Microsoft Macintosh PowerPoint</Application>
  <PresentationFormat>On-screen Show (4:3)</PresentationFormat>
  <Paragraphs>118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Perception</vt:lpstr>
      <vt:lpstr>Product Signaling Through User Reviews</vt:lpstr>
      <vt:lpstr>Introduction</vt:lpstr>
      <vt:lpstr>Industrial Organization</vt:lpstr>
      <vt:lpstr>Moral Hazard and Signaling</vt:lpstr>
      <vt:lpstr>Online Businesses</vt:lpstr>
      <vt:lpstr>Overcoming Moral Hazard</vt:lpstr>
      <vt:lpstr>Literature Review</vt:lpstr>
      <vt:lpstr>Contribution to Existing Literature</vt:lpstr>
      <vt:lpstr>Experimental Design</vt:lpstr>
      <vt:lpstr>Experimental Design (Cont.)</vt:lpstr>
      <vt:lpstr>Experiment Outline (Sellers)</vt:lpstr>
      <vt:lpstr>Experiment Outline (Buyers)</vt:lpstr>
      <vt:lpstr>Treatment (Leaving Reviews)</vt:lpstr>
      <vt:lpstr>Theoretical Prediction (No Reviews)</vt:lpstr>
      <vt:lpstr>Theoretical Predictions (Reviews, No Cost)</vt:lpstr>
      <vt:lpstr>Theoretical Predictions (Review, Low Cost)</vt:lpstr>
      <vt:lpstr>Analysis Expectations</vt:lpstr>
    </vt:vector>
  </TitlesOfParts>
  <Company>The Florida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“Does the Military Train Men to be Violent Criminals? New Evidence from Australia’s Conscription Lotteries”</dc:title>
  <dc:creator>Nathan Smooha</dc:creator>
  <cp:lastModifiedBy>Nathan Smooha</cp:lastModifiedBy>
  <cp:revision>140</cp:revision>
  <dcterms:created xsi:type="dcterms:W3CDTF">2013-11-11T20:18:51Z</dcterms:created>
  <dcterms:modified xsi:type="dcterms:W3CDTF">2013-12-02T23:17:50Z</dcterms:modified>
</cp:coreProperties>
</file>