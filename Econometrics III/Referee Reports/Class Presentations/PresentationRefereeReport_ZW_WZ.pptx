
<file path=[Content_Types].xml><?xml version="1.0" encoding="utf-8"?>
<Types xmlns="http://schemas.openxmlformats.org/package/2006/content-types">
  <Default Extension="rels" ContentType="application/vnd.openxmlformats-package.relationships+xml"/>
  <Override PartName="/ppt/slideLayouts/slideLayout1.xml" ContentType="application/vnd.openxmlformats-officedocument.presentationml.slideLayout+xml"/>
  <Default Extension="png" ContentType="image/png"/>
  <Override PartName="/ppt/slides/slide11.xml" ContentType="application/vnd.openxmlformats-officedocument.presentationml.slide+xml"/>
  <Default Extension="xml" ContentType="application/xml"/>
  <Override PartName="/ppt/slides/slide9.xml" ContentType="application/vnd.openxmlformats-officedocument.presentationml.slide+xml"/>
  <Default Extension="jpeg" ContentType="image/jpeg"/>
  <Override PartName="/ppt/tableStyles.xml" ContentType="application/vnd.openxmlformats-officedocument.presentationml.tableStyles+xml"/>
  <Override PartName="/ppt/slideLayouts/slideLayout8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theme/theme2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12.xml" ContentType="application/vnd.openxmlformats-officedocument.presentationml.slide+xml"/>
  <Default Extension="bin" ContentType="application/vnd.openxmlformats-officedocument.presentationml.printerSettings"/>
  <Override PartName="/ppt/slides/slide10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Layouts/slideLayout3.xml" ContentType="application/vnd.openxmlformats-officedocument.presentationml.slideLayout+xml"/>
  <Override PartName="/ppt/slides/slide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r:id="rId1"/>
  </p:sldMasterIdLst>
  <p:notesMasterIdLst>
    <p:notesMasterId r:id="rId20"/>
  </p:notesMasterIdLst>
  <p:sldIdLst>
    <p:sldId id="256" r:id="rId2"/>
    <p:sldId id="257" r:id="rId3"/>
    <p:sldId id="260" r:id="rId4"/>
    <p:sldId id="263" r:id="rId5"/>
    <p:sldId id="269" r:id="rId6"/>
    <p:sldId id="262" r:id="rId7"/>
    <p:sldId id="270" r:id="rId8"/>
    <p:sldId id="271" r:id="rId9"/>
    <p:sldId id="264" r:id="rId10"/>
    <p:sldId id="272" r:id="rId11"/>
    <p:sldId id="273" r:id="rId12"/>
    <p:sldId id="265" r:id="rId13"/>
    <p:sldId id="274" r:id="rId14"/>
    <p:sldId id="275" r:id="rId15"/>
    <p:sldId id="276" r:id="rId16"/>
    <p:sldId id="277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4660"/>
  </p:normalViewPr>
  <p:slideViewPr>
    <p:cSldViewPr snapToObjects="1">
      <p:cViewPr varScale="1">
        <p:scale>
          <a:sx n="119" d="100"/>
          <a:sy n="119" d="100"/>
        </p:scale>
        <p:origin x="-584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printerSettings" Target="printerSettings/printerSettings1.bin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1F4D9E-B27E-274D-A42A-26B74B0DD9F2}" type="datetimeFigureOut">
              <a:rPr lang="en-US" smtClean="0"/>
              <a:pPr/>
              <a:t>12/8/13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7AC3AA-B4F9-DF4C-9F82-1C09E142852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PSID: age between</a:t>
            </a:r>
            <a:r>
              <a:rPr lang="en-US" baseline="0" dirty="0" smtClean="0"/>
              <a:t> 25 to 80 from 1984 to 1993, provides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AC3AA-B4F9-DF4C-9F82-1C09E1428521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76CCB-647B-8248-8A26-7F73B650C1D3}" type="datetimeFigureOut">
              <a:rPr lang="en-US" smtClean="0"/>
              <a:pPr/>
              <a:t>12/8/13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B384-7B6A-104A-AFDB-B0B5F763D2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76CCB-647B-8248-8A26-7F73B650C1D3}" type="datetimeFigureOut">
              <a:rPr lang="en-US" smtClean="0"/>
              <a:pPr/>
              <a:t>12/8/13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B384-7B6A-104A-AFDB-B0B5F763D2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76CCB-647B-8248-8A26-7F73B650C1D3}" type="datetimeFigureOut">
              <a:rPr lang="en-US" smtClean="0"/>
              <a:pPr/>
              <a:t>12/8/13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B384-7B6A-104A-AFDB-B0B5F763D2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76CCB-647B-8248-8A26-7F73B650C1D3}" type="datetimeFigureOut">
              <a:rPr lang="en-US" smtClean="0"/>
              <a:pPr/>
              <a:t>12/8/13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B384-7B6A-104A-AFDB-B0B5F763D2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76CCB-647B-8248-8A26-7F73B650C1D3}" type="datetimeFigureOut">
              <a:rPr lang="en-US" smtClean="0"/>
              <a:pPr/>
              <a:t>12/8/13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B384-7B6A-104A-AFDB-B0B5F763D2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76CCB-647B-8248-8A26-7F73B650C1D3}" type="datetimeFigureOut">
              <a:rPr lang="en-US" smtClean="0"/>
              <a:pPr/>
              <a:t>12/8/13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B384-7B6A-104A-AFDB-B0B5F763D2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76CCB-647B-8248-8A26-7F73B650C1D3}" type="datetimeFigureOut">
              <a:rPr lang="en-US" smtClean="0"/>
              <a:pPr/>
              <a:t>12/8/13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B384-7B6A-104A-AFDB-B0B5F763D2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76CCB-647B-8248-8A26-7F73B650C1D3}" type="datetimeFigureOut">
              <a:rPr lang="en-US" smtClean="0"/>
              <a:pPr/>
              <a:t>12/8/13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B384-7B6A-104A-AFDB-B0B5F763D2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76CCB-647B-8248-8A26-7F73B650C1D3}" type="datetimeFigureOut">
              <a:rPr lang="en-US" smtClean="0"/>
              <a:pPr/>
              <a:t>12/8/13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B384-7B6A-104A-AFDB-B0B5F763D2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76CCB-647B-8248-8A26-7F73B650C1D3}" type="datetimeFigureOut">
              <a:rPr lang="en-US" smtClean="0"/>
              <a:pPr/>
              <a:t>12/8/13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B384-7B6A-104A-AFDB-B0B5F763D2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76CCB-647B-8248-8A26-7F73B650C1D3}" type="datetimeFigureOut">
              <a:rPr lang="en-US" smtClean="0"/>
              <a:pPr/>
              <a:t>12/8/13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B384-7B6A-104A-AFDB-B0B5F763D2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76CCB-647B-8248-8A26-7F73B650C1D3}" type="datetimeFigureOut">
              <a:rPr lang="en-US" smtClean="0"/>
              <a:pPr/>
              <a:t>12/8/13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B4B384-7B6A-104A-AFDB-B0B5F763D29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  <p:sldLayoutId r:id="rId2"/>
    <p:sldLayoutId r:id="rId3"/>
    <p:sldLayoutId r:id="rId4"/>
    <p:sldLayoutId r:id="rId5"/>
    <p:sldLayoutId r:id="rId6"/>
    <p:sldLayoutId r:id="rId7"/>
    <p:sldLayoutId r:id="rId8"/>
    <p:sldLayoutId r:id="rId9"/>
    <p:sldLayoutId r:id="rId10"/>
    <p:sldLayoutId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“Unemployment and Mortality: Evidence from the PSID” by    Timothy J. </a:t>
            </a:r>
            <a:r>
              <a:rPr lang="en-US" dirty="0" err="1" smtClean="0"/>
              <a:t>Halliday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Zhengzheng</a:t>
            </a:r>
            <a:r>
              <a:rPr lang="en-US" dirty="0" smtClean="0"/>
              <a:t> Wang, Wei Zhan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Research with micro-data shows that job displacement is associated with increases of mortality risk (Sullivan and von </a:t>
            </a:r>
            <a:r>
              <a:rPr lang="en-US" dirty="0" err="1" smtClean="0"/>
              <a:t>Wachter</a:t>
            </a:r>
            <a:r>
              <a:rPr lang="en-US" dirty="0" smtClean="0"/>
              <a:t> 2009, </a:t>
            </a:r>
            <a:r>
              <a:rPr lang="en-US" dirty="0" err="1" smtClean="0"/>
              <a:t>Strully</a:t>
            </a:r>
            <a:r>
              <a:rPr lang="en-US" dirty="0" smtClean="0"/>
              <a:t> 2009)</a:t>
            </a:r>
          </a:p>
          <a:p>
            <a:r>
              <a:rPr lang="en-US" dirty="0" smtClean="0"/>
              <a:t>In contrast, study based on aggregate data suggests that worsened macroeconomic conditions are associated with lower mortality (</a:t>
            </a:r>
            <a:r>
              <a:rPr lang="en-US" dirty="0" err="1" smtClean="0"/>
              <a:t>Ruhm</a:t>
            </a:r>
            <a:r>
              <a:rPr lang="en-US" dirty="0" smtClean="0"/>
              <a:t> 2000, Miller et al 2009, Huff-</a:t>
            </a:r>
            <a:r>
              <a:rPr lang="en-US" dirty="0" err="1" smtClean="0"/>
              <a:t>stevens</a:t>
            </a:r>
            <a:r>
              <a:rPr lang="en-US" dirty="0" smtClean="0"/>
              <a:t> et al 2011)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 Question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Relationship between macroeconomic conditions (county-level unemployment rates) and mortality (</a:t>
            </a:r>
            <a:r>
              <a:rPr lang="en-US" dirty="0" err="1" smtClean="0"/>
              <a:t>PSID’s</a:t>
            </a:r>
            <a:r>
              <a:rPr lang="en-US" dirty="0" smtClean="0"/>
              <a:t> death file)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Model</a:t>
            </a:r>
          </a:p>
          <a:p>
            <a:endParaRPr lang="en-US" dirty="0" smtClean="0"/>
          </a:p>
          <a:p>
            <a:r>
              <a:rPr lang="en-US" dirty="0" smtClean="0"/>
              <a:t>       </a:t>
            </a:r>
          </a:p>
          <a:p>
            <a:r>
              <a:rPr lang="en-US" dirty="0" smtClean="0"/>
              <a:t>         logistic CDF</a:t>
            </a:r>
          </a:p>
          <a:p>
            <a:r>
              <a:rPr lang="en-US" dirty="0" smtClean="0"/>
              <a:t>      unemployment rate in individual’s county of residence</a:t>
            </a:r>
          </a:p>
          <a:p>
            <a:r>
              <a:rPr lang="en-US" dirty="0" smtClean="0"/>
              <a:t>      SRHS health status dummies, quadratic age, educational attainment dummies and Caucasian dummy</a:t>
            </a:r>
          </a:p>
          <a:p>
            <a:r>
              <a:rPr lang="en-US" dirty="0" smtClean="0"/>
              <a:t>      indicator that if the individual has dies within 5 years of the baseline at year </a:t>
            </a:r>
            <a:r>
              <a:rPr lang="en-US" dirty="0" err="1" smtClean="0"/>
              <a:t>t</a:t>
            </a:r>
            <a:r>
              <a:rPr lang="en-US" dirty="0" smtClean="0"/>
              <a:t>       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970191"/>
            <a:ext cx="6108700" cy="6968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667000"/>
            <a:ext cx="571500" cy="35894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962400"/>
            <a:ext cx="419100" cy="32775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124200"/>
            <a:ext cx="463550" cy="35716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192" y="5181600"/>
            <a:ext cx="455308" cy="3508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 - Identification Strategy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Identification of the effect of unemployment fluctuations on mortality relies on the selection on observables assumption</a:t>
            </a:r>
          </a:p>
          <a:p>
            <a:r>
              <a:rPr lang="en-US" dirty="0" smtClean="0"/>
              <a:t>Controlling for health status, education, age and race.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PSID survey provides information on mortality: death year and the primary cause</a:t>
            </a:r>
          </a:p>
          <a:p>
            <a:r>
              <a:rPr lang="en-US" dirty="0" smtClean="0"/>
              <a:t>Self-Reported Health Status (SRHS) 1984-1993: self reported health status (rate 1-5), gender, race, educational attainment and age</a:t>
            </a:r>
          </a:p>
          <a:p>
            <a:r>
              <a:rPr lang="en-US" dirty="0" smtClean="0"/>
              <a:t>County level unemployment rate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Data - Sample construction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Begin with 20,338 </a:t>
            </a:r>
            <a:r>
              <a:rPr lang="en-US" dirty="0" err="1" smtClean="0"/>
              <a:t>obs</a:t>
            </a:r>
            <a:endParaRPr lang="en-US" dirty="0" smtClean="0"/>
          </a:p>
          <a:p>
            <a:r>
              <a:rPr lang="en-US" dirty="0" smtClean="0"/>
              <a:t>Drop </a:t>
            </a:r>
            <a:r>
              <a:rPr lang="en-US" dirty="0" err="1" smtClean="0"/>
              <a:t>obs</a:t>
            </a:r>
            <a:r>
              <a:rPr lang="en-US" dirty="0" smtClean="0"/>
              <a:t> with incomplete information on SRHS(20,222)</a:t>
            </a:r>
          </a:p>
          <a:p>
            <a:r>
              <a:rPr lang="en-US" dirty="0" smtClean="0"/>
              <a:t>Restrict to between ages 25 and 80(18,440)</a:t>
            </a:r>
          </a:p>
          <a:p>
            <a:r>
              <a:rPr lang="en-US" dirty="0" smtClean="0"/>
              <a:t>Dropped individuals whose ages decline by more than one year or increased by more than two years (16,769)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467" y="0"/>
            <a:ext cx="680873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Higher unemployment rate predicts higher mortality for men ages 60 and under</a:t>
            </a:r>
          </a:p>
          <a:p>
            <a:r>
              <a:rPr lang="en-US" dirty="0" smtClean="0"/>
              <a:t>Significant effect of high unemployment rate on dying within three years of baseline</a:t>
            </a:r>
          </a:p>
          <a:p>
            <a:r>
              <a:rPr lang="en-US" dirty="0" smtClean="0"/>
              <a:t>No significant effects for women or the elderly</a:t>
            </a:r>
          </a:p>
          <a:p>
            <a:r>
              <a:rPr lang="en-US" dirty="0" smtClean="0"/>
              <a:t>Restricted to working-aged men: </a:t>
            </a:r>
          </a:p>
          <a:p>
            <a:pPr lvl="1"/>
            <a:r>
              <a:rPr lang="en-US" dirty="0" smtClean="0"/>
              <a:t>Effect on death caused by </a:t>
            </a:r>
            <a:r>
              <a:rPr lang="en-US" dirty="0" err="1" smtClean="0"/>
              <a:t>neoplasms</a:t>
            </a:r>
            <a:r>
              <a:rPr lang="en-US" dirty="0" smtClean="0"/>
              <a:t> increases</a:t>
            </a:r>
          </a:p>
          <a:p>
            <a:pPr lvl="1"/>
            <a:r>
              <a:rPr lang="en-US" dirty="0" smtClean="0"/>
              <a:t>Effect on death caused by diseases of the circulatory system decreases 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99510"/>
            <a:ext cx="6019800" cy="66060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514600" y="990600"/>
            <a:ext cx="990600" cy="16002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18" y="0"/>
            <a:ext cx="8004082" cy="68580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Robustness Check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working-aged men: Inclusion of state and year fixed effects, industry dummies</a:t>
            </a:r>
          </a:p>
          <a:p>
            <a:r>
              <a:rPr lang="en-US" dirty="0" smtClean="0"/>
              <a:t>Estimate the model without out-migration of healthy people</a:t>
            </a:r>
          </a:p>
          <a:p>
            <a:r>
              <a:rPr lang="en-US" dirty="0" smtClean="0"/>
              <a:t>Results with and without health status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12367"/>
            <a:ext cx="6705600" cy="67456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893" y="381000"/>
            <a:ext cx="7447238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Implications - Decomposing the Effects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Total effect: 6% increase of mortality in first year </a:t>
            </a:r>
            <a:r>
              <a:rPr lang="en-US" dirty="0" err="1" smtClean="0">
                <a:sym typeface="Wingdings"/>
              </a:rPr>
              <a:t></a:t>
            </a:r>
            <a:r>
              <a:rPr lang="en-US" dirty="0" smtClean="0">
                <a:sym typeface="Wingdings"/>
              </a:rPr>
              <a:t> 24.1/100,000</a:t>
            </a:r>
            <a:r>
              <a:rPr lang="en-US" dirty="0" smtClean="0"/>
              <a:t> </a:t>
            </a:r>
          </a:p>
          <a:p>
            <a:r>
              <a:rPr lang="en-US" dirty="0" smtClean="0"/>
              <a:t>Direct effect:3.4/100,000</a:t>
            </a:r>
          </a:p>
          <a:p>
            <a:r>
              <a:rPr lang="en-US" dirty="0" smtClean="0"/>
              <a:t>Indirect effect: 20.7/100,000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0" y="1676400"/>
            <a:ext cx="4279900" cy="5097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86000"/>
            <a:ext cx="7429500" cy="6240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2895600"/>
            <a:ext cx="4546600" cy="6819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Implications – Measurement of Policy Benefits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Lives saved: a government policy reduced the unemployment rate by 1% suggests that 24.1/100,000 fewer people died in the following year among the working-aged men 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Current paper finds similar positive relationship between unemployment and mortality as previous micro-data work</a:t>
            </a:r>
          </a:p>
          <a:p>
            <a:r>
              <a:rPr lang="en-US" dirty="0" smtClean="0"/>
              <a:t>Difference in results of current paper and macro work suggests the measurement errors through data aggregation</a:t>
            </a:r>
          </a:p>
          <a:p>
            <a:pPr lvl="1"/>
            <a:r>
              <a:rPr lang="en-US" dirty="0" smtClean="0"/>
              <a:t>Local economic shocks </a:t>
            </a:r>
            <a:r>
              <a:rPr lang="en-US" dirty="0" err="1" smtClean="0">
                <a:sym typeface="Wingdings"/>
              </a:rPr>
              <a:t></a:t>
            </a:r>
            <a:r>
              <a:rPr lang="en-US" dirty="0" smtClean="0">
                <a:sym typeface="Wingdings"/>
              </a:rPr>
              <a:t> out migrations </a:t>
            </a:r>
            <a:r>
              <a:rPr lang="en-US" dirty="0" err="1" smtClean="0">
                <a:sym typeface="Wingdings"/>
              </a:rPr>
              <a:t></a:t>
            </a:r>
            <a:r>
              <a:rPr lang="en-US" dirty="0" smtClean="0">
                <a:sym typeface="Wingdings"/>
              </a:rPr>
              <a:t> measurement of mortality rates change</a:t>
            </a:r>
          </a:p>
          <a:p>
            <a:r>
              <a:rPr lang="en-US" dirty="0" smtClean="0">
                <a:sym typeface="Wingdings"/>
              </a:rPr>
              <a:t>Administrative data is needed</a:t>
            </a:r>
            <a:endParaRPr lang="en-US" dirty="0" smtClean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Pros and Cons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Contribution</a:t>
            </a:r>
            <a:endParaRPr lang="en-US" dirty="0" smtClean="0"/>
          </a:p>
          <a:p>
            <a:pPr lvl="1"/>
            <a:r>
              <a:rPr lang="en-US" dirty="0" smtClean="0"/>
              <a:t>Do we learn anything new? </a:t>
            </a:r>
          </a:p>
          <a:p>
            <a:r>
              <a:rPr lang="en-US" dirty="0" smtClean="0"/>
              <a:t>Selection on observable: </a:t>
            </a:r>
            <a:endParaRPr lang="en-US" dirty="0" smtClean="0"/>
          </a:p>
          <a:p>
            <a:pPr lvl="1"/>
            <a:r>
              <a:rPr lang="en-US" dirty="0" smtClean="0"/>
              <a:t>Unemployment rate affects working-aged men differently than women and </a:t>
            </a:r>
            <a:r>
              <a:rPr lang="en-US" dirty="0" smtClean="0"/>
              <a:t>elderly</a:t>
            </a:r>
          </a:p>
          <a:p>
            <a:pPr lvl="1"/>
            <a:r>
              <a:rPr lang="en-US" dirty="0" smtClean="0"/>
              <a:t>Problematic because it’s hard to include all control variables</a:t>
            </a:r>
            <a:endParaRPr lang="en-US" dirty="0" smtClean="0"/>
          </a:p>
          <a:p>
            <a:r>
              <a:rPr lang="en-US" dirty="0" smtClean="0"/>
              <a:t>Doesn’t explain well what are the possible channels through which unemployment rate affects </a:t>
            </a:r>
            <a:r>
              <a:rPr lang="en-US" dirty="0" smtClean="0"/>
              <a:t>mortality</a:t>
            </a:r>
          </a:p>
          <a:p>
            <a:r>
              <a:rPr lang="en-US" dirty="0" smtClean="0"/>
              <a:t>Implication</a:t>
            </a:r>
          </a:p>
          <a:p>
            <a:pPr lvl="1"/>
            <a:r>
              <a:rPr lang="en-US" dirty="0" smtClean="0"/>
              <a:t>Using estimates for working-age men to estimate the population effect could be </a:t>
            </a:r>
            <a:r>
              <a:rPr lang="en-US" smtClean="0"/>
              <a:t>a problem </a:t>
            </a:r>
            <a:endParaRPr lang="en-US" dirty="0" smtClean="0"/>
          </a:p>
          <a:p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3619</TotalTime>
  <Words>567</Words>
  <Application>Microsoft Office PowerPoint</Application>
  <PresentationFormat>On-screen Show (4:3)</PresentationFormat>
  <Paragraphs>70</Paragraphs>
  <Slides>18</Slides>
  <Notes>1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“Unemployment and Mortality: Evidence from the PSID” by    Timothy J. Halliday</vt:lpstr>
      <vt:lpstr>Motivation</vt:lpstr>
      <vt:lpstr>Research Question</vt:lpstr>
      <vt:lpstr>Method</vt:lpstr>
      <vt:lpstr>Method - Identification Strategy</vt:lpstr>
      <vt:lpstr>Data</vt:lpstr>
      <vt:lpstr>Data - Sample construction</vt:lpstr>
      <vt:lpstr>Slide 8</vt:lpstr>
      <vt:lpstr>Results</vt:lpstr>
      <vt:lpstr>Slide 10</vt:lpstr>
      <vt:lpstr>Slide 11</vt:lpstr>
      <vt:lpstr>Robustness Check</vt:lpstr>
      <vt:lpstr>Slide 13</vt:lpstr>
      <vt:lpstr>Slide 14</vt:lpstr>
      <vt:lpstr>Implications - Decomposing the Effects </vt:lpstr>
      <vt:lpstr>Implications – Measurement of Policy Benefits</vt:lpstr>
      <vt:lpstr>Conclusion</vt:lpstr>
      <vt:lpstr>Pros and Cons</vt:lpstr>
    </vt:vector>
  </TitlesOfParts>
  <Company>UTD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Wei Zhan</dc:creator>
  <cp:lastModifiedBy>Wei Zhan</cp:lastModifiedBy>
  <cp:revision>132</cp:revision>
  <dcterms:created xsi:type="dcterms:W3CDTF">2013-12-08T18:29:09Z</dcterms:created>
  <dcterms:modified xsi:type="dcterms:W3CDTF">2013-12-08T18:34:34Z</dcterms:modified>
</cp:coreProperties>
</file>