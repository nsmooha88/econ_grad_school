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258" r:id="rId4"/>
    <p:sldId id="259" r:id="rId5"/>
    <p:sldId id="260" r:id="rId6"/>
    <p:sldId id="261" r:id="rId7"/>
    <p:sldId id="276" r:id="rId8"/>
    <p:sldId id="263" r:id="rId9"/>
    <p:sldId id="264" r:id="rId10"/>
    <p:sldId id="262" r:id="rId11"/>
    <p:sldId id="265" r:id="rId12"/>
    <p:sldId id="266" r:id="rId13"/>
    <p:sldId id="267" r:id="rId14"/>
    <p:sldId id="268" r:id="rId15"/>
    <p:sldId id="269" r:id="rId16"/>
    <p:sldId id="271" r:id="rId17"/>
    <p:sldId id="270" r:id="rId18"/>
    <p:sldId id="272" r:id="rId19"/>
    <p:sldId id="273" r:id="rId20"/>
    <p:sldId id="274" r:id="rId21"/>
    <p:sldId id="275"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2" d="100"/>
          <a:sy n="92" d="100"/>
        </p:scale>
        <p:origin x="-1576"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interSettings" Target="printerSettings/printerSettings1.bin"/><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B8E71D-E7D1-3643-959F-DA0FB7A02D7E}" type="datetimeFigureOut">
              <a:rPr lang="en-US" smtClean="0"/>
              <a:t>11/13/13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E5925C5-3766-B941-AE62-9D50A8ADC6AF}" type="slidenum">
              <a:rPr lang="en-US" smtClean="0"/>
              <a:t>‹#›</a:t>
            </a:fld>
            <a:endParaRPr lang="en-US"/>
          </a:p>
        </p:txBody>
      </p:sp>
    </p:spTree>
    <p:extLst>
      <p:ext uri="{BB962C8B-B14F-4D97-AF65-F5344CB8AC3E}">
        <p14:creationId xmlns:p14="http://schemas.microsoft.com/office/powerpoint/2010/main" val="81536411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5925C5-3766-B941-AE62-9D50A8ADC6AF}" type="slidenum">
              <a:rPr lang="en-US" smtClean="0"/>
              <a:t>2</a:t>
            </a:fld>
            <a:endParaRPr lang="en-US"/>
          </a:p>
        </p:txBody>
      </p:sp>
    </p:spTree>
    <p:extLst>
      <p:ext uri="{BB962C8B-B14F-4D97-AF65-F5344CB8AC3E}">
        <p14:creationId xmlns:p14="http://schemas.microsoft.com/office/powerpoint/2010/main" val="3744424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2157319"/>
            <a:ext cx="8915400" cy="877824"/>
          </a:xfrm>
        </p:spPr>
        <p:txBody>
          <a:bodyPr/>
          <a:lstStyle/>
          <a:p>
            <a:r>
              <a:rPr lang="en-US" smtClean="0"/>
              <a:t>Click to edit Master title style</a:t>
            </a:r>
            <a:endParaRPr/>
          </a:p>
        </p:txBody>
      </p:sp>
      <p:sp>
        <p:nvSpPr>
          <p:cNvPr id="3" name="Subtitle 2"/>
          <p:cNvSpPr>
            <a:spLocks noGrp="1"/>
          </p:cNvSpPr>
          <p:nvPr>
            <p:ph type="subTitle" idx="1"/>
          </p:nvPr>
        </p:nvSpPr>
        <p:spPr>
          <a:xfrm>
            <a:off x="914400" y="3034553"/>
            <a:ext cx="8001000" cy="3823447"/>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91440" rIns="274320" bIns="91440" rtlCol="0" anchor="t" anchorCtr="0">
            <a:normAutofit/>
          </a:bodyPr>
          <a:lstStyle>
            <a:lvl1pPr marL="0" indent="0" algn="l" defTabSz="914400" rtl="0" eaLnBrk="1" latinLnBrk="0" hangingPunct="1">
              <a:spcBef>
                <a:spcPts val="20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70FAA508-F0CD-46EA-95FB-26B559A0B5D9}" type="datetimeFigureOut">
              <a:rPr lang="en-US" smtClean="0"/>
              <a:t>11/13/13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70FAA508-F0CD-46EA-95FB-26B559A0B5D9}" type="datetimeFigureOut">
              <a:rPr lang="en-US" smtClean="0"/>
              <a:t>11/13/13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0" y="5025435"/>
            <a:ext cx="8915400" cy="914400"/>
          </a:xfrm>
        </p:spPr>
        <p:txBody>
          <a:bodyPr/>
          <a:lstStyle/>
          <a:p>
            <a:r>
              <a:rPr lang="en-US" smtClean="0"/>
              <a:t>Click to edit Master title style</a:t>
            </a:r>
            <a:endParaRPr/>
          </a:p>
        </p:txBody>
      </p:sp>
      <p:sp>
        <p:nvSpPr>
          <p:cNvPr id="3" name="Subtitle 2"/>
          <p:cNvSpPr>
            <a:spLocks noGrp="1"/>
          </p:cNvSpPr>
          <p:nvPr>
            <p:ph type="subTitle" idx="1"/>
          </p:nvPr>
        </p:nvSpPr>
        <p:spPr>
          <a:xfrm>
            <a:off x="914400" y="5943600"/>
            <a:ext cx="8001000" cy="914400"/>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91440" rIns="274320" bIns="91440" rtlCol="0" anchor="t" anchorCtr="0"/>
          <a:lstStyle>
            <a:lvl1pPr marL="0" indent="0" algn="l" defTabSz="914400" rtl="0" eaLnBrk="1" latinLnBrk="0" hangingPunct="1">
              <a:spcBef>
                <a:spcPts val="300"/>
              </a:spcBef>
              <a:buNone/>
              <a:defRPr sz="18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70FAA508-F0CD-46EA-95FB-26B559A0B5D9}" type="datetimeFigureOut">
              <a:rPr lang="en-US" smtClean="0"/>
              <a:t>11/13/13</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7988300" cy="3886200"/>
          </a:xfrm>
        </p:spPr>
        <p:txBody>
          <a:bodyPr>
            <a:normAutofit/>
          </a:bodyPr>
          <a:lstStyle>
            <a:lvl1pPr marL="0" indent="0">
              <a:buNone/>
              <a:defRPr sz="1800"/>
            </a:lvl1pPr>
          </a:lstStyle>
          <a:p>
            <a:r>
              <a:rPr lang="en-US" smtClean="0"/>
              <a:t>Drag picture to placeholder or click icon to add</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3200399"/>
            <a:ext cx="8915400" cy="2286000"/>
          </a:xfrm>
          <a:solidFill>
            <a:schemeClr val="tx2"/>
          </a:solidFill>
        </p:spPr>
        <p:txBody>
          <a:bodyPr vert="horz" lIns="1188720" tIns="45720" rIns="274320" bIns="45720" rtlCol="0" anchor="b" anchorCtr="0">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smtClean="0"/>
              <a:t>Click to edit Master title style</a:t>
            </a:r>
            <a:endParaRPr/>
          </a:p>
        </p:txBody>
      </p:sp>
      <p:sp>
        <p:nvSpPr>
          <p:cNvPr id="3" name="Text Placeholder 2"/>
          <p:cNvSpPr>
            <a:spLocks noGrp="1"/>
          </p:cNvSpPr>
          <p:nvPr>
            <p:ph type="body" idx="1"/>
          </p:nvPr>
        </p:nvSpPr>
        <p:spPr>
          <a:xfrm>
            <a:off x="914400" y="5484607"/>
            <a:ext cx="8001000" cy="777240"/>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91440" rIns="274320" bIns="91440" rtlCol="0" anchor="ctr" anchorCtr="0">
            <a:normAutofit/>
          </a:bodyPr>
          <a:lstStyle>
            <a:lvl1pPr marL="0" indent="0" algn="l" defTabSz="914400" rtl="0" eaLnBrk="1" latinLnBrk="0" hangingPunct="1">
              <a:spcBef>
                <a:spcPts val="3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0FAA508-F0CD-46EA-95FB-26B559A0B5D9}" type="datetimeFigureOut">
              <a:rPr lang="en-US" smtClean="0"/>
              <a:t>11/13/13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117600" y="2595563"/>
            <a:ext cx="3566160" cy="3681412"/>
          </a:xfrm>
        </p:spPr>
        <p:txBody>
          <a:bodyPr>
            <a:normAutofit/>
          </a:bodyPr>
          <a:lstStyle>
            <a:lvl1pPr>
              <a:defRPr sz="1800"/>
            </a:lvl1pPr>
            <a:lvl2pPr>
              <a:defRPr sz="1800"/>
            </a:lvl2pPr>
            <a:lvl3pPr>
              <a:defRPr sz="1800"/>
            </a:lvl3pPr>
            <a:lvl4pPr>
              <a:defRPr sz="1800"/>
            </a:lvl4pPr>
            <a:lvl5pPr>
              <a:defRPr sz="1800"/>
            </a:lvl5pPr>
            <a:lvl6pPr marL="2055813" indent="-344488">
              <a:defRPr sz="1800"/>
            </a:lvl6pPr>
            <a:lvl7pPr marL="2055813" indent="-344488">
              <a:defRPr sz="1800"/>
            </a:lvl7pPr>
            <a:lvl8pPr marL="2055813" indent="-344488">
              <a:defRPr sz="1800"/>
            </a:lvl8pPr>
            <a:lvl9pPr marL="2055813" indent="-344488">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Content Placeholder 3"/>
          <p:cNvSpPr>
            <a:spLocks noGrp="1"/>
          </p:cNvSpPr>
          <p:nvPr>
            <p:ph sz="half" idx="2"/>
          </p:nvPr>
        </p:nvSpPr>
        <p:spPr>
          <a:xfrm>
            <a:off x="5147534" y="2595563"/>
            <a:ext cx="3566160" cy="3681412"/>
          </a:xfrm>
        </p:spPr>
        <p:txBody>
          <a:bodyPr>
            <a:normAutofit/>
          </a:bodyPr>
          <a:lstStyle>
            <a:lvl1pPr>
              <a:defRPr sz="1800"/>
            </a:lvl1pPr>
            <a:lvl2pPr>
              <a:defRPr sz="1800"/>
            </a:lvl2pPr>
            <a:lvl3pPr>
              <a:defRPr sz="1800"/>
            </a:lvl3pPr>
            <a:lvl4pPr>
              <a:defRPr sz="1800"/>
            </a:lvl4pPr>
            <a:lvl5pPr>
              <a:defRPr sz="1800"/>
            </a:lvl5pPr>
            <a:lvl6pPr marL="2055813" indent="-344488">
              <a:defRPr sz="1800"/>
            </a:lvl6pPr>
            <a:lvl7pPr marL="2055813" indent="-344488">
              <a:defRPr sz="1800"/>
            </a:lvl7pPr>
            <a:lvl8pPr marL="2055813" indent="-344488">
              <a:defRPr sz="1800"/>
            </a:lvl8pPr>
            <a:lvl9pPr marL="2055813" indent="-344488">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a:xfrm>
            <a:off x="6580094" y="188259"/>
            <a:ext cx="2133600" cy="365125"/>
          </a:xfrm>
        </p:spPr>
        <p:txBody>
          <a:bodyPr/>
          <a:lstStyle/>
          <a:p>
            <a:fld id="{70FAA508-F0CD-46EA-95FB-26B559A0B5D9}" type="datetimeFigureOut">
              <a:rPr lang="en-US" smtClean="0"/>
              <a:t>11/13/13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120588" y="2017713"/>
            <a:ext cx="3566160" cy="877887"/>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20588" y="3065929"/>
            <a:ext cx="3566160" cy="3211046"/>
          </a:xfrm>
        </p:spPr>
        <p:txBody>
          <a:bodyPr>
            <a:normAutofit/>
          </a:bodyPr>
          <a:lstStyle>
            <a:lvl1pPr>
              <a:defRPr sz="1800"/>
            </a:lvl1pPr>
            <a:lvl2pPr>
              <a:defRPr sz="1800"/>
            </a:lvl2pPr>
            <a:lvl3pPr>
              <a:defRPr sz="1800"/>
            </a:lvl3pPr>
            <a:lvl4pPr>
              <a:defRPr sz="1800"/>
            </a:lvl4pPr>
            <a:lvl5pPr>
              <a:defRPr sz="1800"/>
            </a:lvl5pPr>
            <a:lvl6pPr marL="2055813" indent="-344488">
              <a:defRPr sz="1600"/>
            </a:lvl6pPr>
            <a:lvl7pPr marL="2055813" indent="-344488">
              <a:defRPr sz="1600"/>
            </a:lvl7pPr>
            <a:lvl8pPr marL="2055813" indent="-344488">
              <a:defRPr sz="1600"/>
            </a:lvl8pPr>
            <a:lvl9pPr marL="2055813" indent="-344488">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p:nvPr>
        </p:nvSpPr>
        <p:spPr>
          <a:xfrm>
            <a:off x="5147534" y="2017713"/>
            <a:ext cx="3566160" cy="877887"/>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147534" y="3065929"/>
            <a:ext cx="3566160" cy="3211046"/>
          </a:xfrm>
        </p:spPr>
        <p:txBody>
          <a:bodyPr>
            <a:normAutofit/>
          </a:bodyPr>
          <a:lstStyle>
            <a:lvl1pPr>
              <a:defRPr sz="1800"/>
            </a:lvl1pPr>
            <a:lvl2pPr>
              <a:defRPr sz="1800"/>
            </a:lvl2pPr>
            <a:lvl3pPr>
              <a:defRPr sz="1800"/>
            </a:lvl3pPr>
            <a:lvl4pPr>
              <a:defRPr sz="1800"/>
            </a:lvl4pPr>
            <a:lvl5pPr>
              <a:defRPr sz="1800"/>
            </a:lvl5pPr>
            <a:lvl6pPr marL="2055813" indent="-344488">
              <a:defRPr sz="1600"/>
            </a:lvl6pPr>
            <a:lvl7pPr marL="2055813" indent="-344488">
              <a:defRPr sz="1600"/>
            </a:lvl7pPr>
            <a:lvl8pPr marL="2055813" indent="-344488">
              <a:defRPr sz="1600"/>
            </a:lvl8pPr>
            <a:lvl9pPr marL="2055813" indent="-344488">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a:xfrm>
            <a:off x="6580094" y="188259"/>
            <a:ext cx="2133600" cy="365125"/>
          </a:xfrm>
        </p:spPr>
        <p:txBody>
          <a:bodyPr/>
          <a:lstStyle/>
          <a:p>
            <a:fld id="{70FAA508-F0CD-46EA-95FB-26B559A0B5D9}" type="datetimeFigureOut">
              <a:rPr lang="en-US" smtClean="0"/>
              <a:t>11/13/13</a:t>
            </a:fld>
            <a:endParaRPr lang="en-US"/>
          </a:p>
        </p:txBody>
      </p:sp>
      <p:sp>
        <p:nvSpPr>
          <p:cNvPr id="8" name="Footer Placeholder 7"/>
          <p:cNvSpPr>
            <a:spLocks noGrp="1"/>
          </p:cNvSpPr>
          <p:nvPr>
            <p:ph type="ftr" sz="quarter" idx="11"/>
          </p:nvPr>
        </p:nvSpPr>
        <p:spPr>
          <a:xfrm>
            <a:off x="1120588" y="188259"/>
            <a:ext cx="2895600" cy="365125"/>
          </a:xfrm>
        </p:spPr>
        <p:txBody>
          <a:bodyPr/>
          <a:lstStyle/>
          <a:p>
            <a:endParaRPr lang="en-US"/>
          </a:p>
        </p:txBody>
      </p:sp>
      <p:sp>
        <p:nvSpPr>
          <p:cNvPr id="9" name="Slide Number Placeholder 8"/>
          <p:cNvSpPr>
            <a:spLocks noGrp="1"/>
          </p:cNvSpPr>
          <p:nvPr>
            <p:ph type="sldNum" sz="quarter" idx="12"/>
          </p:nvPr>
        </p:nvSpPr>
        <p:spPr/>
        <p:txBody>
          <a:bodyPr/>
          <a:lstStyle/>
          <a:p>
            <a:fld id="{4A822907-8A9D-4F6B-98F6-913902AD56B5}" type="slidenum">
              <a:rPr lang="en-US" smtClean="0"/>
              <a:t>‹#›</a:t>
            </a:fld>
            <a:endParaRPr lang="en-US"/>
          </a:p>
        </p:txBody>
      </p:sp>
      <p:cxnSp>
        <p:nvCxnSpPr>
          <p:cNvPr id="11" name="Straight Connector 10"/>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70FAA508-F0CD-46EA-95FB-26B559A0B5D9}" type="datetimeFigureOut">
              <a:rPr lang="en-US" smtClean="0"/>
              <a:t>11/13/13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FAA508-F0CD-46EA-95FB-26B559A0B5D9}" type="datetimeFigureOut">
              <a:rPr lang="en-US" smtClean="0"/>
              <a:t>11/13/13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1124712"/>
            <a:ext cx="8915400" cy="914400"/>
          </a:xfrm>
          <a:solidFill>
            <a:schemeClr val="tx2"/>
          </a:solidFill>
        </p:spPr>
        <p:txBody>
          <a:bodyPr vert="horz" lIns="1188720" tIns="45720" rIns="274320" bIns="45720" rtlCol="0" anchor="ctr">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smtClean="0"/>
              <a:t>Click to edit Master title style</a:t>
            </a:r>
            <a:endParaRPr/>
          </a:p>
        </p:txBody>
      </p:sp>
      <p:sp>
        <p:nvSpPr>
          <p:cNvPr id="3" name="Content Placeholder 2"/>
          <p:cNvSpPr>
            <a:spLocks noGrp="1"/>
          </p:cNvSpPr>
          <p:nvPr>
            <p:ph idx="1"/>
          </p:nvPr>
        </p:nvSpPr>
        <p:spPr>
          <a:xfrm>
            <a:off x="5147534" y="2590800"/>
            <a:ext cx="3566160" cy="3686175"/>
          </a:xfrm>
        </p:spPr>
        <p:txBody>
          <a:bodyPr/>
          <a:lstStyle>
            <a:lvl1pPr>
              <a:defRPr sz="1800"/>
            </a:lvl1pPr>
            <a:lvl2pPr>
              <a:defRPr sz="1800"/>
            </a:lvl2pPr>
            <a:lvl3pPr>
              <a:defRPr sz="1800"/>
            </a:lvl3pPr>
            <a:lvl4pPr>
              <a:defRPr sz="1800"/>
            </a:lvl4pPr>
            <a:lvl5pPr>
              <a:defRPr sz="1800"/>
            </a:lvl5pPr>
            <a:lvl6pPr marL="2055813" indent="-344488">
              <a:defRPr sz="2000"/>
            </a:lvl6pPr>
            <a:lvl7pPr marL="2055813" indent="-344488">
              <a:defRPr sz="2000"/>
            </a:lvl7pPr>
            <a:lvl8pPr marL="2055813" indent="-344488">
              <a:defRPr sz="2000"/>
            </a:lvl8pPr>
            <a:lvl9pPr marL="2055813" indent="-344488">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a:xfrm>
            <a:off x="900952" y="2039111"/>
            <a:ext cx="3566160" cy="4224528"/>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274320" rIns="274320" bIns="274320" rtlCol="0" anchor="t" anchorCtr="0">
            <a:normAutofit/>
          </a:bodyPr>
          <a:lstStyle>
            <a:lvl1pPr marL="0" indent="0" algn="l" defTabSz="914400" rtl="0" eaLnBrk="1" latinLnBrk="0" hangingPunct="1">
              <a:spcBef>
                <a:spcPts val="20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6580094" y="188259"/>
            <a:ext cx="2133600" cy="365125"/>
          </a:xfrm>
        </p:spPr>
        <p:txBody>
          <a:bodyPr/>
          <a:lstStyle/>
          <a:p>
            <a:fld id="{70FAA508-F0CD-46EA-95FB-26B559A0B5D9}" type="datetimeFigureOut">
              <a:rPr lang="en-US" smtClean="0"/>
              <a:t>11/13/13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1124712"/>
            <a:ext cx="8915400" cy="914400"/>
          </a:xfrm>
          <a:solidFill>
            <a:schemeClr val="tx2"/>
          </a:solidFill>
        </p:spPr>
        <p:txBody>
          <a:bodyPr vert="horz" lIns="1188720" tIns="45720" rIns="274320" bIns="45720" rtlCol="0" anchor="ctr">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5487987" y="2048256"/>
            <a:ext cx="3427413" cy="4206240"/>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4" name="Text Placeholder 3"/>
          <p:cNvSpPr>
            <a:spLocks noGrp="1"/>
          </p:cNvSpPr>
          <p:nvPr>
            <p:ph type="body" sz="half" idx="2"/>
          </p:nvPr>
        </p:nvSpPr>
        <p:spPr>
          <a:xfrm>
            <a:off x="914400" y="2039112"/>
            <a:ext cx="4572000" cy="4224528"/>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274320" rIns="274320" bIns="274320" rtlCol="0" anchor="t" anchorCtr="0">
            <a:normAutofit/>
          </a:bodyPr>
          <a:lstStyle>
            <a:lvl1pPr marL="0" indent="0">
              <a:buNone/>
              <a:defRPr sz="1800" kern="1200">
                <a:solidFill>
                  <a:schemeClr val="tx1">
                    <a:lumMod val="65000"/>
                    <a:lumOff val="3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2000"/>
              </a:spcBef>
              <a:buClr>
                <a:schemeClr val="accent1"/>
              </a:buClr>
              <a:buFont typeface="Wingdings 2" pitchFamily="18" charset="2"/>
              <a:buNone/>
            </a:pPr>
            <a:r>
              <a:rPr lang="en-US" smtClean="0"/>
              <a:t>Click to edit Master text styles</a:t>
            </a:r>
          </a:p>
        </p:txBody>
      </p:sp>
      <p:sp>
        <p:nvSpPr>
          <p:cNvPr id="5" name="Date Placeholder 4"/>
          <p:cNvSpPr>
            <a:spLocks noGrp="1"/>
          </p:cNvSpPr>
          <p:nvPr>
            <p:ph type="dt" sz="half" idx="10"/>
          </p:nvPr>
        </p:nvSpPr>
        <p:spPr>
          <a:xfrm>
            <a:off x="6580094" y="188259"/>
            <a:ext cx="2133600" cy="365125"/>
          </a:xfrm>
        </p:spPr>
        <p:txBody>
          <a:bodyPr/>
          <a:lstStyle/>
          <a:p>
            <a:fld id="{70FAA508-F0CD-46EA-95FB-26B559A0B5D9}" type="datetimeFigureOut">
              <a:rPr lang="en-US" smtClean="0"/>
              <a:t>11/13/13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 above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p:spPr>
        <p:txBody>
          <a:bodyPr tIns="137160" bIns="137160" anchor="b" anchorCtr="0">
            <a:normAutofit/>
          </a:bodyPr>
          <a:lstStyle>
            <a:lvl1pPr>
              <a:defRPr sz="2400"/>
            </a:lvl1pPr>
          </a:lstStyle>
          <a:p>
            <a:r>
              <a:rPr lang="en-US" smtClean="0"/>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spcBef>
                <a:spcPts val="300"/>
              </a:spcBef>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70FAA508-F0CD-46EA-95FB-26B559A0B5D9}" type="datetimeFigureOut">
              <a:rPr lang="en-US" smtClean="0"/>
              <a:t>11/13/13</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7988300" cy="2980944"/>
          </a:xfrm>
        </p:spPr>
        <p:txBody>
          <a:bodyPr>
            <a:normAutofit/>
          </a:bodyPr>
          <a:lstStyle>
            <a:lvl1pPr marL="0" indent="0">
              <a:buNone/>
              <a:defRPr sz="1800"/>
            </a:lvl1pPr>
          </a:lstStyle>
          <a:p>
            <a:r>
              <a:rPr lang="en-US" smtClean="0"/>
              <a:t>Drag picture to placeholder or click icon to add</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p:spPr>
        <p:txBody>
          <a:bodyPr tIns="137160" bIns="137160" anchor="b" anchorCtr="0">
            <a:normAutofit/>
          </a:bodyPr>
          <a:lstStyle>
            <a:lvl1pPr>
              <a:defRPr sz="2400"/>
            </a:lvl1pPr>
          </a:lstStyle>
          <a:p>
            <a:r>
              <a:rPr lang="en-US" smtClean="0"/>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spcBef>
                <a:spcPts val="300"/>
              </a:spcBef>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a:xfrm>
            <a:off x="6580094" y="188259"/>
            <a:ext cx="2133600" cy="365125"/>
          </a:xfrm>
        </p:spPr>
        <p:txBody>
          <a:bodyPr/>
          <a:lstStyle/>
          <a:p>
            <a:fld id="{70FAA508-F0CD-46EA-95FB-26B559A0B5D9}" type="datetimeFigureOut">
              <a:rPr lang="en-US" smtClean="0"/>
              <a:t>11/13/13</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3986784" cy="2980944"/>
          </a:xfrm>
        </p:spPr>
        <p:txBody>
          <a:bodyPr>
            <a:normAutofit/>
          </a:bodyPr>
          <a:lstStyle>
            <a:lvl1pPr marL="0" indent="0">
              <a:buNone/>
              <a:defRPr sz="1800"/>
            </a:lvl1pPr>
          </a:lstStyle>
          <a:p>
            <a:r>
              <a:rPr lang="en-US" smtClean="0"/>
              <a:t>Drag picture to placeholder or click icon to add</a:t>
            </a:r>
            <a:endParaRPr/>
          </a:p>
        </p:txBody>
      </p:sp>
      <p:sp>
        <p:nvSpPr>
          <p:cNvPr id="7" name="Picture Placeholder 8"/>
          <p:cNvSpPr>
            <a:spLocks noGrp="1"/>
          </p:cNvSpPr>
          <p:nvPr>
            <p:ph type="pic" sz="quarter" idx="14"/>
          </p:nvPr>
        </p:nvSpPr>
        <p:spPr>
          <a:xfrm>
            <a:off x="4928616" y="1129553"/>
            <a:ext cx="3986784" cy="2980944"/>
          </a:xfrm>
        </p:spPr>
        <p:txBody>
          <a:bodyPr>
            <a:normAutofit/>
          </a:bodyPr>
          <a:lstStyle>
            <a:lvl1pPr marL="0" indent="0">
              <a:buNone/>
              <a:defRPr sz="1800"/>
            </a:lvl1pPr>
          </a:lstStyle>
          <a:p>
            <a:r>
              <a:rPr lang="en-US" smtClean="0"/>
              <a:t>Drag picture to placeholder or click icon to add</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p:spPr>
        <p:txBody>
          <a:bodyPr tIns="137160" bIns="137160" anchor="b" anchorCtr="0">
            <a:normAutofit/>
          </a:bodyPr>
          <a:lstStyle>
            <a:lvl1pPr>
              <a:defRPr sz="2400"/>
            </a:lvl1pPr>
          </a:lstStyle>
          <a:p>
            <a:r>
              <a:rPr lang="en-US" smtClean="0"/>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spcBef>
                <a:spcPts val="300"/>
              </a:spcBef>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6580094" y="188259"/>
            <a:ext cx="2133600" cy="365125"/>
          </a:xfrm>
        </p:spPr>
        <p:txBody>
          <a:bodyPr/>
          <a:lstStyle/>
          <a:p>
            <a:fld id="{70FAA508-F0CD-46EA-95FB-26B559A0B5D9}" type="datetimeFigureOut">
              <a:rPr lang="en-US" smtClean="0"/>
              <a:t>11/13/13</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6601968" cy="2980944"/>
          </a:xfrm>
        </p:spPr>
        <p:txBody>
          <a:bodyPr>
            <a:normAutofit/>
          </a:bodyPr>
          <a:lstStyle>
            <a:lvl1pPr marL="0" indent="0">
              <a:buNone/>
              <a:defRPr sz="1800"/>
            </a:lvl1pPr>
          </a:lstStyle>
          <a:p>
            <a:r>
              <a:rPr lang="en-US" smtClean="0"/>
              <a:t>Drag picture to placeholder or click icon to add</a:t>
            </a:r>
            <a:endParaRPr/>
          </a:p>
        </p:txBody>
      </p:sp>
      <p:sp>
        <p:nvSpPr>
          <p:cNvPr id="7" name="Picture Placeholder 8"/>
          <p:cNvSpPr>
            <a:spLocks noGrp="1"/>
          </p:cNvSpPr>
          <p:nvPr>
            <p:ph type="pic" sz="quarter" idx="14"/>
          </p:nvPr>
        </p:nvSpPr>
        <p:spPr>
          <a:xfrm>
            <a:off x="7543800" y="1129553"/>
            <a:ext cx="1371600" cy="1481328"/>
          </a:xfrm>
        </p:spPr>
        <p:txBody>
          <a:bodyPr>
            <a:normAutofit/>
          </a:bodyPr>
          <a:lstStyle>
            <a:lvl1pPr marL="0" indent="0">
              <a:buNone/>
              <a:defRPr sz="1800"/>
            </a:lvl1pPr>
          </a:lstStyle>
          <a:p>
            <a:r>
              <a:rPr lang="en-US" smtClean="0"/>
              <a:t>Drag picture to placeholder or click icon to add</a:t>
            </a:r>
            <a:endParaRPr/>
          </a:p>
        </p:txBody>
      </p:sp>
      <p:sp>
        <p:nvSpPr>
          <p:cNvPr id="8" name="Picture Placeholder 8"/>
          <p:cNvSpPr>
            <a:spLocks noGrp="1"/>
          </p:cNvSpPr>
          <p:nvPr>
            <p:ph type="pic" sz="quarter" idx="15"/>
          </p:nvPr>
        </p:nvSpPr>
        <p:spPr>
          <a:xfrm>
            <a:off x="7543800" y="2629169"/>
            <a:ext cx="1371600" cy="1481328"/>
          </a:xfrm>
        </p:spPr>
        <p:txBody>
          <a:bodyPr>
            <a:normAutofit/>
          </a:bodyPr>
          <a:lstStyle>
            <a:lvl1pPr marL="0" indent="0">
              <a:buNone/>
              <a:defRPr sz="1800"/>
            </a:lvl1pPr>
          </a:lstStyle>
          <a:p>
            <a:r>
              <a:rPr lang="en-US" smtClean="0"/>
              <a:t>Drag picture to placeholder or click icon to add</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70FAA508-F0CD-46EA-95FB-26B559A0B5D9}" type="datetimeFigureOut">
              <a:rPr lang="en-US" smtClean="0"/>
              <a:t>11/13/13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87553" y="1129554"/>
            <a:ext cx="914400" cy="5533278"/>
          </a:xfrm>
        </p:spPr>
        <p:txBody>
          <a:bodyPr vert="eaVert" lIns="274320" tIns="685800" bIns="685800"/>
          <a:lstStyle/>
          <a:p>
            <a:r>
              <a:rPr lang="en-US" smtClean="0"/>
              <a:t>Click to edit Master title style</a:t>
            </a:r>
            <a:endParaRPr/>
          </a:p>
        </p:txBody>
      </p:sp>
      <p:sp>
        <p:nvSpPr>
          <p:cNvPr id="3" name="Vertical Text Placeholder 2"/>
          <p:cNvSpPr>
            <a:spLocks noGrp="1"/>
          </p:cNvSpPr>
          <p:nvPr>
            <p:ph type="body" orient="vert" idx="1"/>
          </p:nvPr>
        </p:nvSpPr>
        <p:spPr>
          <a:xfrm>
            <a:off x="1117600" y="1734671"/>
            <a:ext cx="6426200" cy="4542304"/>
          </a:xfrm>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70FAA508-F0CD-46EA-95FB-26B559A0B5D9}" type="datetimeFigureOut">
              <a:rPr lang="en-US" smtClean="0"/>
              <a:t>11/13/13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123856"/>
            <a:ext cx="8913813" cy="914400"/>
          </a:xfrm>
          <a:prstGeom prst="rect">
            <a:avLst/>
          </a:prstGeom>
          <a:solidFill>
            <a:schemeClr val="tx2"/>
          </a:solidFill>
        </p:spPr>
        <p:txBody>
          <a:bodyPr vert="horz" lIns="1188720" tIns="45720" rIns="274320" bIns="45720" rtlCol="0" anchor="ctr">
            <a:normAutofit/>
          </a:bodyPr>
          <a:lstStyle/>
          <a:p>
            <a:r>
              <a:rPr lang="en-US" smtClean="0"/>
              <a:t>Click to edit Master title style</a:t>
            </a:r>
            <a:endParaRPr/>
          </a:p>
        </p:txBody>
      </p:sp>
      <p:sp>
        <p:nvSpPr>
          <p:cNvPr id="3" name="Text Placeholder 2"/>
          <p:cNvSpPr>
            <a:spLocks noGrp="1"/>
          </p:cNvSpPr>
          <p:nvPr>
            <p:ph type="body" idx="1"/>
          </p:nvPr>
        </p:nvSpPr>
        <p:spPr>
          <a:xfrm>
            <a:off x="1114424" y="2595562"/>
            <a:ext cx="7610476" cy="367076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2"/>
          </p:nvPr>
        </p:nvSpPr>
        <p:spPr>
          <a:xfrm>
            <a:off x="6580094" y="188259"/>
            <a:ext cx="2133600" cy="365125"/>
          </a:xfrm>
          <a:prstGeom prst="rect">
            <a:avLst/>
          </a:prstGeom>
        </p:spPr>
        <p:txBody>
          <a:bodyPr vert="horz" lIns="91440" tIns="45720" rIns="91440" bIns="45720" rtlCol="0" anchor="ctr"/>
          <a:lstStyle>
            <a:lvl1pPr algn="r">
              <a:defRPr sz="1000">
                <a:solidFill>
                  <a:schemeClr val="tx1">
                    <a:lumMod val="65000"/>
                    <a:lumOff val="35000"/>
                  </a:schemeClr>
                </a:solidFill>
              </a:defRPr>
            </a:lvl1pPr>
          </a:lstStyle>
          <a:p>
            <a:fld id="{70FAA508-F0CD-46EA-95FB-26B559A0B5D9}" type="datetimeFigureOut">
              <a:rPr lang="en-US" smtClean="0"/>
              <a:t>11/13/13</a:t>
            </a:fld>
            <a:endParaRPr lang="en-US"/>
          </a:p>
        </p:txBody>
      </p:sp>
      <p:sp>
        <p:nvSpPr>
          <p:cNvPr id="5" name="Footer Placeholder 4"/>
          <p:cNvSpPr>
            <a:spLocks noGrp="1"/>
          </p:cNvSpPr>
          <p:nvPr>
            <p:ph type="ftr" sz="quarter" idx="3"/>
          </p:nvPr>
        </p:nvSpPr>
        <p:spPr>
          <a:xfrm>
            <a:off x="1120588" y="188259"/>
            <a:ext cx="2895600" cy="365125"/>
          </a:xfrm>
          <a:prstGeom prst="rect">
            <a:avLst/>
          </a:prstGeom>
        </p:spPr>
        <p:txBody>
          <a:bodyPr vert="horz" lIns="91440" tIns="45720" rIns="91440" bIns="45720" rtlCol="0" anchor="ctr"/>
          <a:lstStyle>
            <a:lvl1pPr algn="l">
              <a:defRPr sz="10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789894" y="6569075"/>
            <a:ext cx="457200" cy="365125"/>
          </a:xfrm>
          <a:prstGeom prst="rect">
            <a:avLst/>
          </a:prstGeom>
        </p:spPr>
        <p:txBody>
          <a:bodyPr vert="horz" lIns="91440" tIns="45720" rIns="91440" bIns="45720" rtlCol="0" anchor="ctr"/>
          <a:lstStyle>
            <a:lvl1pPr algn="ctr">
              <a:defRPr sz="800">
                <a:solidFill>
                  <a:schemeClr val="tx1">
                    <a:lumMod val="65000"/>
                    <a:lumOff val="35000"/>
                  </a:schemeClr>
                </a:solidFill>
              </a:defRPr>
            </a:lvl1pPr>
          </a:lstStyle>
          <a:p>
            <a:fld id="{4A822907-8A9D-4F6B-98F6-913902AD56B5}" type="slidenum">
              <a:rPr lang="en-US" smtClean="0"/>
              <a:t>‹#›</a:t>
            </a:fld>
            <a:endParaRPr lang="en-US"/>
          </a:p>
        </p:txBody>
      </p:sp>
      <p:sp>
        <p:nvSpPr>
          <p:cNvPr id="7" name="Rectangle 6"/>
          <p:cNvSpPr/>
          <p:nvPr/>
        </p:nvSpPr>
        <p:spPr>
          <a:xfrm>
            <a:off x="914400" y="0"/>
            <a:ext cx="7999413" cy="18288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914400" y="6675120"/>
            <a:ext cx="7999413" cy="18288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marL="0" indent="0" algn="l" defTabSz="914400" rtl="0" eaLnBrk="1" latinLnBrk="0" hangingPunct="1">
        <a:spcBef>
          <a:spcPct val="0"/>
        </a:spcBef>
        <a:buNone/>
        <a:defRPr sz="3600" kern="1200">
          <a:solidFill>
            <a:schemeClr val="bg1"/>
          </a:solidFill>
          <a:latin typeface="+mj-lt"/>
          <a:ea typeface="+mj-ea"/>
          <a:cs typeface="+mj-cs"/>
        </a:defRPr>
      </a:lvl1pPr>
    </p:titleStyle>
    <p:body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47272"/>
            <a:ext cx="9144000" cy="1499141"/>
          </a:xfrm>
        </p:spPr>
        <p:txBody>
          <a:bodyPr>
            <a:normAutofit fontScale="90000"/>
          </a:bodyPr>
          <a:lstStyle/>
          <a:p>
            <a:r>
              <a:rPr lang="en-US" dirty="0" smtClean="0"/>
              <a:t>“Does the Military Train Men to be Violent Criminals? New Evidence from Australia’s Conscription Lotteries”</a:t>
            </a:r>
            <a:endParaRPr lang="en-US" dirty="0"/>
          </a:p>
        </p:txBody>
      </p:sp>
      <p:sp>
        <p:nvSpPr>
          <p:cNvPr id="3" name="Subtitle 2"/>
          <p:cNvSpPr>
            <a:spLocks noGrp="1"/>
          </p:cNvSpPr>
          <p:nvPr>
            <p:ph type="subTitle" idx="1"/>
          </p:nvPr>
        </p:nvSpPr>
        <p:spPr>
          <a:xfrm>
            <a:off x="575732" y="2272552"/>
            <a:ext cx="8017935" cy="3823447"/>
          </a:xfrm>
        </p:spPr>
        <p:txBody>
          <a:bodyPr/>
          <a:lstStyle/>
          <a:p>
            <a:pPr algn="ctr"/>
            <a:r>
              <a:rPr lang="en-US" dirty="0" smtClean="0"/>
              <a:t>Presentation of the Paper: Outline and Critiques</a:t>
            </a:r>
          </a:p>
          <a:p>
            <a:pPr algn="ctr"/>
            <a:r>
              <a:rPr lang="en-US" dirty="0" err="1" smtClean="0"/>
              <a:t>Ghufran</a:t>
            </a:r>
            <a:r>
              <a:rPr lang="en-US" dirty="0" smtClean="0"/>
              <a:t> Ahmad</a:t>
            </a:r>
          </a:p>
          <a:p>
            <a:pPr algn="ctr"/>
            <a:r>
              <a:rPr lang="en-US" dirty="0" smtClean="0"/>
              <a:t>Nathan Smooha</a:t>
            </a:r>
          </a:p>
          <a:p>
            <a:pPr algn="ctr"/>
            <a:r>
              <a:rPr lang="en-US" dirty="0" smtClean="0"/>
              <a:t>Econometrics III, Fall 2013</a:t>
            </a:r>
          </a:p>
          <a:p>
            <a:pPr algn="ctr"/>
            <a:r>
              <a:rPr lang="en-US" dirty="0" smtClean="0"/>
              <a:t>Texas A&amp;M University</a:t>
            </a:r>
            <a:endParaRPr lang="en-US" dirty="0"/>
          </a:p>
        </p:txBody>
      </p:sp>
    </p:spTree>
    <p:extLst>
      <p:ext uri="{BB962C8B-B14F-4D97-AF65-F5344CB8AC3E}">
        <p14:creationId xmlns:p14="http://schemas.microsoft.com/office/powerpoint/2010/main" val="3095396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6934"/>
            <a:ext cx="9144000" cy="914400"/>
          </a:xfrm>
        </p:spPr>
        <p:txBody>
          <a:bodyPr/>
          <a:lstStyle/>
          <a:p>
            <a:pPr algn="ctr"/>
            <a:r>
              <a:rPr lang="en-US" dirty="0" smtClean="0"/>
              <a:t>Introduction</a:t>
            </a:r>
            <a:endParaRPr lang="en-US" dirty="0"/>
          </a:p>
        </p:txBody>
      </p:sp>
      <p:sp>
        <p:nvSpPr>
          <p:cNvPr id="3" name="Content Placeholder 2"/>
          <p:cNvSpPr>
            <a:spLocks noGrp="1"/>
          </p:cNvSpPr>
          <p:nvPr>
            <p:ph idx="1"/>
          </p:nvPr>
        </p:nvSpPr>
        <p:spPr>
          <a:xfrm>
            <a:off x="1" y="1453444"/>
            <a:ext cx="9144000" cy="5150556"/>
          </a:xfrm>
        </p:spPr>
        <p:txBody>
          <a:bodyPr/>
          <a:lstStyle/>
          <a:p>
            <a:r>
              <a:rPr lang="en-US" dirty="0"/>
              <a:t>T</a:t>
            </a:r>
            <a:r>
              <a:rPr lang="en-US" dirty="0" smtClean="0"/>
              <a:t>here </a:t>
            </a:r>
            <a:r>
              <a:rPr lang="en-US" dirty="0"/>
              <a:t>is a growing area of research that studies the role significant life experiences have in determining life outcomes. </a:t>
            </a:r>
            <a:endParaRPr lang="en-US" dirty="0" smtClean="0"/>
          </a:p>
          <a:p>
            <a:r>
              <a:rPr lang="en-US" dirty="0"/>
              <a:t>E</a:t>
            </a:r>
            <a:r>
              <a:rPr lang="en-US" dirty="0" smtClean="0"/>
              <a:t>arly </a:t>
            </a:r>
            <a:r>
              <a:rPr lang="en-US" dirty="0"/>
              <a:t>childhood years have been an important focus, </a:t>
            </a:r>
            <a:r>
              <a:rPr lang="en-US" dirty="0" smtClean="0"/>
              <a:t>but there </a:t>
            </a:r>
            <a:r>
              <a:rPr lang="en-US" dirty="0"/>
              <a:t>has been very little study in the existing economic literature concerning how intense psychological experiences in young adulthood affect future outcomes. </a:t>
            </a:r>
            <a:endParaRPr lang="en-US" dirty="0" smtClean="0"/>
          </a:p>
          <a:p>
            <a:r>
              <a:rPr lang="en-US" dirty="0" smtClean="0"/>
              <a:t>Military </a:t>
            </a:r>
            <a:r>
              <a:rPr lang="en-US" dirty="0"/>
              <a:t>service is an example of a noteworthy event undertaken by a large fraction of young males across the globe. </a:t>
            </a:r>
            <a:endParaRPr lang="en-US" dirty="0" smtClean="0"/>
          </a:p>
          <a:p>
            <a:r>
              <a:rPr lang="en-US" dirty="0" smtClean="0"/>
              <a:t>The </a:t>
            </a:r>
            <a:r>
              <a:rPr lang="en-US" dirty="0"/>
              <a:t>authors of this paper are interested in the psychological and social changes that could be brought on by military </a:t>
            </a:r>
            <a:r>
              <a:rPr lang="en-US" dirty="0" smtClean="0"/>
              <a:t>experience. </a:t>
            </a:r>
          </a:p>
          <a:p>
            <a:r>
              <a:rPr lang="en-US" dirty="0" smtClean="0"/>
              <a:t>This </a:t>
            </a:r>
            <a:r>
              <a:rPr lang="en-US" dirty="0"/>
              <a:t>paper specifically analyzes the effect military training has on the propensity of former military personnel to engage in violent crime. </a:t>
            </a:r>
          </a:p>
        </p:txBody>
      </p:sp>
    </p:spTree>
    <p:extLst>
      <p:ext uri="{BB962C8B-B14F-4D97-AF65-F5344CB8AC3E}">
        <p14:creationId xmlns:p14="http://schemas.microsoft.com/office/powerpoint/2010/main" val="270343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8534"/>
            <a:ext cx="9144000" cy="914400"/>
          </a:xfrm>
        </p:spPr>
        <p:txBody>
          <a:bodyPr/>
          <a:lstStyle/>
          <a:p>
            <a:pPr algn="ctr"/>
            <a:r>
              <a:rPr lang="en-US" dirty="0" smtClean="0"/>
              <a:t>Existing Literature</a:t>
            </a:r>
            <a:endParaRPr lang="en-US" dirty="0"/>
          </a:p>
        </p:txBody>
      </p:sp>
      <p:sp>
        <p:nvSpPr>
          <p:cNvPr id="3" name="Content Placeholder 2"/>
          <p:cNvSpPr>
            <a:spLocks noGrp="1"/>
          </p:cNvSpPr>
          <p:nvPr>
            <p:ph idx="1"/>
          </p:nvPr>
        </p:nvSpPr>
        <p:spPr>
          <a:xfrm>
            <a:off x="0" y="1524000"/>
            <a:ext cx="9144000" cy="5192890"/>
          </a:xfrm>
        </p:spPr>
        <p:txBody>
          <a:bodyPr>
            <a:normAutofit/>
          </a:bodyPr>
          <a:lstStyle/>
          <a:p>
            <a:r>
              <a:rPr lang="en-US" dirty="0" err="1" smtClean="0"/>
              <a:t>Galiani</a:t>
            </a:r>
            <a:r>
              <a:rPr lang="en-US" dirty="0" smtClean="0"/>
              <a:t> et al. (2011), </a:t>
            </a:r>
            <a:r>
              <a:rPr lang="en-US" dirty="0" err="1" smtClean="0"/>
              <a:t>Lindo</a:t>
            </a:r>
            <a:r>
              <a:rPr lang="en-US" dirty="0" smtClean="0"/>
              <a:t> and </a:t>
            </a:r>
            <a:r>
              <a:rPr lang="en-US" dirty="0" err="1" smtClean="0"/>
              <a:t>Stoecker</a:t>
            </a:r>
            <a:r>
              <a:rPr lang="en-US" dirty="0" smtClean="0"/>
              <a:t> (forthcoming), </a:t>
            </a:r>
            <a:r>
              <a:rPr lang="en-US" dirty="0" err="1" smtClean="0"/>
              <a:t>Rohlfs</a:t>
            </a:r>
            <a:r>
              <a:rPr lang="en-US" dirty="0" smtClean="0"/>
              <a:t> (2010) all adopt credible identification strategies in order to investigate the effects of military service on crime. Each finds some evidence of positive effects of military service on crime perpetration.</a:t>
            </a:r>
          </a:p>
          <a:p>
            <a:r>
              <a:rPr lang="en-US" dirty="0" err="1" smtClean="0"/>
              <a:t>Rohlfs</a:t>
            </a:r>
            <a:r>
              <a:rPr lang="en-US" dirty="0" smtClean="0"/>
              <a:t> (2010) explicitly focused on combat intensity. </a:t>
            </a:r>
            <a:r>
              <a:rPr lang="en-US" dirty="0" smtClean="0"/>
              <a:t>The authors also claim </a:t>
            </a:r>
            <a:r>
              <a:rPr lang="en-US" dirty="0" smtClean="0"/>
              <a:t>that </a:t>
            </a:r>
            <a:r>
              <a:rPr lang="en-US" dirty="0"/>
              <a:t>c</a:t>
            </a:r>
            <a:r>
              <a:rPr lang="en-US" dirty="0" smtClean="0"/>
              <a:t>ombat </a:t>
            </a:r>
            <a:r>
              <a:rPr lang="en-US" dirty="0" smtClean="0"/>
              <a:t>might also be the mechanism driving </a:t>
            </a:r>
            <a:r>
              <a:rPr lang="en-US" dirty="0" err="1" smtClean="0"/>
              <a:t>Lindo</a:t>
            </a:r>
            <a:r>
              <a:rPr lang="en-US" dirty="0" smtClean="0"/>
              <a:t> &amp; </a:t>
            </a:r>
            <a:r>
              <a:rPr lang="en-US" dirty="0" err="1" smtClean="0"/>
              <a:t>Stoecker’s</a:t>
            </a:r>
            <a:r>
              <a:rPr lang="en-US" dirty="0" smtClean="0"/>
              <a:t> (forthcoming) results. This paper, on the other hand, focuses strictly on the effect military training has on violence.</a:t>
            </a:r>
          </a:p>
          <a:p>
            <a:r>
              <a:rPr lang="en-US" dirty="0" err="1" smtClean="0"/>
              <a:t>Galiani</a:t>
            </a:r>
            <a:r>
              <a:rPr lang="en-US" dirty="0" smtClean="0"/>
              <a:t> et al. (2011) studied the case of Argentina using conscription lottery identification. They find evidence of significant, but small effects on overall crime. However, their estimates for violent crime are not statistically significant.</a:t>
            </a:r>
            <a:endParaRPr lang="en-US" dirty="0"/>
          </a:p>
        </p:txBody>
      </p:sp>
    </p:spTree>
    <p:extLst>
      <p:ext uri="{BB962C8B-B14F-4D97-AF65-F5344CB8AC3E}">
        <p14:creationId xmlns:p14="http://schemas.microsoft.com/office/powerpoint/2010/main" val="3518274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8534"/>
            <a:ext cx="9144000" cy="914400"/>
          </a:xfrm>
        </p:spPr>
        <p:txBody>
          <a:bodyPr/>
          <a:lstStyle/>
          <a:p>
            <a:pPr algn="ctr"/>
            <a:r>
              <a:rPr lang="en-US" dirty="0" smtClean="0"/>
              <a:t>What This Paper Adds</a:t>
            </a:r>
            <a:endParaRPr lang="en-US" dirty="0"/>
          </a:p>
        </p:txBody>
      </p:sp>
      <p:sp>
        <p:nvSpPr>
          <p:cNvPr id="3" name="Content Placeholder 2"/>
          <p:cNvSpPr>
            <a:spLocks noGrp="1"/>
          </p:cNvSpPr>
          <p:nvPr>
            <p:ph idx="1"/>
          </p:nvPr>
        </p:nvSpPr>
        <p:spPr>
          <a:xfrm>
            <a:off x="0" y="1509889"/>
            <a:ext cx="9144000" cy="5178778"/>
          </a:xfrm>
        </p:spPr>
        <p:txBody>
          <a:bodyPr>
            <a:normAutofit fontScale="92500" lnSpcReduction="10000"/>
          </a:bodyPr>
          <a:lstStyle/>
          <a:p>
            <a:r>
              <a:rPr lang="en-US" dirty="0" smtClean="0"/>
              <a:t>Because combat is a more intense experience than military training, one may expect to find greater effects of combat exposure.</a:t>
            </a:r>
          </a:p>
          <a:p>
            <a:r>
              <a:rPr lang="en-US" dirty="0"/>
              <a:t>C</a:t>
            </a:r>
            <a:r>
              <a:rPr lang="en-US" dirty="0" smtClean="0"/>
              <a:t>ombat events are relatively rare, even among military personnel. Plus, it is difficult to find good data on the numbers of service people exposed to combat.</a:t>
            </a:r>
          </a:p>
          <a:p>
            <a:r>
              <a:rPr lang="en-US" dirty="0"/>
              <a:t>The number of people who </a:t>
            </a:r>
            <a:r>
              <a:rPr lang="en-US" dirty="0" smtClean="0"/>
              <a:t>receive </a:t>
            </a:r>
            <a:r>
              <a:rPr lang="en-US" dirty="0"/>
              <a:t>formal military training far outweigh the number of people who </a:t>
            </a:r>
            <a:r>
              <a:rPr lang="en-US" dirty="0" smtClean="0"/>
              <a:t>are </a:t>
            </a:r>
            <a:r>
              <a:rPr lang="en-US" dirty="0"/>
              <a:t>exposed to combat</a:t>
            </a:r>
            <a:r>
              <a:rPr lang="en-US" dirty="0" smtClean="0"/>
              <a:t>.</a:t>
            </a:r>
          </a:p>
          <a:p>
            <a:r>
              <a:rPr lang="en-US" dirty="0" smtClean="0"/>
              <a:t>There are hypothesized mechanisms linking the training experience of military service to violent crime.</a:t>
            </a:r>
          </a:p>
          <a:p>
            <a:r>
              <a:rPr lang="en-US" dirty="0" smtClean="0"/>
              <a:t>Training is probably a more homogenous treatment to study than deployment or actual combat.</a:t>
            </a:r>
          </a:p>
          <a:p>
            <a:r>
              <a:rPr lang="en-US" dirty="0"/>
              <a:t>Thus, the authors of this paper add to the existing literature because a formal link between army </a:t>
            </a:r>
            <a:r>
              <a:rPr lang="en-US" dirty="0" smtClean="0"/>
              <a:t>training </a:t>
            </a:r>
            <a:r>
              <a:rPr lang="en-US" dirty="0"/>
              <a:t>and violence has not yet been established.</a:t>
            </a:r>
          </a:p>
        </p:txBody>
      </p:sp>
    </p:spTree>
    <p:extLst>
      <p:ext uri="{BB962C8B-B14F-4D97-AF65-F5344CB8AC3E}">
        <p14:creationId xmlns:p14="http://schemas.microsoft.com/office/powerpoint/2010/main" val="690932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218534"/>
            <a:ext cx="9144000" cy="1051466"/>
          </a:xfrm>
        </p:spPr>
        <p:txBody>
          <a:bodyPr>
            <a:normAutofit fontScale="90000"/>
          </a:bodyPr>
          <a:lstStyle/>
          <a:p>
            <a:r>
              <a:rPr lang="en-US" dirty="0" smtClean="0"/>
              <a:t>Potential Mechanisms Linking Military Training to Violent Crime</a:t>
            </a:r>
            <a:endParaRPr lang="en-US" dirty="0"/>
          </a:p>
        </p:txBody>
      </p:sp>
      <p:sp>
        <p:nvSpPr>
          <p:cNvPr id="3" name="Content Placeholder 2"/>
          <p:cNvSpPr>
            <a:spLocks noGrp="1"/>
          </p:cNvSpPr>
          <p:nvPr>
            <p:ph idx="1"/>
          </p:nvPr>
        </p:nvSpPr>
        <p:spPr>
          <a:xfrm>
            <a:off x="1" y="1608666"/>
            <a:ext cx="9143999" cy="5065889"/>
          </a:xfrm>
        </p:spPr>
        <p:txBody>
          <a:bodyPr>
            <a:normAutofit/>
          </a:bodyPr>
          <a:lstStyle/>
          <a:p>
            <a:r>
              <a:rPr lang="en-US" dirty="0" smtClean="0"/>
              <a:t>Several mechanisms link military training to violent crime.</a:t>
            </a:r>
          </a:p>
          <a:p>
            <a:r>
              <a:rPr lang="en-US" dirty="0" smtClean="0"/>
              <a:t>Recruits are dislocated from heterogeneous, open and familiar environment to a homogeneous, unfamiliar and closely controlled environment which may help to militarize recruits as suggested by </a:t>
            </a:r>
            <a:r>
              <a:rPr lang="en-US" dirty="0" err="1" smtClean="0"/>
              <a:t>Arkin</a:t>
            </a:r>
            <a:r>
              <a:rPr lang="en-US" dirty="0" smtClean="0"/>
              <a:t> and </a:t>
            </a:r>
            <a:r>
              <a:rPr lang="en-US" dirty="0" err="1" smtClean="0"/>
              <a:t>Dobrofsky</a:t>
            </a:r>
            <a:r>
              <a:rPr lang="en-US" dirty="0" smtClean="0"/>
              <a:t>.</a:t>
            </a:r>
          </a:p>
          <a:p>
            <a:r>
              <a:rPr lang="en-US" dirty="0" smtClean="0"/>
              <a:t>Militarization of recruits may result in a more aggressive behavior even outside the military. Several training techniques were designed by US Army to desensitize troops to trauma of killing around the time of Vietnam War e.g. “Quick Kill” and “</a:t>
            </a:r>
            <a:r>
              <a:rPr lang="en-US" dirty="0" err="1" smtClean="0"/>
              <a:t>Trainfire</a:t>
            </a:r>
            <a:r>
              <a:rPr lang="en-US" dirty="0" smtClean="0"/>
              <a:t>.”</a:t>
            </a:r>
          </a:p>
          <a:p>
            <a:r>
              <a:rPr lang="en-US" dirty="0" smtClean="0"/>
              <a:t>Militarization may also foster personality traits that positively affect life outcomes such as teamwork, respect for authority, self-discipline and development of a broader skill set.</a:t>
            </a:r>
          </a:p>
          <a:p>
            <a:endParaRPr lang="en-US" dirty="0"/>
          </a:p>
        </p:txBody>
      </p:sp>
    </p:spTree>
    <p:extLst>
      <p:ext uri="{BB962C8B-B14F-4D97-AF65-F5344CB8AC3E}">
        <p14:creationId xmlns:p14="http://schemas.microsoft.com/office/powerpoint/2010/main" val="2593873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lstStyle/>
          <a:p>
            <a:r>
              <a:rPr lang="en-US" dirty="0" smtClean="0"/>
              <a:t>National Service in Australia</a:t>
            </a:r>
            <a:endParaRPr lang="en-US" dirty="0"/>
          </a:p>
        </p:txBody>
      </p:sp>
      <p:sp>
        <p:nvSpPr>
          <p:cNvPr id="3" name="Content Placeholder 2"/>
          <p:cNvSpPr>
            <a:spLocks noGrp="1"/>
          </p:cNvSpPr>
          <p:nvPr>
            <p:ph idx="1"/>
          </p:nvPr>
        </p:nvSpPr>
        <p:spPr>
          <a:xfrm>
            <a:off x="0" y="1481666"/>
            <a:ext cx="9144000" cy="5178777"/>
          </a:xfrm>
        </p:spPr>
        <p:txBody>
          <a:bodyPr>
            <a:normAutofit/>
          </a:bodyPr>
          <a:lstStyle/>
          <a:p>
            <a:r>
              <a:rPr lang="en-US" dirty="0" smtClean="0"/>
              <a:t>Australian conscription ballots resulted in enlistment of 63,735 recruits and after a period of training, 29% of these recruits spent part of their service, typically one year, in Vietnam; the rest mainly served their time in Australia.</a:t>
            </a:r>
          </a:p>
          <a:p>
            <a:r>
              <a:rPr lang="en-US" dirty="0" smtClean="0"/>
              <a:t>Training occurred in three stages: 10 weeks of general recruit training, 3 months with a particular Corps and training with the assigned unit.</a:t>
            </a:r>
          </a:p>
          <a:p>
            <a:r>
              <a:rPr lang="en-US" dirty="0" smtClean="0"/>
              <a:t>Contact with outside world was constrained during recruitment training in order to aid with “militarization” of recruits.</a:t>
            </a:r>
          </a:p>
          <a:p>
            <a:r>
              <a:rPr lang="en-US" dirty="0" smtClean="0"/>
              <a:t>American recruits encountered a comparable training regime. However, there were differences in the training regimes of the two nations.</a:t>
            </a:r>
          </a:p>
        </p:txBody>
      </p:sp>
    </p:spTree>
    <p:extLst>
      <p:ext uri="{BB962C8B-B14F-4D97-AF65-F5344CB8AC3E}">
        <p14:creationId xmlns:p14="http://schemas.microsoft.com/office/powerpoint/2010/main" val="2723869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lstStyle/>
          <a:p>
            <a:r>
              <a:rPr lang="en-US" dirty="0" smtClean="0"/>
              <a:t>National Service in Australia</a:t>
            </a:r>
            <a:endParaRPr lang="en-US" dirty="0"/>
          </a:p>
        </p:txBody>
      </p:sp>
      <p:sp>
        <p:nvSpPr>
          <p:cNvPr id="3" name="Content Placeholder 2"/>
          <p:cNvSpPr>
            <a:spLocks noGrp="1"/>
          </p:cNvSpPr>
          <p:nvPr>
            <p:ph idx="1"/>
          </p:nvPr>
        </p:nvSpPr>
        <p:spPr>
          <a:xfrm>
            <a:off x="0" y="1481666"/>
            <a:ext cx="9144000" cy="5178777"/>
          </a:xfrm>
        </p:spPr>
        <p:txBody>
          <a:bodyPr>
            <a:normAutofit/>
          </a:bodyPr>
          <a:lstStyle/>
          <a:p>
            <a:r>
              <a:rPr lang="en-US" smtClean="0"/>
              <a:t>American </a:t>
            </a:r>
            <a:r>
              <a:rPr lang="en-US" dirty="0" smtClean="0"/>
              <a:t>training prepared troops for expected large-scale battles. Australians, on the other hand, trained for a war of less overt aggression, stealth and marksmanship.</a:t>
            </a:r>
          </a:p>
          <a:p>
            <a:r>
              <a:rPr lang="en-US" dirty="0" smtClean="0"/>
              <a:t>Australian training made more attempts to understand Vietnamese society and culture.</a:t>
            </a:r>
          </a:p>
          <a:p>
            <a:r>
              <a:rPr lang="en-US" dirty="0" smtClean="0"/>
              <a:t>Military Board in Australia decided against “Quick Kill” by August 1969.</a:t>
            </a:r>
          </a:p>
          <a:p>
            <a:r>
              <a:rPr lang="en-US" dirty="0" smtClean="0"/>
              <a:t>During peacetime restrictions live fire could not be used near recruits in Australia. However, American infantry training included live firing by the time </a:t>
            </a:r>
            <a:r>
              <a:rPr lang="en-US" smtClean="0"/>
              <a:t>of Vietnam.</a:t>
            </a:r>
            <a:endParaRPr lang="en-US" dirty="0" smtClean="0"/>
          </a:p>
          <a:p>
            <a:endParaRPr lang="en-US" dirty="0"/>
          </a:p>
        </p:txBody>
      </p:sp>
    </p:spTree>
    <p:extLst>
      <p:ext uri="{BB962C8B-B14F-4D97-AF65-F5344CB8AC3E}">
        <p14:creationId xmlns:p14="http://schemas.microsoft.com/office/powerpoint/2010/main" val="2723869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lstStyle/>
          <a:p>
            <a:pPr algn="ctr"/>
            <a:r>
              <a:rPr lang="en-US" dirty="0" err="1" smtClean="0"/>
              <a:t>Endogeneity</a:t>
            </a:r>
            <a:r>
              <a:rPr lang="en-US" dirty="0" smtClean="0"/>
              <a:t> Issues</a:t>
            </a:r>
            <a:endParaRPr lang="en-US" dirty="0"/>
          </a:p>
        </p:txBody>
      </p:sp>
      <p:sp>
        <p:nvSpPr>
          <p:cNvPr id="3" name="Content Placeholder 2"/>
          <p:cNvSpPr>
            <a:spLocks noGrp="1"/>
          </p:cNvSpPr>
          <p:nvPr>
            <p:ph idx="1"/>
          </p:nvPr>
        </p:nvSpPr>
        <p:spPr>
          <a:xfrm>
            <a:off x="0" y="1467556"/>
            <a:ext cx="9144000" cy="5192888"/>
          </a:xfrm>
        </p:spPr>
        <p:txBody>
          <a:bodyPr>
            <a:normAutofit/>
          </a:bodyPr>
          <a:lstStyle/>
          <a:p>
            <a:r>
              <a:rPr lang="en-US" dirty="0"/>
              <a:t>As stated before, the primary aim of the paper was to estimate the effect of army training (not deployment, or combat) on various measures of individual crime perpetration, especially violent crime.</a:t>
            </a:r>
          </a:p>
          <a:p>
            <a:r>
              <a:rPr lang="en-US" dirty="0"/>
              <a:t>Even though the analysis focused on years when conscription lotteries were implemented, the authors still faced a potential </a:t>
            </a:r>
            <a:r>
              <a:rPr lang="en-US" dirty="0" err="1"/>
              <a:t>endogeneity</a:t>
            </a:r>
            <a:r>
              <a:rPr lang="en-US" dirty="0"/>
              <a:t> problem because army service was not randomly assigned</a:t>
            </a:r>
            <a:r>
              <a:rPr lang="en-US" dirty="0" smtClean="0"/>
              <a:t>.</a:t>
            </a:r>
          </a:p>
          <a:p>
            <a:r>
              <a:rPr lang="en-US" dirty="0"/>
              <a:t>Many conscripts were screened-out after a medical examination, while a number of service men joined the army voluntarily</a:t>
            </a:r>
            <a:r>
              <a:rPr lang="en-US" dirty="0" smtClean="0"/>
              <a:t>.</a:t>
            </a:r>
          </a:p>
          <a:p>
            <a:r>
              <a:rPr lang="en-US" dirty="0"/>
              <a:t>Consequently, some unobservable determinants of crime perpetration may have been correlated with army training, so a standard OLS regression </a:t>
            </a:r>
            <a:r>
              <a:rPr lang="en-US" dirty="0" smtClean="0"/>
              <a:t>would have yielded </a:t>
            </a:r>
            <a:r>
              <a:rPr lang="en-US" dirty="0"/>
              <a:t>biased estimates</a:t>
            </a:r>
            <a:r>
              <a:rPr lang="en-US" dirty="0" smtClean="0"/>
              <a:t>.</a:t>
            </a:r>
            <a:endParaRPr lang="en-US" dirty="0"/>
          </a:p>
        </p:txBody>
      </p:sp>
    </p:spTree>
    <p:extLst>
      <p:ext uri="{BB962C8B-B14F-4D97-AF65-F5344CB8AC3E}">
        <p14:creationId xmlns:p14="http://schemas.microsoft.com/office/powerpoint/2010/main" val="1861861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lstStyle/>
          <a:p>
            <a:pPr algn="ctr"/>
            <a:r>
              <a:rPr lang="en-US" dirty="0" smtClean="0"/>
              <a:t>Identification Strategy</a:t>
            </a:r>
            <a:endParaRPr lang="en-US" dirty="0"/>
          </a:p>
        </p:txBody>
      </p:sp>
      <p:sp>
        <p:nvSpPr>
          <p:cNvPr id="3" name="Content Placeholder 2"/>
          <p:cNvSpPr>
            <a:spLocks noGrp="1"/>
          </p:cNvSpPr>
          <p:nvPr>
            <p:ph idx="1"/>
          </p:nvPr>
        </p:nvSpPr>
        <p:spPr>
          <a:xfrm>
            <a:off x="0" y="1453444"/>
            <a:ext cx="9144000" cy="5221112"/>
          </a:xfrm>
        </p:spPr>
        <p:txBody>
          <a:bodyPr>
            <a:normAutofit/>
          </a:bodyPr>
          <a:lstStyle/>
          <a:p>
            <a:r>
              <a:rPr lang="en-US" dirty="0" smtClean="0"/>
              <a:t>The </a:t>
            </a:r>
            <a:r>
              <a:rPr lang="en-US" dirty="0"/>
              <a:t>authors employed an instrumental variables approach to estimate the true effect by exploiting the randomness of conscription lotteries</a:t>
            </a:r>
            <a:r>
              <a:rPr lang="en-US" dirty="0" smtClean="0"/>
              <a:t>.</a:t>
            </a:r>
          </a:p>
          <a:p>
            <a:r>
              <a:rPr lang="en-US" dirty="0"/>
              <a:t>Between 1965 and 1972, 15 biannual birth cohorts were subjected to conscription lotteries, conducted by date of birth, and no one from the last three cohorts was </a:t>
            </a:r>
            <a:r>
              <a:rPr lang="en-US" dirty="0" smtClean="0"/>
              <a:t>deployed.</a:t>
            </a:r>
          </a:p>
          <a:p>
            <a:r>
              <a:rPr lang="en-US" dirty="0"/>
              <a:t>So, the authors took advantage of the exogenous variation in the probability of military service resulting from the binary conscription lottery ballot outcome</a:t>
            </a:r>
            <a:r>
              <a:rPr lang="en-US" dirty="0" smtClean="0"/>
              <a:t>.</a:t>
            </a:r>
          </a:p>
          <a:p>
            <a:r>
              <a:rPr lang="en-US" dirty="0"/>
              <a:t>The primary identification assumptions of the paper were the following: the ballot outcome was correlated with army training (relevance condition); the only effect the ballot outcome had on crime perpetration was through its effect on army </a:t>
            </a:r>
            <a:r>
              <a:rPr lang="en-US" dirty="0" smtClean="0"/>
              <a:t>training (exclusion restriction)</a:t>
            </a:r>
            <a:endParaRPr lang="en-US" dirty="0"/>
          </a:p>
        </p:txBody>
      </p:sp>
    </p:spTree>
    <p:extLst>
      <p:ext uri="{BB962C8B-B14F-4D97-AF65-F5344CB8AC3E}">
        <p14:creationId xmlns:p14="http://schemas.microsoft.com/office/powerpoint/2010/main" val="2539142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lstStyle/>
          <a:p>
            <a:pPr algn="ctr"/>
            <a:r>
              <a:rPr lang="en-US" dirty="0" smtClean="0"/>
              <a:t>2SLS Model</a:t>
            </a:r>
            <a:endParaRPr lang="en-US" dirty="0"/>
          </a:p>
        </p:txBody>
      </p:sp>
      <p:sp>
        <p:nvSpPr>
          <p:cNvPr id="3" name="Content Placeholder 2"/>
          <p:cNvSpPr>
            <a:spLocks noGrp="1"/>
          </p:cNvSpPr>
          <p:nvPr>
            <p:ph idx="1"/>
          </p:nvPr>
        </p:nvSpPr>
        <p:spPr>
          <a:xfrm>
            <a:off x="0" y="1481667"/>
            <a:ext cx="9144000" cy="5136444"/>
          </a:xfrm>
        </p:spPr>
        <p:txBody>
          <a:bodyPr>
            <a:normAutofit lnSpcReduction="10000"/>
          </a:bodyPr>
          <a:lstStyle/>
          <a:p>
            <a:r>
              <a:rPr lang="en-US" dirty="0" smtClean="0"/>
              <a:t>Equation (1): </a:t>
            </a:r>
            <a:r>
              <a:rPr lang="en-US" dirty="0" err="1"/>
              <a:t>y</a:t>
            </a:r>
            <a:r>
              <a:rPr lang="en-US" baseline="-25000" dirty="0" err="1"/>
              <a:t>ij</a:t>
            </a:r>
            <a:r>
              <a:rPr lang="en-US" baseline="-25000" dirty="0"/>
              <a:t> </a:t>
            </a:r>
            <a:r>
              <a:rPr lang="en-US" dirty="0"/>
              <a:t>= </a:t>
            </a:r>
            <a:r>
              <a:rPr lang="en-US" dirty="0" smtClean="0"/>
              <a:t>β</a:t>
            </a:r>
            <a:r>
              <a:rPr lang="en-US" dirty="0" err="1" smtClean="0"/>
              <a:t>r</a:t>
            </a:r>
            <a:r>
              <a:rPr lang="en-US" baseline="-25000" dirty="0" err="1" smtClean="0"/>
              <a:t>ij</a:t>
            </a:r>
            <a:r>
              <a:rPr lang="en-US" baseline="-25000" dirty="0" smtClean="0"/>
              <a:t> </a:t>
            </a:r>
            <a:r>
              <a:rPr lang="en-US" dirty="0"/>
              <a:t>+ α</a:t>
            </a:r>
            <a:r>
              <a:rPr lang="en-US" baseline="-25000" dirty="0"/>
              <a:t>j </a:t>
            </a:r>
            <a:r>
              <a:rPr lang="en-US" dirty="0"/>
              <a:t>+ </a:t>
            </a:r>
            <a:r>
              <a:rPr lang="en-US" dirty="0" err="1" smtClean="0"/>
              <a:t>μ</a:t>
            </a:r>
            <a:r>
              <a:rPr lang="en-US" baseline="-25000" dirty="0" err="1" smtClean="0"/>
              <a:t>ij</a:t>
            </a:r>
            <a:r>
              <a:rPr lang="en-US" baseline="-25000" dirty="0" smtClean="0"/>
              <a:t>,</a:t>
            </a:r>
            <a:endParaRPr lang="en-US" dirty="0"/>
          </a:p>
          <a:p>
            <a:r>
              <a:rPr lang="en-US" dirty="0" err="1" smtClean="0"/>
              <a:t>y</a:t>
            </a:r>
            <a:r>
              <a:rPr lang="en-US" baseline="-25000" dirty="0" err="1" smtClean="0"/>
              <a:t>ij</a:t>
            </a:r>
            <a:r>
              <a:rPr lang="en-US" baseline="-25000" dirty="0" smtClean="0"/>
              <a:t> </a:t>
            </a:r>
            <a:r>
              <a:rPr lang="en-US" dirty="0" smtClean="0"/>
              <a:t>was crime perpetration by person </a:t>
            </a:r>
            <a:r>
              <a:rPr lang="en-US" dirty="0" err="1" smtClean="0"/>
              <a:t>i</a:t>
            </a:r>
            <a:r>
              <a:rPr lang="en-US" dirty="0" smtClean="0"/>
              <a:t> in birth cohort j, </a:t>
            </a:r>
            <a:r>
              <a:rPr lang="en-US" dirty="0" err="1" smtClean="0"/>
              <a:t>r</a:t>
            </a:r>
            <a:r>
              <a:rPr lang="en-US" baseline="-25000" dirty="0" err="1" smtClean="0"/>
              <a:t>ij</a:t>
            </a:r>
            <a:r>
              <a:rPr lang="en-US" baseline="-25000" dirty="0"/>
              <a:t> </a:t>
            </a:r>
            <a:r>
              <a:rPr lang="en-US" dirty="0" smtClean="0"/>
              <a:t>was a binary variable indicating army training, </a:t>
            </a:r>
            <a:r>
              <a:rPr lang="en-US" dirty="0"/>
              <a:t>α</a:t>
            </a:r>
            <a:r>
              <a:rPr lang="en-US" baseline="-25000" dirty="0"/>
              <a:t>j</a:t>
            </a:r>
            <a:r>
              <a:rPr lang="en-US" dirty="0" smtClean="0"/>
              <a:t> represented birth cohort fixed effects, and </a:t>
            </a:r>
            <a:r>
              <a:rPr lang="en-US" dirty="0" err="1" smtClean="0"/>
              <a:t>μ</a:t>
            </a:r>
            <a:r>
              <a:rPr lang="en-US" baseline="-25000" dirty="0" err="1" smtClean="0"/>
              <a:t>ij</a:t>
            </a:r>
            <a:r>
              <a:rPr lang="en-US" dirty="0" smtClean="0"/>
              <a:t> denoted other individual-level determinants. </a:t>
            </a:r>
            <a:r>
              <a:rPr lang="en-US" dirty="0"/>
              <a:t>T</a:t>
            </a:r>
            <a:r>
              <a:rPr lang="en-US" dirty="0" smtClean="0"/>
              <a:t>he treatment variable r was probably correlated with the error term μ.</a:t>
            </a:r>
          </a:p>
          <a:p>
            <a:r>
              <a:rPr lang="en-US" dirty="0" smtClean="0"/>
              <a:t>The binary conscription lottery ballot outcome (z) was a randomly assigned source of variation in the probability of army service.</a:t>
            </a:r>
          </a:p>
          <a:p>
            <a:r>
              <a:rPr lang="en-US" dirty="0" smtClean="0"/>
              <a:t>The authors allowed the effect (π) of the ballot outcome to vary between birth cohorts.</a:t>
            </a:r>
          </a:p>
          <a:p>
            <a:r>
              <a:rPr lang="en-US" dirty="0" smtClean="0"/>
              <a:t>Equation (2): </a:t>
            </a:r>
            <a:r>
              <a:rPr lang="en-US" dirty="0" err="1" smtClean="0"/>
              <a:t>r</a:t>
            </a:r>
            <a:r>
              <a:rPr lang="en-US" baseline="-25000" dirty="0" err="1" smtClean="0"/>
              <a:t>ij</a:t>
            </a:r>
            <a:r>
              <a:rPr lang="en-US" baseline="-25000" dirty="0" smtClean="0"/>
              <a:t> </a:t>
            </a:r>
            <a:r>
              <a:rPr lang="en-US" dirty="0" smtClean="0"/>
              <a:t>=π</a:t>
            </a:r>
            <a:r>
              <a:rPr lang="en-US" baseline="-25000" dirty="0" err="1" smtClean="0"/>
              <a:t>j</a:t>
            </a:r>
            <a:r>
              <a:rPr lang="en-US" dirty="0" err="1" smtClean="0"/>
              <a:t>z</a:t>
            </a:r>
            <a:r>
              <a:rPr lang="en-US" baseline="-25000" dirty="0" err="1" smtClean="0"/>
              <a:t>i</a:t>
            </a:r>
            <a:r>
              <a:rPr lang="en-US" baseline="-25000" dirty="0" err="1"/>
              <a:t>j</a:t>
            </a:r>
            <a:r>
              <a:rPr lang="en-US" baseline="-25000" dirty="0" smtClean="0"/>
              <a:t> </a:t>
            </a:r>
            <a:r>
              <a:rPr lang="en-US" dirty="0" smtClean="0"/>
              <a:t>+ </a:t>
            </a:r>
            <a:r>
              <a:rPr lang="en-US" dirty="0" err="1" smtClean="0"/>
              <a:t>ϒ</a:t>
            </a:r>
            <a:r>
              <a:rPr lang="en-US" baseline="-25000" dirty="0" err="1" smtClean="0"/>
              <a:t>j</a:t>
            </a:r>
            <a:r>
              <a:rPr lang="en-US" baseline="-25000" dirty="0" smtClean="0"/>
              <a:t> </a:t>
            </a:r>
            <a:r>
              <a:rPr lang="en-US" dirty="0" smtClean="0"/>
              <a:t>+ </a:t>
            </a:r>
            <a:r>
              <a:rPr lang="en-US" dirty="0" err="1" smtClean="0"/>
              <a:t>ε</a:t>
            </a:r>
            <a:r>
              <a:rPr lang="en-US" baseline="-25000" dirty="0" err="1" smtClean="0"/>
              <a:t>ij</a:t>
            </a:r>
            <a:endParaRPr lang="en-US" dirty="0" smtClean="0"/>
          </a:p>
          <a:p>
            <a:r>
              <a:rPr lang="en-US" dirty="0" smtClean="0"/>
              <a:t>Equations (1) and (2) specified an over-identified 2SLS model, where </a:t>
            </a:r>
            <a:r>
              <a:rPr lang="en-US" dirty="0"/>
              <a:t>π</a:t>
            </a:r>
            <a:r>
              <a:rPr lang="en-US" baseline="-25000" dirty="0"/>
              <a:t>j </a:t>
            </a:r>
            <a:r>
              <a:rPr lang="en-US" baseline="-25000" dirty="0" smtClean="0"/>
              <a:t> </a:t>
            </a:r>
            <a:r>
              <a:rPr lang="en-US" dirty="0" smtClean="0"/>
              <a:t>was the (first-stage) effect of ballot outcome on the probability of army enlistment for men in birth cohort j.</a:t>
            </a:r>
            <a:endParaRPr lang="en-US" dirty="0"/>
          </a:p>
        </p:txBody>
      </p:sp>
    </p:spTree>
    <p:extLst>
      <p:ext uri="{BB962C8B-B14F-4D97-AF65-F5344CB8AC3E}">
        <p14:creationId xmlns:p14="http://schemas.microsoft.com/office/powerpoint/2010/main" val="1030621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6756"/>
            <a:ext cx="9144000" cy="914400"/>
          </a:xfrm>
        </p:spPr>
        <p:txBody>
          <a:bodyPr/>
          <a:lstStyle/>
          <a:p>
            <a:pPr algn="ctr"/>
            <a:r>
              <a:rPr lang="en-US" dirty="0" smtClean="0"/>
              <a:t>Three Specifications</a:t>
            </a:r>
            <a:endParaRPr lang="en-US" dirty="0"/>
          </a:p>
        </p:txBody>
      </p:sp>
      <p:sp>
        <p:nvSpPr>
          <p:cNvPr id="3" name="Content Placeholder 2"/>
          <p:cNvSpPr>
            <a:spLocks noGrp="1"/>
          </p:cNvSpPr>
          <p:nvPr>
            <p:ph idx="1"/>
          </p:nvPr>
        </p:nvSpPr>
        <p:spPr>
          <a:xfrm>
            <a:off x="0" y="1481668"/>
            <a:ext cx="9144000" cy="5136444"/>
          </a:xfrm>
        </p:spPr>
        <p:txBody>
          <a:bodyPr>
            <a:normAutofit lnSpcReduction="10000"/>
          </a:bodyPr>
          <a:lstStyle/>
          <a:p>
            <a:r>
              <a:rPr lang="en-US" dirty="0" smtClean="0"/>
              <a:t>In </a:t>
            </a:r>
            <a:r>
              <a:rPr lang="en-US" dirty="0"/>
              <a:t>the preferred analysis, the sample was restricted to the three youngest cohorts because they were not deployed to </a:t>
            </a:r>
            <a:r>
              <a:rPr lang="en-US" dirty="0" smtClean="0"/>
              <a:t>Vietnam.</a:t>
            </a:r>
          </a:p>
          <a:p>
            <a:r>
              <a:rPr lang="en-US" dirty="0"/>
              <a:t>The second specification repeats the previous procedure, but the sample is extended to the full set of 15 birth cohorts. The estimates from this specification are treated as upper bounds on the effect of army training because the authors assume deployment to Vietnam did not reduce subsequent crime perpetration, on average</a:t>
            </a:r>
            <a:r>
              <a:rPr lang="en-US" dirty="0" smtClean="0"/>
              <a:t>.</a:t>
            </a:r>
          </a:p>
          <a:p>
            <a:r>
              <a:rPr lang="en-US" dirty="0"/>
              <a:t>Finally, the authors obtain estimates from a third specification, using all 15 cohorts, in which they separately identify the effect of army training and the effect of deployment to Vietnam</a:t>
            </a:r>
            <a:r>
              <a:rPr lang="en-US" dirty="0" smtClean="0"/>
              <a:t>.</a:t>
            </a:r>
          </a:p>
          <a:p>
            <a:r>
              <a:rPr lang="en-US" dirty="0" smtClean="0"/>
              <a:t>Equation (3): </a:t>
            </a:r>
            <a:r>
              <a:rPr lang="en-US" dirty="0" err="1"/>
              <a:t>y</a:t>
            </a:r>
            <a:r>
              <a:rPr lang="en-US" baseline="-25000" dirty="0" err="1"/>
              <a:t>ij</a:t>
            </a:r>
            <a:r>
              <a:rPr lang="en-US" baseline="-25000" dirty="0"/>
              <a:t> </a:t>
            </a:r>
            <a:r>
              <a:rPr lang="en-US" dirty="0"/>
              <a:t>= </a:t>
            </a:r>
            <a:r>
              <a:rPr lang="en-US" dirty="0" smtClean="0"/>
              <a:t>β</a:t>
            </a:r>
            <a:r>
              <a:rPr lang="en-US" baseline="-25000" dirty="0" smtClean="0"/>
              <a:t>r</a:t>
            </a:r>
            <a:r>
              <a:rPr lang="en-US" dirty="0" smtClean="0"/>
              <a:t> </a:t>
            </a:r>
            <a:r>
              <a:rPr lang="en-US" dirty="0" err="1" smtClean="0"/>
              <a:t>r</a:t>
            </a:r>
            <a:r>
              <a:rPr lang="en-US" baseline="-25000" dirty="0" err="1" smtClean="0"/>
              <a:t>ij</a:t>
            </a:r>
            <a:r>
              <a:rPr lang="en-US" baseline="-25000" dirty="0" smtClean="0"/>
              <a:t> </a:t>
            </a:r>
            <a:r>
              <a:rPr lang="en-US" dirty="0" smtClean="0"/>
              <a:t>+ β</a:t>
            </a:r>
            <a:r>
              <a:rPr lang="en-US" baseline="-25000" dirty="0" err="1" smtClean="0"/>
              <a:t>ν</a:t>
            </a:r>
            <a:r>
              <a:rPr lang="en-US" dirty="0" err="1" smtClean="0"/>
              <a:t>ν</a:t>
            </a:r>
            <a:r>
              <a:rPr lang="en-US" baseline="-25000" dirty="0" err="1" smtClean="0"/>
              <a:t>ij</a:t>
            </a:r>
            <a:r>
              <a:rPr lang="en-US" dirty="0" smtClean="0"/>
              <a:t> + α</a:t>
            </a:r>
            <a:r>
              <a:rPr lang="en-US" baseline="-25000" dirty="0" smtClean="0"/>
              <a:t>j </a:t>
            </a:r>
            <a:r>
              <a:rPr lang="en-US" dirty="0"/>
              <a:t>+ </a:t>
            </a:r>
            <a:r>
              <a:rPr lang="en-US" dirty="0" err="1" smtClean="0"/>
              <a:t>μ</a:t>
            </a:r>
            <a:r>
              <a:rPr lang="en-US" baseline="-25000" dirty="0" err="1" smtClean="0"/>
              <a:t>ij</a:t>
            </a:r>
            <a:endParaRPr lang="en-US" baseline="-25000" dirty="0" smtClean="0"/>
          </a:p>
          <a:p>
            <a:r>
              <a:rPr lang="en-US" dirty="0" smtClean="0"/>
              <a:t>r and </a:t>
            </a:r>
            <a:r>
              <a:rPr lang="en-US" dirty="0" err="1" smtClean="0"/>
              <a:t>ν</a:t>
            </a:r>
            <a:r>
              <a:rPr lang="en-US" dirty="0" smtClean="0"/>
              <a:t> were both endogenous and both instrumented by the same set of 15 IVs. This strategy relied on the fact that the probability of deployment varied considerably between cohorts of conscripts.</a:t>
            </a:r>
            <a:endParaRPr lang="en-US" dirty="0"/>
          </a:p>
          <a:p>
            <a:endParaRPr lang="en-US" dirty="0" smtClean="0"/>
          </a:p>
          <a:p>
            <a:endParaRPr lang="en-US" dirty="0"/>
          </a:p>
        </p:txBody>
      </p:sp>
    </p:spTree>
    <p:extLst>
      <p:ext uri="{BB962C8B-B14F-4D97-AF65-F5344CB8AC3E}">
        <p14:creationId xmlns:p14="http://schemas.microsoft.com/office/powerpoint/2010/main" val="3898548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2645"/>
            <a:ext cx="8913813" cy="914400"/>
          </a:xfrm>
        </p:spPr>
        <p:txBody>
          <a:bodyPr/>
          <a:lstStyle/>
          <a:p>
            <a:pPr algn="ctr"/>
            <a:r>
              <a:rPr lang="en-US" dirty="0" smtClean="0"/>
              <a:t>GLS Estimation</a:t>
            </a:r>
            <a:endParaRPr lang="en-US" dirty="0"/>
          </a:p>
        </p:txBody>
      </p:sp>
      <p:sp>
        <p:nvSpPr>
          <p:cNvPr id="3" name="Content Placeholder 2"/>
          <p:cNvSpPr>
            <a:spLocks noGrp="1"/>
          </p:cNvSpPr>
          <p:nvPr>
            <p:ph idx="1"/>
          </p:nvPr>
        </p:nvSpPr>
        <p:spPr>
          <a:xfrm>
            <a:off x="0" y="1524000"/>
            <a:ext cx="9144000" cy="5178778"/>
          </a:xfrm>
        </p:spPr>
        <p:txBody>
          <a:bodyPr>
            <a:normAutofit lnSpcReduction="10000"/>
          </a:bodyPr>
          <a:lstStyle/>
          <a:p>
            <a:r>
              <a:rPr lang="en-US" dirty="0" smtClean="0"/>
              <a:t>Individual-level data needed to estimate the second-stage regression was not available. Instead, the authors utilized a group-means approach, where each group was an exact DOB.</a:t>
            </a:r>
          </a:p>
          <a:p>
            <a:r>
              <a:rPr lang="en-US" dirty="0" smtClean="0"/>
              <a:t>According to </a:t>
            </a:r>
            <a:r>
              <a:rPr lang="en-US" dirty="0" err="1" smtClean="0"/>
              <a:t>Angrist</a:t>
            </a:r>
            <a:r>
              <a:rPr lang="en-US" dirty="0" smtClean="0"/>
              <a:t> (1991) and </a:t>
            </a:r>
            <a:r>
              <a:rPr lang="en-US" dirty="0" err="1" smtClean="0"/>
              <a:t>Angrist</a:t>
            </a:r>
            <a:r>
              <a:rPr lang="en-US" dirty="0" smtClean="0"/>
              <a:t> &amp; </a:t>
            </a:r>
            <a:r>
              <a:rPr lang="en-US" dirty="0" err="1" smtClean="0"/>
              <a:t>Pischke</a:t>
            </a:r>
            <a:r>
              <a:rPr lang="en-US" dirty="0" smtClean="0"/>
              <a:t> (2009), the group-means approach yields identical point estimates to that of individual level data, as well as consistently estimated standard errors.</a:t>
            </a:r>
          </a:p>
          <a:p>
            <a:r>
              <a:rPr lang="en-US" dirty="0" smtClean="0"/>
              <a:t>The 2SLS estimates that correspond to the specification in equation (1) are obtained by GLS estimation. The GLS weights were equal to the number of men with each DOB.</a:t>
            </a:r>
          </a:p>
          <a:p>
            <a:r>
              <a:rPr lang="en-US" dirty="0" smtClean="0"/>
              <a:t>The outcome variable on the left-hand side was the mean number of crimes committed by men with a given DOB.</a:t>
            </a:r>
          </a:p>
          <a:p>
            <a:r>
              <a:rPr lang="en-US" dirty="0" smtClean="0"/>
              <a:t>The treatment variable on the right-hand side was the proportion of men who served in the army by ballot outcome and birth cohort. In other words, the predicted value from (2).</a:t>
            </a:r>
          </a:p>
        </p:txBody>
      </p:sp>
    </p:spTree>
    <p:extLst>
      <p:ext uri="{BB962C8B-B14F-4D97-AF65-F5344CB8AC3E}">
        <p14:creationId xmlns:p14="http://schemas.microsoft.com/office/powerpoint/2010/main" val="3965604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2645"/>
            <a:ext cx="9144000" cy="914400"/>
          </a:xfrm>
        </p:spPr>
        <p:txBody>
          <a:bodyPr/>
          <a:lstStyle/>
          <a:p>
            <a:pPr algn="ctr"/>
            <a:r>
              <a:rPr lang="en-US" dirty="0" smtClean="0"/>
              <a:t>Data Construction</a:t>
            </a:r>
            <a:endParaRPr lang="en-US" dirty="0"/>
          </a:p>
        </p:txBody>
      </p:sp>
      <p:sp>
        <p:nvSpPr>
          <p:cNvPr id="3" name="Content Placeholder 2"/>
          <p:cNvSpPr>
            <a:spLocks noGrp="1"/>
          </p:cNvSpPr>
          <p:nvPr>
            <p:ph idx="1"/>
          </p:nvPr>
        </p:nvSpPr>
        <p:spPr>
          <a:xfrm>
            <a:off x="0" y="1524000"/>
            <a:ext cx="9144000" cy="5122333"/>
          </a:xfrm>
        </p:spPr>
        <p:txBody>
          <a:bodyPr/>
          <a:lstStyle/>
          <a:p>
            <a:r>
              <a:rPr lang="en-US" dirty="0" smtClean="0"/>
              <a:t>The first-stage individual-level database contained the universe of men who were in Australia at age 20. It was constructed from military personnel records and official population estimates from the 1960s and 1970s.</a:t>
            </a:r>
          </a:p>
          <a:p>
            <a:r>
              <a:rPr lang="en-US" dirty="0"/>
              <a:t>R</a:t>
            </a:r>
            <a:r>
              <a:rPr lang="en-US" dirty="0" smtClean="0"/>
              <a:t>ecent </a:t>
            </a:r>
            <a:r>
              <a:rPr lang="en-US" dirty="0"/>
              <a:t>migrants were unable to be excluded from </a:t>
            </a:r>
            <a:r>
              <a:rPr lang="en-US" dirty="0" smtClean="0"/>
              <a:t>the </a:t>
            </a:r>
            <a:r>
              <a:rPr lang="en-US" dirty="0"/>
              <a:t>In the </a:t>
            </a:r>
            <a:r>
              <a:rPr lang="en-US" dirty="0" smtClean="0"/>
              <a:t>second-stage </a:t>
            </a:r>
            <a:r>
              <a:rPr lang="en-US" dirty="0"/>
              <a:t>crime database. To alleviate this problem, the first-stage data included synthesized records for migrants who arrived in Australia after the age of 20</a:t>
            </a:r>
            <a:r>
              <a:rPr lang="en-US" dirty="0" smtClean="0"/>
              <a:t>.</a:t>
            </a:r>
          </a:p>
          <a:p>
            <a:r>
              <a:rPr lang="en-US" dirty="0" smtClean="0"/>
              <a:t>The second-stage data base was constructed using administrative data from criminal court cases heard during 1994-2010 in New South Wales, Victoria, and Queensland. During those years, the study population was middle</a:t>
            </a:r>
            <a:r>
              <a:rPr lang="en-US" smtClean="0"/>
              <a:t>-aged (41-65 years).</a:t>
            </a:r>
            <a:endParaRPr lang="en-US" dirty="0"/>
          </a:p>
        </p:txBody>
      </p:sp>
    </p:spTree>
    <p:extLst>
      <p:ext uri="{BB962C8B-B14F-4D97-AF65-F5344CB8AC3E}">
        <p14:creationId xmlns:p14="http://schemas.microsoft.com/office/powerpoint/2010/main" val="3825100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3725"/>
            <a:ext cx="9144000" cy="914400"/>
          </a:xfrm>
        </p:spPr>
        <p:txBody>
          <a:bodyPr/>
          <a:lstStyle/>
          <a:p>
            <a:pPr algn="ctr"/>
            <a:r>
              <a:rPr lang="en-US" dirty="0" smtClean="0"/>
              <a:t>Results</a:t>
            </a:r>
            <a:endParaRPr lang="en-US" dirty="0"/>
          </a:p>
        </p:txBody>
      </p:sp>
      <p:sp>
        <p:nvSpPr>
          <p:cNvPr id="3" name="Content Placeholder 2"/>
          <p:cNvSpPr>
            <a:spLocks noGrp="1"/>
          </p:cNvSpPr>
          <p:nvPr>
            <p:ph idx="1"/>
          </p:nvPr>
        </p:nvSpPr>
        <p:spPr>
          <a:xfrm>
            <a:off x="0" y="1483968"/>
            <a:ext cx="9144000" cy="5179618"/>
          </a:xfrm>
        </p:spPr>
        <p:txBody>
          <a:bodyPr>
            <a:normAutofit lnSpcReduction="10000"/>
          </a:bodyPr>
          <a:lstStyle/>
          <a:p>
            <a:r>
              <a:rPr lang="en-US" dirty="0" smtClean="0"/>
              <a:t>First-stage Results</a:t>
            </a:r>
          </a:p>
          <a:p>
            <a:pPr lvl="1"/>
            <a:r>
              <a:rPr lang="en-US" dirty="0" smtClean="0"/>
              <a:t>Ballot outcome effect is allowed to vary between birth cohorts. Therefore the models are over-identified.</a:t>
            </a:r>
          </a:p>
          <a:p>
            <a:pPr lvl="1"/>
            <a:r>
              <a:rPr lang="en-US" dirty="0" smtClean="0"/>
              <a:t>Ballot outcomes is a strong predictor of army service. First-stage relationships are very strong; F-statistics for IVs in the three specifications are 2844, 3833 and 947, respectively.</a:t>
            </a:r>
            <a:endParaRPr lang="en-US" dirty="0"/>
          </a:p>
          <a:p>
            <a:r>
              <a:rPr lang="en-US" dirty="0" smtClean="0"/>
              <a:t>2SLS Estimates</a:t>
            </a:r>
          </a:p>
          <a:p>
            <a:pPr lvl="1"/>
            <a:r>
              <a:rPr lang="en-US" dirty="0" smtClean="0"/>
              <a:t>For the preferred specification, point estimates are negative for each category of crime but none of these estimates are statistically different from zero at 5% level. Moreover, positive violent crime effects more than 3.6</a:t>
            </a:r>
            <a:r>
              <a:rPr lang="en-US" smtClean="0"/>
              <a:t>% relative to mean </a:t>
            </a:r>
            <a:r>
              <a:rPr lang="en-US" dirty="0" smtClean="0"/>
              <a:t>can be ruled out with 95% confidence level.</a:t>
            </a:r>
          </a:p>
          <a:p>
            <a:pPr lvl="1"/>
            <a:r>
              <a:rPr lang="en-US" dirty="0" smtClean="0"/>
              <a:t>For the second specification, none of the point estimates are statistically significant at 5% level. Positive violent crime effects more than 15% relative to mean can be ruled out at 95% confidence level.</a:t>
            </a:r>
          </a:p>
          <a:p>
            <a:pPr lvl="1"/>
            <a:r>
              <a:rPr lang="en-US" dirty="0" smtClean="0"/>
              <a:t>For the third specification, estimated effects of army training are never statistically significant at 5%. Positive violent crime effects above 21% relative to mean can be ruled out with 95% confidence level.</a:t>
            </a:r>
            <a:endParaRPr lang="en-US" dirty="0"/>
          </a:p>
        </p:txBody>
      </p:sp>
    </p:spTree>
    <p:extLst>
      <p:ext uri="{BB962C8B-B14F-4D97-AF65-F5344CB8AC3E}">
        <p14:creationId xmlns:p14="http://schemas.microsoft.com/office/powerpoint/2010/main" val="2763737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8913813" cy="914400"/>
          </a:xfrm>
        </p:spPr>
        <p:txBody>
          <a:bodyPr>
            <a:normAutofit fontScale="90000"/>
          </a:bodyPr>
          <a:lstStyle/>
          <a:p>
            <a:pPr algn="ctr"/>
            <a:r>
              <a:rPr lang="en-US" dirty="0" smtClean="0"/>
              <a:t>Major Concerns and Comments (1)</a:t>
            </a:r>
            <a:endParaRPr lang="en-US" dirty="0"/>
          </a:p>
        </p:txBody>
      </p:sp>
      <p:sp>
        <p:nvSpPr>
          <p:cNvPr id="3" name="Content Placeholder 2"/>
          <p:cNvSpPr>
            <a:spLocks noGrp="1"/>
          </p:cNvSpPr>
          <p:nvPr>
            <p:ph idx="1"/>
          </p:nvPr>
        </p:nvSpPr>
        <p:spPr>
          <a:xfrm>
            <a:off x="0" y="1483968"/>
            <a:ext cx="9144000" cy="5179618"/>
          </a:xfrm>
        </p:spPr>
        <p:txBody>
          <a:bodyPr>
            <a:normAutofit/>
          </a:bodyPr>
          <a:lstStyle/>
          <a:p>
            <a:r>
              <a:rPr lang="en-US" dirty="0"/>
              <a:t>• </a:t>
            </a:r>
            <a:r>
              <a:rPr lang="en-US" dirty="0" smtClean="0"/>
              <a:t>Administrative </a:t>
            </a:r>
            <a:r>
              <a:rPr lang="en-US" dirty="0"/>
              <a:t>data was drawn from criminal court cases heard during 1994-2010 in New South Wales, Victoria, and Queensland. The three identified states contain over 77% of the Australian population, but the remaining 23% of the population was not represented in the data. In fact, the authors did not even explain why the remaining Australian states were excluded. It seems as though the sample of cohorts being evaluated originate from all over the country, but these individuals could have committed crimes in any of the excluded states. Because the outcome data is restricted to a specific portion of the population, this could present some selection issues</a:t>
            </a:r>
            <a:r>
              <a:rPr lang="en-US" dirty="0" smtClean="0"/>
              <a:t>.</a:t>
            </a:r>
          </a:p>
        </p:txBody>
      </p:sp>
    </p:spTree>
    <p:extLst>
      <p:ext uri="{BB962C8B-B14F-4D97-AF65-F5344CB8AC3E}">
        <p14:creationId xmlns:p14="http://schemas.microsoft.com/office/powerpoint/2010/main" val="2811884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8913813" cy="914400"/>
          </a:xfrm>
        </p:spPr>
        <p:txBody>
          <a:bodyPr>
            <a:normAutofit fontScale="90000"/>
          </a:bodyPr>
          <a:lstStyle/>
          <a:p>
            <a:pPr algn="ctr"/>
            <a:r>
              <a:rPr lang="en-US" dirty="0" smtClean="0"/>
              <a:t>Major Concerns and Comments </a:t>
            </a:r>
            <a:r>
              <a:rPr lang="en-US" dirty="0" smtClean="0"/>
              <a:t>(2)</a:t>
            </a:r>
            <a:endParaRPr lang="en-US" dirty="0"/>
          </a:p>
        </p:txBody>
      </p:sp>
      <p:sp>
        <p:nvSpPr>
          <p:cNvPr id="3" name="Content Placeholder 2"/>
          <p:cNvSpPr>
            <a:spLocks noGrp="1"/>
          </p:cNvSpPr>
          <p:nvPr>
            <p:ph idx="1"/>
          </p:nvPr>
        </p:nvSpPr>
        <p:spPr>
          <a:xfrm>
            <a:off x="0" y="1512506"/>
            <a:ext cx="9143999" cy="5136811"/>
          </a:xfrm>
        </p:spPr>
        <p:txBody>
          <a:bodyPr/>
          <a:lstStyle/>
          <a:p>
            <a:r>
              <a:rPr lang="en-US" dirty="0"/>
              <a:t>• What is the explanation for not including state and/or region fixed effects? If the United States is any indication, then the various states and/or regions in Australia probably have different criminal laws, court procedures, crime rates, conviction rates, philosophies, political biases, etc.</a:t>
            </a:r>
          </a:p>
        </p:txBody>
      </p:sp>
    </p:spTree>
    <p:extLst>
      <p:ext uri="{BB962C8B-B14F-4D97-AF65-F5344CB8AC3E}">
        <p14:creationId xmlns:p14="http://schemas.microsoft.com/office/powerpoint/2010/main" val="3580103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8913813" cy="914400"/>
          </a:xfrm>
        </p:spPr>
        <p:txBody>
          <a:bodyPr>
            <a:normAutofit fontScale="90000"/>
          </a:bodyPr>
          <a:lstStyle/>
          <a:p>
            <a:pPr algn="ctr"/>
            <a:r>
              <a:rPr lang="en-US" dirty="0" smtClean="0"/>
              <a:t>Major Concerns and Comments </a:t>
            </a:r>
            <a:r>
              <a:rPr lang="en-US" dirty="0" smtClean="0"/>
              <a:t>(3)</a:t>
            </a:r>
            <a:endParaRPr lang="en-US" dirty="0"/>
          </a:p>
        </p:txBody>
      </p:sp>
      <p:sp>
        <p:nvSpPr>
          <p:cNvPr id="3" name="Content Placeholder 2"/>
          <p:cNvSpPr>
            <a:spLocks noGrp="1"/>
          </p:cNvSpPr>
          <p:nvPr>
            <p:ph idx="1"/>
          </p:nvPr>
        </p:nvSpPr>
        <p:spPr>
          <a:xfrm>
            <a:off x="0" y="1498236"/>
            <a:ext cx="9144000" cy="5179619"/>
          </a:xfrm>
        </p:spPr>
        <p:txBody>
          <a:bodyPr/>
          <a:lstStyle/>
          <a:p>
            <a:r>
              <a:rPr lang="en-US" dirty="0"/>
              <a:t>• In Section 2, the authors stated that permanent personality shifts due to military training shifts was questionable. However, they failed to consider the effect time has on changes in personality. It is plausible that the effects of military training are more prominent during the earlier years of adulthood, and then they decrease over time. Visual presentations of the reduced-form results show an increasing trend from left to right in the ratio of crimes to population, by birth cohort and ballot outcome. The authors claimed that this trend arose because the data availability window covers a different age range for each cohort. Though, why would differences in age cause this difference? As the results from </a:t>
            </a:r>
            <a:r>
              <a:rPr lang="en-US" dirty="0" err="1"/>
              <a:t>Lindo</a:t>
            </a:r>
            <a:r>
              <a:rPr lang="en-US" dirty="0"/>
              <a:t> &amp; </a:t>
            </a:r>
            <a:r>
              <a:rPr lang="en-US" dirty="0" err="1"/>
              <a:t>Stoecker</a:t>
            </a:r>
            <a:r>
              <a:rPr lang="en-US" dirty="0"/>
              <a:t> (forthcoming) suggest, there is a diminishing marginal effect of military service on violent crime. So, this paper may be disregarding </a:t>
            </a:r>
            <a:r>
              <a:rPr lang="en-US" dirty="0" err="1" smtClean="0"/>
              <a:t>heterogenous</a:t>
            </a:r>
            <a:r>
              <a:rPr lang="en-US" dirty="0" smtClean="0"/>
              <a:t> </a:t>
            </a:r>
            <a:r>
              <a:rPr lang="en-US" dirty="0"/>
              <a:t>time effects because they do not allow the effect of military training to change over time.</a:t>
            </a:r>
          </a:p>
        </p:txBody>
      </p:sp>
    </p:spTree>
    <p:extLst>
      <p:ext uri="{BB962C8B-B14F-4D97-AF65-F5344CB8AC3E}">
        <p14:creationId xmlns:p14="http://schemas.microsoft.com/office/powerpoint/2010/main" val="3729002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normAutofit fontScale="90000"/>
          </a:bodyPr>
          <a:lstStyle/>
          <a:p>
            <a:pPr algn="ctr"/>
            <a:r>
              <a:rPr lang="en-US" dirty="0" smtClean="0"/>
              <a:t>Major Concerns and Comments (4)</a:t>
            </a:r>
            <a:endParaRPr lang="en-US" dirty="0"/>
          </a:p>
        </p:txBody>
      </p:sp>
      <p:sp>
        <p:nvSpPr>
          <p:cNvPr id="3" name="Content Placeholder 2"/>
          <p:cNvSpPr>
            <a:spLocks noGrp="1"/>
          </p:cNvSpPr>
          <p:nvPr>
            <p:ph idx="1"/>
          </p:nvPr>
        </p:nvSpPr>
        <p:spPr>
          <a:xfrm>
            <a:off x="0" y="1512506"/>
            <a:ext cx="9144000" cy="5136811"/>
          </a:xfrm>
        </p:spPr>
        <p:txBody>
          <a:bodyPr/>
          <a:lstStyle/>
          <a:p>
            <a:r>
              <a:rPr lang="en-US" dirty="0" smtClean="0"/>
              <a:t>The </a:t>
            </a:r>
            <a:r>
              <a:rPr lang="en-US" dirty="0"/>
              <a:t>authors show the first-stage regression results in Table 2 in order to demonstrate that their instrument is relevant and not subject to the problems associated with weak instruments. However, the authors do not perform any empirical tests to convince the reader that their instrument satisfies the exclusion restriction. While it is reasonable to believe that the binary conscription lottery ballot outcomes were randomly assigned, it still would be beneficial to see tests that verify this conjecture. Note that the random assignment of ballot outcomes implies that, in the population, the distribution of observable characteristics is identical for cohorts who were conscripted and those who were not. The identifying assumption and the entire analysis of the paper hinges on the fact that ballot outcomes were randomly assigned. As a result, the authors should include descriptive statistics of the included observable characteristics. Most importantly, a comparison of means test should be included as a way to test for random assignment.</a:t>
            </a:r>
          </a:p>
        </p:txBody>
      </p:sp>
    </p:spTree>
    <p:extLst>
      <p:ext uri="{BB962C8B-B14F-4D97-AF65-F5344CB8AC3E}">
        <p14:creationId xmlns:p14="http://schemas.microsoft.com/office/powerpoint/2010/main" val="4294346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normAutofit fontScale="90000"/>
          </a:bodyPr>
          <a:lstStyle/>
          <a:p>
            <a:pPr algn="ctr"/>
            <a:r>
              <a:rPr lang="en-US" dirty="0" smtClean="0"/>
              <a:t>Minor Concerns and Comments (1)</a:t>
            </a:r>
            <a:endParaRPr lang="en-US" dirty="0"/>
          </a:p>
        </p:txBody>
      </p:sp>
      <p:sp>
        <p:nvSpPr>
          <p:cNvPr id="3" name="Content Placeholder 2"/>
          <p:cNvSpPr>
            <a:spLocks noGrp="1"/>
          </p:cNvSpPr>
          <p:nvPr>
            <p:ph idx="1"/>
          </p:nvPr>
        </p:nvSpPr>
        <p:spPr>
          <a:xfrm>
            <a:off x="0" y="1512506"/>
            <a:ext cx="9143999" cy="5136811"/>
          </a:xfrm>
        </p:spPr>
        <p:txBody>
          <a:bodyPr>
            <a:normAutofit/>
          </a:bodyPr>
          <a:lstStyle/>
          <a:p>
            <a:r>
              <a:rPr lang="en-US" dirty="0" smtClean="0"/>
              <a:t>The </a:t>
            </a:r>
            <a:r>
              <a:rPr lang="en-US" dirty="0"/>
              <a:t>authors presented an overly drawn out explanation of the potential connections between military training and violent crime. In addition, they provided a thorough description of National Service in Australia. For over 10 pages, the authors explained the possible reasons why exposure to military training, specifically, could lead a former soldier to perpetuate violent crime. Sections 2 and 3 could easily be reduced without hindering the overall message conveyed by the authors. Instead, I would suggest extending Sections 4 and 5, which outline methods and data, respectively</a:t>
            </a:r>
            <a:r>
              <a:rPr lang="en-US" dirty="0" smtClean="0"/>
              <a:t>.</a:t>
            </a:r>
          </a:p>
          <a:p>
            <a:r>
              <a:rPr lang="en-US" dirty="0"/>
              <a:t>The authors did not present estimates of the treatment effect from a simple OLS regression. They described two scenarios that could cause the OLS estimation to yield biased and inconsistent estimates of the treatment effect. However, the actual OLS results would have confirmed their reasoning, and the OLS results could have been compared with the results from the three 2SLS specifications</a:t>
            </a:r>
            <a:r>
              <a:rPr lang="en-US" dirty="0" smtClean="0"/>
              <a:t>.</a:t>
            </a:r>
            <a:endParaRPr lang="en-US" dirty="0"/>
          </a:p>
        </p:txBody>
      </p:sp>
    </p:spTree>
    <p:extLst>
      <p:ext uri="{BB962C8B-B14F-4D97-AF65-F5344CB8AC3E}">
        <p14:creationId xmlns:p14="http://schemas.microsoft.com/office/powerpoint/2010/main" val="1738861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8874"/>
            <a:ext cx="9144000" cy="914400"/>
          </a:xfrm>
        </p:spPr>
        <p:txBody>
          <a:bodyPr>
            <a:normAutofit fontScale="90000"/>
          </a:bodyPr>
          <a:lstStyle/>
          <a:p>
            <a:pPr algn="ctr"/>
            <a:r>
              <a:rPr lang="en-US" dirty="0" smtClean="0"/>
              <a:t>Minor Concerns and Comments (2)</a:t>
            </a:r>
            <a:endParaRPr lang="en-US" dirty="0"/>
          </a:p>
        </p:txBody>
      </p:sp>
      <p:sp>
        <p:nvSpPr>
          <p:cNvPr id="3" name="Content Placeholder 2"/>
          <p:cNvSpPr>
            <a:spLocks noGrp="1"/>
          </p:cNvSpPr>
          <p:nvPr>
            <p:ph idx="1"/>
          </p:nvPr>
        </p:nvSpPr>
        <p:spPr>
          <a:xfrm>
            <a:off x="0" y="1569580"/>
            <a:ext cx="9144000" cy="5094005"/>
          </a:xfrm>
        </p:spPr>
        <p:txBody>
          <a:bodyPr>
            <a:normAutofit/>
          </a:bodyPr>
          <a:lstStyle/>
          <a:p>
            <a:r>
              <a:rPr lang="en-US" dirty="0" smtClean="0"/>
              <a:t>Visual </a:t>
            </a:r>
            <a:r>
              <a:rPr lang="en-US" dirty="0"/>
              <a:t>presentations of the reduced-form results are discussed in Section 6.2, but this graphical summary is insufficient. It is often common practice to include the actual results from the reduced-form estimation in order to compare them with the 2SLS estimates. In fact, there are distinct advantages to the reduced-form approach, such as obtaining unbiased OLS estimates, even in finite </a:t>
            </a:r>
            <a:r>
              <a:rPr lang="en-US" dirty="0" smtClean="0"/>
              <a:t>samples.</a:t>
            </a:r>
          </a:p>
          <a:p>
            <a:r>
              <a:rPr lang="en-US" dirty="0" smtClean="0"/>
              <a:t>In </a:t>
            </a:r>
            <a:r>
              <a:rPr lang="en-US" dirty="0"/>
              <a:t>the second-stage, recent migrants were unable to be excluded from the crime database. To alleviate this problem, the first-stage data included synthesized records for migrants who arrived in Australia after the age of 20. How were these synthesized records constructed? </a:t>
            </a:r>
            <a:r>
              <a:rPr lang="en-US" dirty="0" err="1"/>
              <a:t>Siminski</a:t>
            </a:r>
            <a:r>
              <a:rPr lang="en-US" dirty="0"/>
              <a:t> and Ville (2012), which used the same approach, was cited by the authors, but a brief discussion on the synthesized records would be helpful.</a:t>
            </a:r>
          </a:p>
        </p:txBody>
      </p:sp>
    </p:spTree>
    <p:extLst>
      <p:ext uri="{BB962C8B-B14F-4D97-AF65-F5344CB8AC3E}">
        <p14:creationId xmlns:p14="http://schemas.microsoft.com/office/powerpoint/2010/main" val="3890080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0336"/>
            <a:ext cx="9144000" cy="914400"/>
          </a:xfrm>
        </p:spPr>
        <p:txBody>
          <a:bodyPr>
            <a:normAutofit fontScale="90000"/>
          </a:bodyPr>
          <a:lstStyle/>
          <a:p>
            <a:pPr algn="ctr"/>
            <a:r>
              <a:rPr lang="en-US" dirty="0" smtClean="0"/>
              <a:t>Minor Concerns and Comments (3)</a:t>
            </a:r>
            <a:endParaRPr lang="en-US" dirty="0"/>
          </a:p>
        </p:txBody>
      </p:sp>
      <p:sp>
        <p:nvSpPr>
          <p:cNvPr id="3" name="Content Placeholder 2"/>
          <p:cNvSpPr>
            <a:spLocks noGrp="1"/>
          </p:cNvSpPr>
          <p:nvPr>
            <p:ph idx="1"/>
          </p:nvPr>
        </p:nvSpPr>
        <p:spPr>
          <a:xfrm>
            <a:off x="0" y="1512505"/>
            <a:ext cx="9144000" cy="5193887"/>
          </a:xfrm>
        </p:spPr>
        <p:txBody>
          <a:bodyPr/>
          <a:lstStyle/>
          <a:p>
            <a:r>
              <a:rPr lang="en-US" dirty="0" smtClean="0"/>
              <a:t>Individual</a:t>
            </a:r>
            <a:r>
              <a:rPr lang="en-US" dirty="0"/>
              <a:t>-level data was unavailable in the second-stage regression. Instead, the authors utilized a group-means approach to obtain point estimates identical to that of individual data, as well as consistently estimated standard errors. Further explanation of the specific GLS procedure would be helpful, such as the estimation of the standard errors, and the exact calculation of the GLS weights. Moreover, the subscripts in equations (2) and (4) on the treatment variable do not match</a:t>
            </a:r>
            <a:r>
              <a:rPr lang="en-US" dirty="0" smtClean="0"/>
              <a:t>.</a:t>
            </a:r>
          </a:p>
          <a:p>
            <a:r>
              <a:rPr lang="en-US" dirty="0" smtClean="0"/>
              <a:t>As </a:t>
            </a:r>
            <a:r>
              <a:rPr lang="en-US" dirty="0"/>
              <a:t>a robustness test, the authors showed alternate 2SLS estimates in Tables 6 and 7 that were generated using just-identified models, which were identical to the models used for Tables 3 and 4, respectively. The estimates were similar to the main results, but less precise. For other robustness tests, the authors can conduct a test of </a:t>
            </a:r>
            <a:r>
              <a:rPr lang="en-US" smtClean="0"/>
              <a:t>overi-dentifying</a:t>
            </a:r>
            <a:r>
              <a:rPr lang="en-US" dirty="0" smtClean="0"/>
              <a:t> </a:t>
            </a:r>
            <a:r>
              <a:rPr lang="en-US" dirty="0"/>
              <a:t>moment restrictions.</a:t>
            </a:r>
          </a:p>
        </p:txBody>
      </p:sp>
    </p:spTree>
    <p:extLst>
      <p:ext uri="{BB962C8B-B14F-4D97-AF65-F5344CB8AC3E}">
        <p14:creationId xmlns:p14="http://schemas.microsoft.com/office/powerpoint/2010/main" val="3679888515"/>
      </p:ext>
    </p:extLst>
  </p:cSld>
  <p:clrMapOvr>
    <a:masterClrMapping/>
  </p:clrMapOvr>
</p:sld>
</file>

<file path=ppt/theme/theme1.xml><?xml version="1.0" encoding="utf-8"?>
<a:theme xmlns:a="http://schemas.openxmlformats.org/drawingml/2006/main" name="Perception">
  <a:themeElements>
    <a:clrScheme name="Perception">
      <a:dk1>
        <a:sysClr val="windowText" lastClr="000000"/>
      </a:dk1>
      <a:lt1>
        <a:sysClr val="window" lastClr="FFFFFF"/>
      </a:lt1>
      <a:dk2>
        <a:srgbClr val="333333"/>
      </a:dk2>
      <a:lt2>
        <a:srgbClr val="BBC0AC"/>
      </a:lt2>
      <a:accent1>
        <a:srgbClr val="A2C816"/>
      </a:accent1>
      <a:accent2>
        <a:srgbClr val="E07602"/>
      </a:accent2>
      <a:accent3>
        <a:srgbClr val="E4C402"/>
      </a:accent3>
      <a:accent4>
        <a:srgbClr val="7DC1EF"/>
      </a:accent4>
      <a:accent5>
        <a:srgbClr val="21449B"/>
      </a:accent5>
      <a:accent6>
        <a:srgbClr val="A2B170"/>
      </a:accent6>
      <a:hlink>
        <a:srgbClr val="8DA440"/>
      </a:hlink>
      <a:folHlink>
        <a:srgbClr val="4C4F3F"/>
      </a:folHlink>
    </a:clrScheme>
    <a:fontScheme name="Perception">
      <a:majorFont>
        <a:latin typeface="Century Gothic"/>
        <a:ea typeface=""/>
        <a:cs typeface=""/>
        <a:font script="Jpan" typeface="メイリオ"/>
        <a:font script="Hans" typeface="宋体"/>
        <a:font script="Hant" typeface="新細明體"/>
      </a:majorFont>
      <a:minorFont>
        <a:latin typeface="Century Gothic"/>
        <a:ea typeface=""/>
        <a:cs typeface=""/>
        <a:font script="Jpan" typeface="メイリオ"/>
        <a:font script="Hans" typeface="宋体"/>
        <a:font script="Hant" typeface="新細明體"/>
      </a:minorFont>
    </a:fontScheme>
    <a:fmtScheme name="Perception">
      <a:fillStyleLst>
        <a:solidFill>
          <a:schemeClr val="phClr"/>
        </a:solidFill>
        <a:solidFill>
          <a:schemeClr val="phClr">
            <a:shade val="90000"/>
          </a:schemeClr>
        </a:solidFill>
        <a:solidFill>
          <a:schemeClr val="phClr">
            <a:shade val="80000"/>
          </a:schemeClr>
        </a:solidFill>
      </a:fillStyleLst>
      <a:lnStyleLst>
        <a:ln w="12700" cap="flat" cmpd="sng" algn="ctr">
          <a:solidFill>
            <a:schemeClr val="phClr">
              <a:satMod val="105000"/>
            </a:schemeClr>
          </a:solidFill>
          <a:prstDash val="solid"/>
        </a:ln>
        <a:ln w="25400" cap="flat" cmpd="sng" algn="ctr">
          <a:solidFill>
            <a:schemeClr val="phClr"/>
          </a:solidFill>
          <a:prstDash val="solid"/>
        </a:ln>
        <a:ln w="25400" cap="flat" cmpd="sng" algn="ctr">
          <a:solidFill>
            <a:schemeClr val="phClr">
              <a:alpha val="80000"/>
            </a:schemeClr>
          </a:solidFill>
          <a:prstDash val="solid"/>
        </a:ln>
      </a:lnStyleLst>
      <a:effectStyleLst>
        <a:effectStyle>
          <a:effectLst/>
        </a:effectStyle>
        <a:effectStyle>
          <a:effectLst/>
          <a:scene3d>
            <a:camera prst="obliqueTopRight"/>
            <a:lightRig rig="threePt" dir="tl"/>
          </a:scene3d>
          <a:sp3d>
            <a:bevelT w="25400" h="25400"/>
          </a:sp3d>
        </a:effectStyle>
        <a:effectStyle>
          <a:effectLst/>
          <a:scene3d>
            <a:camera prst="perspectiveFront" fov="4200000"/>
            <a:lightRig rig="balanced" dir="tl">
              <a:rot lat="0" lon="0" rev="18600000"/>
            </a:lightRig>
          </a:scene3d>
          <a:sp3d prstMaterial="metal">
            <a:bevelT w="63500" h="50800" prst="angle"/>
          </a:sp3d>
        </a:effectStyle>
      </a:effectStyleLst>
      <a:bgFillStyleLst>
        <a:solidFill>
          <a:schemeClr val="phClr">
            <a:tint val="90000"/>
          </a:schemeClr>
        </a:solidFill>
        <a:solidFill>
          <a:schemeClr val="phClr">
            <a:tint val="50000"/>
          </a:schemeClr>
        </a:solidFill>
        <a:solidFill>
          <a:schemeClr val="phClr">
            <a:shade val="60000"/>
          </a:schemeClr>
        </a:soli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Perception.thmx</Template>
  <TotalTime>259</TotalTime>
  <Words>2877</Words>
  <Application>Microsoft Macintosh PowerPoint</Application>
  <PresentationFormat>On-screen Show (4:3)</PresentationFormat>
  <Paragraphs>97</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Perception</vt:lpstr>
      <vt:lpstr>“Does the Military Train Men to be Violent Criminals? New Evidence from Australia’s Conscription Lotteries”</vt:lpstr>
      <vt:lpstr>Introduction</vt:lpstr>
      <vt:lpstr>Existing Literature</vt:lpstr>
      <vt:lpstr>What This Paper Adds</vt:lpstr>
      <vt:lpstr>Potential Mechanisms Linking Military Training to Violent Crime</vt:lpstr>
      <vt:lpstr>National Service in Australia</vt:lpstr>
      <vt:lpstr>National Service in Australia</vt:lpstr>
      <vt:lpstr>Endogeneity Issues</vt:lpstr>
      <vt:lpstr>Identification Strategy</vt:lpstr>
      <vt:lpstr>2SLS Model</vt:lpstr>
      <vt:lpstr>Three Specifications</vt:lpstr>
      <vt:lpstr>GLS Estimation</vt:lpstr>
      <vt:lpstr>Data Construction</vt:lpstr>
      <vt:lpstr>Results</vt:lpstr>
      <vt:lpstr>Major Concerns and Comments (1)</vt:lpstr>
      <vt:lpstr>Major Concerns and Comments (2)</vt:lpstr>
      <vt:lpstr>Major Concerns and Comments (3)</vt:lpstr>
      <vt:lpstr>Major Concerns and Comments (4)</vt:lpstr>
      <vt:lpstr>Minor Concerns and Comments (1)</vt:lpstr>
      <vt:lpstr>Minor Concerns and Comments (2)</vt:lpstr>
      <vt:lpstr>Minor Concerns and Comments (3)</vt:lpstr>
    </vt:vector>
  </TitlesOfParts>
  <Company>The Florida State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the Military Train Men to be Violent Criminals? New Evidence from Australia’s Conscription Lotteries”</dc:title>
  <dc:creator>Nathan Smooha</dc:creator>
  <cp:lastModifiedBy>Nathan Smooha</cp:lastModifiedBy>
  <cp:revision>48</cp:revision>
  <dcterms:created xsi:type="dcterms:W3CDTF">2013-11-11T20:18:51Z</dcterms:created>
  <dcterms:modified xsi:type="dcterms:W3CDTF">2013-11-13T16:45:01Z</dcterms:modified>
</cp:coreProperties>
</file>