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6"/>
  </p:notesMasterIdLst>
  <p:sldIdLst>
    <p:sldId id="256" r:id="rId2"/>
    <p:sldId id="257" r:id="rId3"/>
    <p:sldId id="258" r:id="rId4"/>
    <p:sldId id="262" r:id="rId5"/>
    <p:sldId id="276" r:id="rId6"/>
    <p:sldId id="270" r:id="rId7"/>
    <p:sldId id="263" r:id="rId8"/>
    <p:sldId id="259" r:id="rId9"/>
    <p:sldId id="260" r:id="rId10"/>
    <p:sldId id="261" r:id="rId11"/>
    <p:sldId id="264" r:id="rId12"/>
    <p:sldId id="280" r:id="rId13"/>
    <p:sldId id="265" r:id="rId14"/>
    <p:sldId id="266" r:id="rId15"/>
    <p:sldId id="267" r:id="rId16"/>
    <p:sldId id="268" r:id="rId17"/>
    <p:sldId id="289" r:id="rId18"/>
    <p:sldId id="277" r:id="rId19"/>
    <p:sldId id="272" r:id="rId20"/>
    <p:sldId id="290" r:id="rId21"/>
    <p:sldId id="278" r:id="rId22"/>
    <p:sldId id="275" r:id="rId23"/>
    <p:sldId id="279" r:id="rId24"/>
    <p:sldId id="281" r:id="rId25"/>
    <p:sldId id="273" r:id="rId26"/>
    <p:sldId id="284" r:id="rId27"/>
    <p:sldId id="282" r:id="rId28"/>
    <p:sldId id="291" r:id="rId29"/>
    <p:sldId id="293" r:id="rId30"/>
    <p:sldId id="292" r:id="rId31"/>
    <p:sldId id="285" r:id="rId32"/>
    <p:sldId id="286" r:id="rId33"/>
    <p:sldId id="287" r:id="rId34"/>
    <p:sldId id="288"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07" autoAdjust="0"/>
  </p:normalViewPr>
  <p:slideViewPr>
    <p:cSldViewPr>
      <p:cViewPr varScale="1">
        <p:scale>
          <a:sx n="65" d="100"/>
          <a:sy n="65" d="100"/>
        </p:scale>
        <p:origin x="-131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003BA3-9B9A-4C24-8519-204835E1F909}" type="datetimeFigureOut">
              <a:rPr lang="en-US" smtClean="0"/>
              <a:pPr/>
              <a:t>11/25/2013</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2F24D5-F0DE-4826-93AA-0CD785047BFA}" type="slidenum">
              <a:rPr lang="en-US" smtClean="0"/>
              <a:pPr/>
              <a:t>‹Nº›</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illustrates the contemporaneous relationship between school size and multiple grade classrooms in 9th grade generated by the institutional setup</a:t>
            </a:r>
            <a:endParaRPr lang="en-US" dirty="0"/>
          </a:p>
        </p:txBody>
      </p:sp>
      <p:sp>
        <p:nvSpPr>
          <p:cNvPr id="4" name="3 Marcador de número de diapositiva"/>
          <p:cNvSpPr>
            <a:spLocks noGrp="1"/>
          </p:cNvSpPr>
          <p:nvPr>
            <p:ph type="sldNum" sz="quarter" idx="10"/>
          </p:nvPr>
        </p:nvSpPr>
        <p:spPr/>
        <p:txBody>
          <a:bodyPr/>
          <a:lstStyle/>
          <a:p>
            <a:fld id="{E32F24D5-F0DE-4826-93AA-0CD785047BFA}" type="slidenum">
              <a:rPr lang="en-US" smtClean="0"/>
              <a:pPr/>
              <a:t>13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Schools are supposed to combine two grades when either the combined enrollment of 7th and 8th grade, or the combined enrollment of 8th and 9th grade drops below 24. These rules are illustrated in Figures 1b and 1c. We again see sharp drops in the incidence, this time of double grade classrooms.</a:t>
            </a:r>
            <a:endParaRPr lang="en-US" dirty="0"/>
          </a:p>
        </p:txBody>
      </p:sp>
      <p:sp>
        <p:nvSpPr>
          <p:cNvPr id="4" name="3 Marcador de número de diapositiva"/>
          <p:cNvSpPr>
            <a:spLocks noGrp="1"/>
          </p:cNvSpPr>
          <p:nvPr>
            <p:ph type="sldNum" sz="quarter" idx="10"/>
          </p:nvPr>
        </p:nvSpPr>
        <p:spPr/>
        <p:txBody>
          <a:bodyPr/>
          <a:lstStyle/>
          <a:p>
            <a:fld id="{E32F24D5-F0DE-4826-93AA-0CD785047BFA}"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smtClean="0">
                <a:solidFill>
                  <a:schemeClr val="tx1"/>
                </a:solidFill>
                <a:latin typeface="+mn-lt"/>
                <a:ea typeface="+mn-ea"/>
                <a:cs typeface="+mn-cs"/>
              </a:rPr>
              <a:t>Schools are supposed to combine two grades when either the combined enrollment of 7th and 8th grade, or the combined enrollment of 8th and 9th grade drops below 24. These rules are illustrated in Figures 1b and 1c. We again see sharp drops in the incidence, this time of double grade classrooms.</a:t>
            </a:r>
            <a:endParaRPr lang="en-US" dirty="0" smtClean="0"/>
          </a:p>
          <a:p>
            <a:endParaRPr lang="en-US" dirty="0"/>
          </a:p>
        </p:txBody>
      </p:sp>
      <p:sp>
        <p:nvSpPr>
          <p:cNvPr id="4" name="3 Marcador de número de diapositiva"/>
          <p:cNvSpPr>
            <a:spLocks noGrp="1"/>
          </p:cNvSpPr>
          <p:nvPr>
            <p:ph type="sldNum" sz="quarter" idx="10"/>
          </p:nvPr>
        </p:nvSpPr>
        <p:spPr/>
        <p:txBody>
          <a:bodyPr/>
          <a:lstStyle/>
          <a:p>
            <a:fld id="{E32F24D5-F0DE-4826-93AA-0CD785047BFA}" type="slidenum">
              <a:rPr lang="en-US" smtClean="0"/>
              <a:pPr/>
              <a:t>15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shows actual grade mixing as a function of the relevant cohort sizes.</a:t>
            </a:r>
            <a:endParaRPr lang="en-US" dirty="0"/>
          </a:p>
        </p:txBody>
      </p:sp>
      <p:sp>
        <p:nvSpPr>
          <p:cNvPr id="4" name="3 Marcador de número de diapositiva"/>
          <p:cNvSpPr>
            <a:spLocks noGrp="1"/>
          </p:cNvSpPr>
          <p:nvPr>
            <p:ph type="sldNum" sz="quarter" idx="10"/>
          </p:nvPr>
        </p:nvSpPr>
        <p:spPr/>
        <p:txBody>
          <a:bodyPr/>
          <a:lstStyle/>
          <a:p>
            <a:fld id="{E32F24D5-F0DE-4826-93AA-0CD785047BFA}" type="slidenum">
              <a:rPr lang="en-US" smtClean="0"/>
              <a:pPr/>
              <a:t>16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dirty="0" smtClean="0"/>
              <a:t>This conditions correspond</a:t>
            </a:r>
            <a:r>
              <a:rPr lang="en-US" baseline="0" dirty="0" smtClean="0"/>
              <a:t> to the official rules, also illustrated by figures 1 and 2.</a:t>
            </a:r>
            <a:endParaRPr lang="en-US" dirty="0"/>
          </a:p>
        </p:txBody>
      </p:sp>
      <p:sp>
        <p:nvSpPr>
          <p:cNvPr id="4" name="3 Marcador de número de diapositiva"/>
          <p:cNvSpPr>
            <a:spLocks noGrp="1"/>
          </p:cNvSpPr>
          <p:nvPr>
            <p:ph type="sldNum" sz="quarter" idx="10"/>
          </p:nvPr>
        </p:nvSpPr>
        <p:spPr/>
        <p:txBody>
          <a:bodyPr/>
          <a:lstStyle/>
          <a:p>
            <a:fld id="{E32F24D5-F0DE-4826-93AA-0CD785047BFA}" type="slidenum">
              <a:rPr lang="en-US" smtClean="0"/>
              <a:pPr/>
              <a:t>19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n-US" dirty="0"/>
          </a:p>
        </p:txBody>
      </p:sp>
      <p:sp>
        <p:nvSpPr>
          <p:cNvPr id="4" name="3 Marcador de número de diapositiva"/>
          <p:cNvSpPr>
            <a:spLocks noGrp="1"/>
          </p:cNvSpPr>
          <p:nvPr>
            <p:ph type="sldNum" sz="quarter" idx="10"/>
          </p:nvPr>
        </p:nvSpPr>
        <p:spPr/>
        <p:txBody>
          <a:bodyPr/>
          <a:lstStyle/>
          <a:p>
            <a:fld id="{E32F24D5-F0DE-4826-93AA-0CD785047BFA}" type="slidenum">
              <a:rPr lang="en-US" smtClean="0"/>
              <a:pPr/>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17" name="16 Marcador de pie de página"/>
          <p:cNvSpPr>
            <a:spLocks noGrp="1"/>
          </p:cNvSpPr>
          <p:nvPr>
            <p:ph type="ftr" sz="quarter" idx="11"/>
          </p:nvPr>
        </p:nvSpPr>
        <p:spPr/>
        <p:txBody>
          <a:bodyPr/>
          <a:lstStyle/>
          <a:p>
            <a:endParaRPr lang="en-U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A5161533-EFC2-4C9A-8015-3A50043FA72F}" type="slidenum">
              <a:rPr lang="en-US" smtClean="0"/>
              <a:pPr/>
              <a:t>‹Nº›</a:t>
            </a:fld>
            <a:endParaRPr lang="en-U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5" name="4 Marcador de pie de página"/>
          <p:cNvSpPr>
            <a:spLocks noGrp="1"/>
          </p:cNvSpPr>
          <p:nvPr>
            <p:ph type="ftr" sz="quarter" idx="11"/>
          </p:nvPr>
        </p:nvSpPr>
        <p:spPr>
          <a:xfrm>
            <a:off x="800100" y="6172200"/>
            <a:ext cx="4000500" cy="457200"/>
          </a:xfrm>
        </p:spPr>
        <p:txBody>
          <a:bodyPr/>
          <a:lstStyle/>
          <a:p>
            <a:endParaRPr lang="en-U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A5161533-EFC2-4C9A-8015-3A50043FA72F}" type="slidenum">
              <a:rPr lang="en-US" smtClean="0"/>
              <a:pPr/>
              <a:t>‹Nº›</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8" name="7 Marcador de pie de página"/>
          <p:cNvSpPr>
            <a:spLocks noGrp="1"/>
          </p:cNvSpPr>
          <p:nvPr>
            <p:ph type="ftr" sz="quarter" idx="11"/>
          </p:nvPr>
        </p:nvSpPr>
        <p:spPr/>
        <p:txBody>
          <a:bodyPr/>
          <a:lstStyle/>
          <a:p>
            <a:endParaRPr lang="en-US"/>
          </a:p>
        </p:txBody>
      </p:sp>
      <p:sp>
        <p:nvSpPr>
          <p:cNvPr id="9" name="8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4" name="3 Marcador de pie de página"/>
          <p:cNvSpPr>
            <a:spLocks noGrp="1"/>
          </p:cNvSpPr>
          <p:nvPr>
            <p:ph type="ftr" sz="quarter" idx="11"/>
          </p:nvPr>
        </p:nvSpPr>
        <p:spPr/>
        <p:txBody>
          <a:bodyPr/>
          <a:lstStyle/>
          <a:p>
            <a:endParaRPr lang="en-US"/>
          </a:p>
        </p:txBody>
      </p:sp>
      <p:sp>
        <p:nvSpPr>
          <p:cNvPr id="5" name="4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3" name="2 Marcador de pie de página"/>
          <p:cNvSpPr>
            <a:spLocks noGrp="1"/>
          </p:cNvSpPr>
          <p:nvPr>
            <p:ph type="ftr" sz="quarter" idx="11"/>
          </p:nvPr>
        </p:nvSpPr>
        <p:spPr/>
        <p:txBody>
          <a:bodyPr/>
          <a:lstStyle/>
          <a:p>
            <a:endParaRPr lang="en-US"/>
          </a:p>
        </p:txBody>
      </p:sp>
      <p:sp>
        <p:nvSpPr>
          <p:cNvPr id="4" name="3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6" name="5 Marcador de pie de página"/>
          <p:cNvSpPr>
            <a:spLocks noGrp="1"/>
          </p:cNvSpPr>
          <p:nvPr>
            <p:ph type="ftr" sz="quarter" idx="11"/>
          </p:nvPr>
        </p:nvSpPr>
        <p:spPr>
          <a:xfrm>
            <a:off x="914400" y="6172200"/>
            <a:ext cx="3886200" cy="457200"/>
          </a:xfrm>
        </p:spPr>
        <p:txBody>
          <a:bodyPr/>
          <a:lstStyle/>
          <a:p>
            <a:endParaRPr lang="en-US"/>
          </a:p>
        </p:txBody>
      </p:sp>
      <p:sp>
        <p:nvSpPr>
          <p:cNvPr id="7" name="6 Marcador de número de diapositiva"/>
          <p:cNvSpPr>
            <a:spLocks noGrp="1"/>
          </p:cNvSpPr>
          <p:nvPr>
            <p:ph type="sldNum" sz="quarter" idx="12"/>
          </p:nvPr>
        </p:nvSpPr>
        <p:spPr>
          <a:xfrm>
            <a:off x="146304" y="6208776"/>
            <a:ext cx="457200" cy="457200"/>
          </a:xfrm>
        </p:spPr>
        <p:txBody>
          <a:bodyPr/>
          <a:lstStyle/>
          <a:p>
            <a:fld id="{A5161533-EFC2-4C9A-8015-3A50043FA72F}" type="slidenum">
              <a:rPr lang="en-US" smtClean="0"/>
              <a:pPr/>
              <a:t>‹Nº›</a:t>
            </a:fld>
            <a:endParaRPr lang="en-U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DCD1D2A-3EE7-4EC6-83FF-1725DEB2AEBA}" type="datetimeFigureOut">
              <a:rPr lang="en-US" smtClean="0"/>
              <a:pPr/>
              <a:t>11/25/2013</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5161533-EFC2-4C9A-8015-3A50043FA72F}"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DCD1D2A-3EE7-4EC6-83FF-1725DEB2AEBA}" type="datetimeFigureOut">
              <a:rPr lang="en-US" smtClean="0"/>
              <a:pPr/>
              <a:t>11/25/2013</a:t>
            </a:fld>
            <a:endParaRPr lang="en-U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5161533-EFC2-4C9A-8015-3A50043FA72F}"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p:txBody>
          <a:bodyPr/>
          <a:lstStyle/>
          <a:p>
            <a:r>
              <a:rPr lang="en-US" dirty="0" smtClean="0"/>
              <a:t>Present:</a:t>
            </a:r>
          </a:p>
          <a:p>
            <a:r>
              <a:rPr lang="en-US" dirty="0" smtClean="0"/>
              <a:t>Paul </a:t>
            </a:r>
            <a:r>
              <a:rPr lang="en-US" dirty="0" err="1" smtClean="0"/>
              <a:t>Navas</a:t>
            </a:r>
            <a:endParaRPr lang="en-US" dirty="0" smtClean="0"/>
          </a:p>
          <a:p>
            <a:r>
              <a:rPr lang="en-US" dirty="0" smtClean="0"/>
              <a:t>Maria del Socorro Padilla</a:t>
            </a:r>
            <a:endParaRPr lang="en-US" dirty="0"/>
          </a:p>
        </p:txBody>
      </p:sp>
      <p:sp>
        <p:nvSpPr>
          <p:cNvPr id="2" name="1 Título"/>
          <p:cNvSpPr>
            <a:spLocks noGrp="1"/>
          </p:cNvSpPr>
          <p:nvPr>
            <p:ph type="ctrTitle"/>
          </p:nvPr>
        </p:nvSpPr>
        <p:spPr/>
        <p:txBody>
          <a:bodyPr>
            <a:normAutofit fontScale="90000"/>
          </a:bodyPr>
          <a:lstStyle/>
          <a:p>
            <a:r>
              <a:rPr lang="en-US" dirty="0" smtClean="0"/>
              <a:t>Classroom Grade Composition and Pupil Achievement</a:t>
            </a:r>
            <a:br>
              <a:rPr lang="en-US" dirty="0" smtClean="0"/>
            </a:br>
            <a:r>
              <a:rPr lang="en-US" sz="2700" dirty="0" smtClean="0"/>
              <a:t>By Edwin Leuven &amp; </a:t>
            </a:r>
            <a:r>
              <a:rPr lang="en-US" sz="2700" dirty="0" err="1" smtClean="0"/>
              <a:t>Marte</a:t>
            </a:r>
            <a:r>
              <a:rPr lang="en-US" sz="2700" dirty="0" smtClean="0"/>
              <a:t> </a:t>
            </a:r>
            <a:r>
              <a:rPr lang="en-US" sz="2700" dirty="0" err="1" smtClean="0"/>
              <a:t>Ronning</a:t>
            </a:r>
            <a:endParaRPr lang="en-US" dirty="0"/>
          </a:p>
        </p:txBody>
      </p:sp>
      <p:sp>
        <p:nvSpPr>
          <p:cNvPr id="51202" name="AutoShape 2" descr="data:image/jpeg;base64,/9j/4AAQSkZJRgABAQAAAQABAAD/2wCEAAkGBhQREBUUERMVFBAWFxMXEhgWGBcXGBoWFhoaFBgYGBgYGyYeFyUjHhgYIDQhJSkrLCwtFx4xNTAqNSYrLSkBCQoKDgwOGg8PGjYkHiQsKiwsLCwpLywsLDQsLCwsLCwsKSwsLCwsLCwsLCwsLC8sKSwpLCwsLCwsLCksLCwsLP/AABEIAG4ByAMBIgACEQEDEQH/xAAcAAEAAgIDAQAAAAAAAAAAAAAABgcEBQEDCAL/xABOEAABAwIEAwQECAoHBgcAAAABAAIDBBEFBhIhBxMxIkFRYRRxgZEVIzI1QnSxszM0UmJyc4KhstEINlRVdZLBFxgkQ1OTFqKjtMPS0//EABoBAQADAQEBAAAAAAAAAAAAAAABAgMEBQb/xAAuEQACAgEDAgIKAwEBAAAAAAAAAQIRAxIhMQRBMlETFCJhcYGhscHRkeHwMyP/2gAMAwEAAhEDEQA/AKjREXGfSBERAEREAREQBERAEREAREQBERAEREAREQBERAEREAREQBERAEREAREQBERAEREAREQBERAEREAREQBERAEREAREQBERAEREAREQBERAEREAREQBFb7siUkVFSTfB1VVmaKN0hgleS15aCbsG4B8Rt3eF8H4ApP7hxT3y/yV9JzesJ8L7fsq5FaPwBSf3Dinvl/knwDSf3Dif+aX+SaSfTry+37KuRWj8AUn9w4p75f5J8AUn9w4p75f5JpHp15fb9lXIrexHJNB6BUyejS01ZHA6ZkUkznva3o172jZtzfsnfZVCVDVF8eRTugiIqmoQtt1RSjiN+Nx/VaL7hikq5bpEXREUFgitDhZkmhrKKeetBtFIQXcxzGtYGBxJsbd53XzLPlsO0tiq372BaX2P+Z4P7lfSc7zrU4pN0Vii9EV3CLCoYXzPil0MY6R1pXk6WtLzYX62ChFFJluR4aWVUdyBqe54aL+Ja829alworHqVLdJlXIrT4jZQw/DaiiIikdTSc4ztbIS5zWhmnSSdt3eKkuVOH2DYjT86nim0hxY4PkkDmuABIPat0cDceKjQ7oPqYqKlToodFbuZMLwCgqXU88NUZGhpOh7i3tAOFiXjuK+8uYTl6umEMTZ2Su+Q2R8jdR62BDiL+SaPeT6wq1aXRT6KYZswelocZfC+OQ0THRlzA46y10bXGziQflHxU/yhk3A8TY407JQ9ltcb5Xh4v0Ng4gjzCKN7EyzqMVKnRSCK9M45AwjDacTy01Q9heGfFyONiQSCbuAA2t6yFVOB1VA2pldVwzPpTr5LGOs9t3At1HUL2bcdeqONEwzKatI0KK9cVyJgdLSsqahsscb2tcxrpJOYS5ocGhl76rHcd3eqhzRPRvnvQRyxwaQCJTqcX3dc9TYW07eRRxoY8yycJmoRdlNTuke1jBd7nNa0Dvc42A95Vs8TOF8NHhsU1Oy0sOhtS4EnWHANLyCdrPt0ts4+ChK9y08sYyUX3KiRFnYHg0lZURwQi8kjrC/Qd5cfAAAk+pQaN0rZgorexnK2D4M2Nla2arqnt1ENJbte2rSHNDRcG1yTsVg0OSsNxZw+DJZIJWuaZqeY3Ji1APfGTfcA+JF7XAuraWYLqI1dOvMq9Fvs94DHRYhNTxFxjjLdJeQXbtDtyAB3+C0KqbRakrQREUFgitjhLw3hraSeaqZqDyY6c3cNOkdqQWIv2iBv+QVV+I0DoJpIpBZ8b3Md62ktP2KzVKzKOWMpOK7GOiKQZVyLU4hrMDWtiZ+Elkdojaetr95tvYdO+1woqy8pKKtkfRSXNHD6qoGNklDHwONmyxO1suegJ6j3WKjKNUIyUlaOUVvZCy9guJHlNhnbUMjDnh8jgHWs1zmlrj9IjbbqFncQuD9NBQSTUTHiWKz3Avc/VGPl7HpYdr9kq2h1Zz+sxUtLVFJoiAKh0hFfuWeCdH6JEatj3VJaHS2kc0Au7WmwNuyCB7FCuIWH4PRmamginNY0AB2txja42dY6nb7Hw71dwaVs5o9TGUtMUVuiIqHUEREAREQBcLlEIPWOSPm2k/UQ/whaLiJxJ+Cnwt9H53Na8316LaSB+Sb9VGsu5bxt9JA6DEImQmKMxtLd2sLRpB+LPQKEcVKCuhlhbiFQ2oeWPMZaLaRexHyR3gLdyaR5WPDGWTdp87E/wAtccPS6uGn9D0c14Zq5uq1++3LF/et5xJqHRz4WWEtJr4Wkjbsv7Dm+ogkH1qkOG3ztR/rm/6q6+KH4bCv8Qp/tCRba3LZccYZUorsaTH+OnotVNB6Hr5Uj2auba+k2vblmyknDriJ8Lc/4jk8nlfT16uZr/NFraP3qqKjI8uKYxiEcL2MMcsjiX6rEF5btpBWViWV8Ty/A6aGoYI5HMbLyhqII1aC7WzYbuG3eQoUpXfYmWLE46VtLbzJbm/DZGVGMSuYRFJQM5bvouLAGuF/EHu9SocqfYJmLFsYkNG2pLmyMfzdTWhojA3Li1lx3DbvIX3mDgxU0dNJUSTQuZG3U4N13O4G12271WXtbo3xNYvZm99ivkRFmdgUp4jfjcf1Wi+4YospTxG/G4/qtF9wxW7Gb8a+f4IsiIqmhIcOzg6HDaiiazad7Xuk1EEAabt023vp8e9aGD5bfWPtXwvuD5bfWPtU2VUUro9YZp+ban6tP905eTAvWeafm2p+rT/dOXktaZDh6HhkjzNnJ9bT0kL2AGljMYfquXghjQSLbbMHvVtf0ffm+f6wfu41Qavz+j783z/WD93Gog7kX6qKjipFd8aPnmb9GH7tq1mIZcmw6KirNY1TfGxNAIcwsLXC/je46KyeIHEdlHiMkRoKactEZ5kgGs3aD10npey0fGHMDK2kw6dlm62yuLLglh7ALTbwIKNLdjHOVQjW39ECzPmOSvqXVErWtkeGghlw3sgNHUnwXGWcxS0FSyohPaadx3OaflMd5Ee7Y9QtWipfc69KrT2PV+H1tNi9BqsH08zS17T1afpNPg5p7x4AjuVX4Zwviwyomq8Se11FTm9ONiZSd2am+I6ae935o36OBr54efO94jwxrTzi/ZpkaLgs8wOp8CB1ta0M65VjxWiMeoXNpKeQG4Drdk7dQQbHyO29lv4lZ5L/APGbgn7LPO2dM4y4lUmWXssFxDHe4Yzw8yepPefYFoFk4lh0lPK+KZpZKxxa9p7iPt8b94Kxlgz1opJJR4J7wbwUS15nk/A0jHTPJ6agCGX9W7v2FfTxFiNCbG8FTFse/TI3Y27iL9PEKnY6V1BlrsMcanEHb6WkkQkeQ6Fg/wDVKlPArFpHUklNK17TC7VHqaR8XISSBcdztX+ZbQ22PM6hOd5F2df75lFYlh76eaSGQWkje5jvW02KmvBGrZHizRJa745WRk/lmxHvDXD2rYcd8ucmtZUtHYqG2d+tjsD726T7HKusOpZXv+Ia90je2OWCXN02Ors7ixtus/DI7U1lxfFF9cVOF78Rc2opnAVDWBjmO2a9oJIs76LhcjfY7dLKm6ZtVhFbFJLE+KWNwcGuFg9vRwDujgQSLi/VWRkvjsNLYsRabiw57Be/nIwb+1t/UrPLaTE6f/lVNO71OF/taR7CFpSlujjWTJhWjIrR5hzdmD0+slqdHL5hb2dWq1mhvWwv08Fp1NOKGQhhlS3lkmmmDnRX3LS22phPfa4IPeD5FQtZO73PQxuLinHgLsp6d0j2sYC57iGtA6lzjYAesldanvBjAhPiHOePiaVplce7V0YPtd+wVCVuicktEXIu7KfJpmtw5jgZqaGJ0gHfzC659rgT+23xVQ8d8vcmtZUtHYqG9r9ZGA0+9uk+wrpy7mucY8ax8coinkcx92O2hfZjL7fRsw/sq1+KmXvTMMla0Xli+Oj8bxgkgetpcPaFt4onmRvDlTffk8wq7ch4e3EMtzUkLg2cOkDt7XfqErNXk6wbfyPgqlyxgZrayGnadJleGk9bN+U51u+zQT7Fa2O5zjwGrhoqOBopowx1WSAZJdY/K8QO1fvO2wG9Ibbs6+oblUY88/wfOKUTocJ+Bqb/AIyvPbnbGQWwtEjZHbk7WdpaB13J26KuMQ4f18ETpZqWRkTBd7jpsB4mzlcGa8nvqqimxHCpSx0rohO6NxbqicRaXzsAA5p62G2xUC4tZ+lqquSnilIpIiY9LTYSObs9zrfKF7gDptfvUyS7mWCcm6j33Z3cBfnKX6rN95EreyDmQYjh7JH2MgBinG3y2izrj84EOt+cqh4DfOUv1Wb+OJccE80+jV5p3m0VTZov0Erb6Pfct8yWqYuqK58etya5VfkjGfcsmgr5YbfF31wnxifu33bt9bStpwmy2KqvEktvRqYc6Un5PZ3Y093UX9TSrL455W9Io21LBeSn+X5wu+V/lNnerUolio+CcAZB8msr+1N+UIrC7T4dktbbxe/zUONM0jm140ly9i18i5iNfTOqPoummEY8I2u0s/cLnzJXn7ij88Vf6wfwNVzcEfmiP9ZN/EqZ4o/PFX+sH8DVM/CjPp0lmkkRZERYnpBERAEREAQBFNeEWWvTMSYXC8MHx0nhdp7Dfa6xt4NKlK3RSclCLky8stu+D8NpWVklngQxkusLPkIa2MWA+TcN9TSSq3/pBYRJzaeouTCWmK21mPF3/wDmF/8AIVPs1Z1wuOQ09c9jnsLXFjonyBriLtOzSAbH17pjTafHMLmbSvEjTflOsW2mj7TQQ4Ajew9Tl0PdUeRjk4TWRr9blDcNvnaj/XN/1V18UPw2Ff4hT/aFS3DqMtxekDhZwmaCD1BFwQfBXTxQ/DYV/iFP9oVIeFnT1H/WPwIHl7E5Is0zMjeWsmqZmSiw7TRqcAbjbcDorox3Co6ynlppCLSMsel26r6XW8nNuPNqo3Cf62H63P8AY9T7N2afQccoy91oJYTFN4AOkOlx/RdbfwLlMXs7Ms0G5R081ZzwkyQcOhmlqQGzyPczfa0cbi0dfyjd3q0rG49YpJFRRMjeWsle5kosO00N1WNxtuB0WRxXzVyn0lGw9ueaB0vlE2Vth+04e5pHetZ/SF/Fab9c/wDgKl7RaRWFyyxnLuUWiIuc9gKU8RvxuP6rRfcMUWUp4jfjcf1Wi+4YrdjN+NfP8EWREVTQLspmkvaBuS5oA87rrUrydn04c0htLTzPL9bZJGkvbsBZpHQbX9qlFJtpbKz0XmWIuw+oaAS4084AHUkxuFl5JVrf7wlV/ZoPfJ/NQvOGcPhBzHGmggc3XcxCxfqt8rxtb95Wk2nwcnTY547UlyR1X9/R/iIw6UkbGodpPjaOMG3t296o7BcSFPPHKY2ShhvokF2O2Is4e39ysWDj7PG0NZR0zGDo1usAeoA2CiDSds06mM5x0xRqeNtO5uLyEizXshLT3EBoabe0FQ7CcJlqpmxQMMkrzZoH2k9AB3k9FY1Rx5mkFpKOmeO7Vqd9pXFPx4mj/B0VKz9HU37Cj0t3ZEHljBR0/U54yYGyjpcMgbp1Rxzte4ADUQIbuPrOo+1RjIOQZsTmAALKZpHOltsB+S3uc4+Hd1Pnl5i4oSVtRTTTU8J9HLyGHU5j9drh4d+iFvYOPtQxoaykpmtHQN1gD1AHZPZbISyxxqKW/wDZr+KGbG6vg2kbyqKlcY3NH05GGxLu8gOv6zdxvtaRcEM+nUMPnJIOo0rj3WBc6M+VgSPaPBQvN/EY4hGWvpKeOQua4ysaeYdN9i47kH/RZeW+KzqGKNkVFSl7G6eaWkSO83OG6J+1dkSxN4tOnf4/Usni7w69Ni9Jpm3q429poG8sY3t5uHd49PBUrlPLT62tjpmtO7vjTb5DGntk+Fhtv3kBTz/eFqv7NB75P5rpj48zNc57aKla93y3DUHO9ZBufapeluyuNZoQ018NzM4i8Taqjr3U1E8RQQMjZp0NO+kOv2gdrED2LAylxirXVsDaqUPp3vayQaGDZ/ZBu0A7Eg+xaXOPEt2JRaJKWnY/U081gPMs36Oo72WFk7O3wdqIpYJ3uc1zXSi7mFtx2COnX9yjVvyXWFejpx3L64oZaNdhsrGC80fxsXiXM3LR+k3UPWQqn4C/Oj/q8v8AHGs7/eEqv7NB75P5qNYlxOnfUipp4oaWblvjeYmA6g8hxLtQO+w36qzkrsyx4sig8bXJ8cRckPoKlzmNvRSkup5G7s0u3DCRsCOnmACtzwL9I+EvitXo+h/pFr6LWOi/dfVa3f17rrQ5Z4kVlCzlMc2Wn/6UzdbB39ncFvqBt5Le1fHGrMRjp4aemBvvGw3BPe0E6QfYVVVdm045HHRV+8239IHHWPlgpmkF8Qe+XyL7BrfXYE282qo12VFQ6R7nvcXPcSXOcSSSdyST1XWqyduzbFj9HFRCuGjdNgeXxMwaKyqlZuWgljSC5oIP5jCbHoXqt8p5k9An5whinOktDZRcAkg6h4EW/eVN6rjzNK0slo6Z7D1a/W4e4lTGkZZlOTSStGl/2y4p/aB/24//AKq8uHuZTX4fFM/eWxZLtYF7OyTbpvs7bxXmOmxEMqWzctjgJOZyyOwe1q0EeHd6lYlLx5miaGR0dMxg6NZraB7AbK0ZVyzLPg1JKETUYxTnA8dDww8pknNiHTVDJcFrb+ALm+tqsLNOV6HHmMqaWrjjma2zibG7RvplZcOYW3O/n3ixUEzLxfkrqd8M1JT9ppDX2cXMv3sJ6FV+otLbsXWKcqk9pIvrKua6DCGsoH1pqCXPLpQAYYi63YuCbAm56mxJva+2lxfhPQsmNS6vjjw03fpBBf46I33Id5bE91j1VPomrzRZYGncZc8ln8DWNOKzmIO5Xo8wbfchpli0hxHfYfuKrZxdHLtdsjHeotc0+8EEKwsI41yUsbWQ0VKwBrQS0OaXaRa7rdT/ADWjzlxAOIsAfS08Tw/WZIwdbtiLOceo3v7AodUIKam21s67noHJ+YGYjh8czg062ls7TYgPHZe0jwPXfuIXnniRmf0/EJJGm8Lfi4PDlsJAI/SN3ftLqy/nmejpainity6gWJN7sJGlzmW7y3b2BYGXMbFJUCUwxTgBw0Si7DcWvbyUylaSK4sHo5Sl/Bf3BSMjB4ri13zEeY1kX/cVTHFNpGMVdxb4wEeosbupVH/SAqGgNbSU7WgWABeAAO4AHZabNHFd9fC+OWjpg5wAEgBMjdwey49On71MmmqM8WPJHI5tc+8giIiyPQCIiAIiIArpybxhoaShggkZNzY4w15axliRfv1gnqqWRWUmuDLJijkVSJhxRzZDiNYyana9rBCxjtbQ0lwfI4nYnucFNMh8XaKhw+GnlZMZWB+ssY0tuXucLEvBOxCptcKVJp2VlgjKCg+EW3VZugxHHsOkpmPa1jg12toaS4uc6/ZJv1U14o/hsK/xCn+0KUZagb6HTHS2/Jh3sL/IaujMmVxWS0jnP0tpp2z2HVzmDsi/cNVifILanR5byR1LakrKowfOlPhuM4m+pbI4PlcGaGhxBa9xPUi3VfPEzihSYjRcmBkol5jHXexoGlt7i4cT3qc5vxd5nq6UxBsIw6omDy3d79m7G30QSPW71Lzes5NrY7MMI5Hra3VdyYZRzvysTjq64vkDIzH2QHGwj5bLAkDbb956qcZ14wUVZQTwRsm5j2WYXsaADcHc6yR0VLoqqTSo6JYISkpeQREVDcKU8RvxuP6rRfcMUWUp4jfjcf1Wi+4YrdjN+NfP8EWREVTQ5Y25AuBcgXOw38VKMU4dVFPTCpkkpuQ4Xjc2Zp17XtHt2jsdh4KLKzs3/wBWcM/WO/8AlVkuTHJJpxS7shrcpSGjNXzafkg6SOa3XrIuI9HXVYE6fAXWjUlb8yH683/27lGlDLQbd35nLRc2+1SHH8hVVHAyeQMfTyW0yRPEjN92kkdAe4qOhW1gGdY6dlLR1oD8PqKOIP1f8txklbq9RsL+FgR03lJPkrllKNOJARlCT0P0vm0/J6W5rdeu2rl6LX1W30+C0asrP2UDhuHmIO1wvreZA64uYzBYXt3ggjztfvVao1QxT1qzljbkDYX8entUoxThzUU9MKmSSm5DheNzZmu5m1wI9u2SAdgosFZueP6vYV7f4SiXIySalFLuyslzGy5AuBcgXOwF/E9y4RVNSU4pw5qKel9JkkpvRyOw5szXazuQGWHaOx2HgVhsyfIaM1Ylp+SNiOa3WHkXEejrqI30qbcPnjEsJq8MefjowZqW/j1sPCz9j5SnwUTzd/w8VPQjZ0LebU/WZgHOaf0GaGesOV2lyc0ZyctL5v6EYXLG3IGwv49PauEVDpJfNwxqGQsmfNRtgk/ByOqGBjups1x2PQ+5aXMGWpKMxiV0bhKzmRuieJGlty24cNuoVmVPov8A4ewz03ncnnf8nRe+qW+rV3Wv03VbZia4vc5lzRCaojpDc6A0P5hbHq3A7bT+14q7SRzYpyk9/eadZmEYYaiZsTXxsc82BlcGMv3AuPS/QeZWGsrCvw8X6yP+IKp0PjYldTwlq2Tcjm0hqSNQhE4EhG5uGuaL9CohXUL4ZHRytLJGEte09QR3K/sXwyllzHE6SZ4q2RMfDFpDY3uZrLRzbk36m2nu7+ipnPddNNiNQ+oj5UxfZzBvp0AMaL/S7LRv39e9XkkjmwZZTdPys0KyMOw6SolZFCwvleQ1jR1JPr2HrOwWOpBkPEZaevjmgi5z4xI9zLgExtY4yWJ6ENufZ0Kojpk2k2jtqsgVDGyuY+nmELXuqOTMx5jDASdY2PcRtcXFrqNK5JMCosSiqKjB53U9UYpPSIHbBzH7vaWm+kOI6tJbe3RU2rSVGWKbldhSnDeHVRPSmpZJTcgAcxzpmjQbA6X7dk7jY+Kiys7Kf9WMS/Wt+yFRFWTmk4pV5orKRliRcGxIuNwbeB71wiKpqSih4d1ErIHCWmYagB0DJJ2MkeCdIsw7nfZd1TwxqYzK0yUplhY6SWNs7DI1rW6ydHXpb3hY2Sq18mKUAe4uDJYGMv3Ma+4aPK5PvWx4oVz4sbq3RuLXGzSR+S+FrXD2gkK+1Wc9z16b7WQlERUOglVTw3qWUfpZfTmm06g9szTfu0jbc32t47LCkydK2iFYZIOQdh8a3WX97AzrqA3LfDdTHg9igqBPhdQC+mqGPc38x4F3EeFwAfItHionnatAn9FiBbTUZfDGD1c5riJZXW21PcCfUGjuV2lVnPGU9bg/8iOoiKh0hERAEREAREQBcLlEBYlFxzroomRtjptLGtY27JL2aA0X+N8l3/7fq/8A6dL/ANuT/wDZVoivqZh6vj8ixK3jTW1LHQvZStbK10TnaJAWtk7LiCZTbx9i0+P5WhhpjJG5/MY7TI1xabEFrbOAA5bjq1Btzs13hdRNZFRiMsjWtfI97G/Ia5znBvd2QTYexRd8krEov2NjHREVTYIiIAt/nbE46ipY+J2pop6VhNiO0yJrHDcDoQQtAikrW9hERQWCk+EZ6fFSGjnhiqqTVqayTW0sdubsewgt3J956XUYRSnRWUVLk22NZhNQxkTI44KeMuLIo9VtTrAvc55LnuIAFyeg7lqURAkkqRy02PS/kt5mLM7atkTRSxQmFrY2OjdKTy26iGHW4g7uJud/NaJEDim7N3XZummoYqOUh0cLy6JxvqA0loZfvAubeHTotIiIFFLg5YbEXFx4ePlspfjPET0mjZSOo4GwxD4gtdNqjNiLgl/a6/SuD3qHolkSgpU2ERFBc22VcySYfVMqIgC5uoFpvZzXCxBt7/YFr62sdNK+SQ3ke5z3nxc43P2rpRSV0q7C5YbEXFx4ePlsuEUEk2quJbZKWOlfQUzqaI3jZqn7J331CTV9I9T3rUZjzZ6XDBC2nip4oOZobFq3MmnUSXEkns9VoEVrZRY4rdBZmD4g2CZkromzBhuGPLg0kbgnSQTY2NuhtusNFBdq9iU5pz/JXTx1HJjhqoy0tljL7nQbtBDnEbHe9rrpzhnM4k5sktPFHOAA6SPWC8AWAcCSNvHr3dFHEU2yixxVUuAtjl/H5aKcTwaRKGva0uGoDW0svboSL3F9r9Qei1yKC7Sapkrjz8Yo5RTUsFPPO0smlj5l9DjdwjY5xbFf832W2tFERLKxio8BTDCeIno9E6jFHA6CS3O1OmvI6wGokP7J7I+TYC2yh6InQlBS5OZHAkkCwJNhvt5b7rhEUFjbZZx4UVQ2fksmewgx8wvAa4G4dZjhc+u4Xdm7NHwhPz3QRxSn8IYy/tkAAEhziBYC21vNaNFN9iuhatXcIiKC5IcnZvOGymVkEcs1iGueZOyCLOADXAG/iRda/MGLiqqHzCJkReS57WF5Be4lzndski5PQbLXIpvsU0LVq7hERQXCIiAIiIAiIgCIiAIiIAiIgCIiAIiIAiIgCIiAIiIAiIgCIiAIiIAiIgCIiAIiIAiIgCIiAIiIAiIgCIiAIiIAiIgCIiAIiIAiIgCIiAIiIAiIgP/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4" name="AutoShape 4" descr="data:image/jpeg;base64,/9j/4AAQSkZJRgABAQAAAQABAAD/2wCEAAkGBhQREBUUERMVFBAWFxMXEhgWGBcXGBoWFhoaFBgYGBgYGyYeFyUjHhgYIDQhJSkrLCwtFx4xNTAqNSYrLSkBCQoKDgwOGg8PGjYkHiQsKiwsLCwpLywsLDQsLCwsLCwsKSwsLCwsLCwsLCwsLC8sKSwpLCwsLCwsLCksLCwsLP/AABEIAG4ByAMBIgACEQEDEQH/xAAcAAEAAgIDAQAAAAAAAAAAAAAABgcEBQEDCAL/xABOEAABAwIEAwQECAoHBgcAAAABAAIDBBEFBhIhBxMxIkFRYRRxgZEVIzI1QnSxszM0UmJyc4KhstEINlRVdZLBFxgkQ1OTFqKjtMPS0//EABoBAQADAQEBAAAAAAAAAAAAAAABAgMEBQb/xAAuEQACAgEDAgIKAwEBAAAAAAAAAQIRAxIhMQRBMlETFCJhcYGhscHRkeHwMyP/2gAMAwEAAhEDEQA/AKjREXGfSBERAEREAREQBERAEREAREQBERAEREAREQBERAEREAREQBERAEREAREQBERAEREAREQBERAEREAREQBERAEREAREQBERAEREAREQBERAEREAREQBFb7siUkVFSTfB1VVmaKN0hgleS15aCbsG4B8Rt3eF8H4ApP7hxT3y/yV9JzesJ8L7fsq5FaPwBSf3Dinvl/knwDSf3Dif+aX+SaSfTry+37KuRWj8AUn9w4p75f5J8AUn9w4p75f5JpHp15fb9lXIrexHJNB6BUyejS01ZHA6ZkUkznva3o172jZtzfsnfZVCVDVF8eRTugiIqmoQtt1RSjiN+Nx/VaL7hikq5bpEXREUFgitDhZkmhrKKeetBtFIQXcxzGtYGBxJsbd53XzLPlsO0tiq372BaX2P+Z4P7lfSc7zrU4pN0Vii9EV3CLCoYXzPil0MY6R1pXk6WtLzYX62ChFFJluR4aWVUdyBqe54aL+Ja829alworHqVLdJlXIrT4jZQw/DaiiIikdTSc4ztbIS5zWhmnSSdt3eKkuVOH2DYjT86nim0hxY4PkkDmuABIPat0cDceKjQ7oPqYqKlToodFbuZMLwCgqXU88NUZGhpOh7i3tAOFiXjuK+8uYTl6umEMTZ2Su+Q2R8jdR62BDiL+SaPeT6wq1aXRT6KYZswelocZfC+OQ0THRlzA46y10bXGziQflHxU/yhk3A8TY407JQ9ltcb5Xh4v0Ng4gjzCKN7EyzqMVKnRSCK9M45AwjDacTy01Q9heGfFyONiQSCbuAA2t6yFVOB1VA2pldVwzPpTr5LGOs9t3At1HUL2bcdeqONEwzKatI0KK9cVyJgdLSsqahsscb2tcxrpJOYS5ocGhl76rHcd3eqhzRPRvnvQRyxwaQCJTqcX3dc9TYW07eRRxoY8yycJmoRdlNTuke1jBd7nNa0Dvc42A95Vs8TOF8NHhsU1Oy0sOhtS4EnWHANLyCdrPt0ts4+ChK9y08sYyUX3KiRFnYHg0lZURwQi8kjrC/Qd5cfAAAk+pQaN0rZgorexnK2D4M2Nla2arqnt1ENJbte2rSHNDRcG1yTsVg0OSsNxZw+DJZIJWuaZqeY3Ji1APfGTfcA+JF7XAuraWYLqI1dOvMq9Fvs94DHRYhNTxFxjjLdJeQXbtDtyAB3+C0KqbRakrQREUFgitjhLw3hraSeaqZqDyY6c3cNOkdqQWIv2iBv+QVV+I0DoJpIpBZ8b3Md62ktP2KzVKzKOWMpOK7GOiKQZVyLU4hrMDWtiZ+Elkdojaetr95tvYdO+1woqy8pKKtkfRSXNHD6qoGNklDHwONmyxO1suegJ6j3WKjKNUIyUlaOUVvZCy9guJHlNhnbUMjDnh8jgHWs1zmlrj9IjbbqFncQuD9NBQSTUTHiWKz3Avc/VGPl7HpYdr9kq2h1Zz+sxUtLVFJoiAKh0hFfuWeCdH6JEatj3VJaHS2kc0Au7WmwNuyCB7FCuIWH4PRmamginNY0AB2txja42dY6nb7Hw71dwaVs5o9TGUtMUVuiIqHUEREAREQBcLlEIPWOSPm2k/UQ/whaLiJxJ+Cnwt9H53Na8316LaSB+Sb9VGsu5bxt9JA6DEImQmKMxtLd2sLRpB+LPQKEcVKCuhlhbiFQ2oeWPMZaLaRexHyR3gLdyaR5WPDGWTdp87E/wAtccPS6uGn9D0c14Zq5uq1++3LF/et5xJqHRz4WWEtJr4Wkjbsv7Dm+ogkH1qkOG3ztR/rm/6q6+KH4bCv8Qp/tCRba3LZccYZUorsaTH+OnotVNB6Hr5Uj2auba+k2vblmyknDriJ8Lc/4jk8nlfT16uZr/NFraP3qqKjI8uKYxiEcL2MMcsjiX6rEF5btpBWViWV8Ty/A6aGoYI5HMbLyhqII1aC7WzYbuG3eQoUpXfYmWLE46VtLbzJbm/DZGVGMSuYRFJQM5bvouLAGuF/EHu9SocqfYJmLFsYkNG2pLmyMfzdTWhojA3Li1lx3DbvIX3mDgxU0dNJUSTQuZG3U4N13O4G12271WXtbo3xNYvZm99ivkRFmdgUp4jfjcf1Wi+4YospTxG/G4/qtF9wxW7Gb8a+f4IsiIqmhIcOzg6HDaiiazad7Xuk1EEAabt023vp8e9aGD5bfWPtXwvuD5bfWPtU2VUUro9YZp+ban6tP905eTAvWeafm2p+rT/dOXktaZDh6HhkjzNnJ9bT0kL2AGljMYfquXghjQSLbbMHvVtf0ffm+f6wfu41Qavz+j783z/WD93Gog7kX6qKjipFd8aPnmb9GH7tq1mIZcmw6KirNY1TfGxNAIcwsLXC/je46KyeIHEdlHiMkRoKactEZ5kgGs3aD10npey0fGHMDK2kw6dlm62yuLLglh7ALTbwIKNLdjHOVQjW39ECzPmOSvqXVErWtkeGghlw3sgNHUnwXGWcxS0FSyohPaadx3OaflMd5Ee7Y9QtWipfc69KrT2PV+H1tNi9BqsH08zS17T1afpNPg5p7x4AjuVX4Zwviwyomq8Se11FTm9ONiZSd2am+I6ae935o36OBr54efO94jwxrTzi/ZpkaLgs8wOp8CB1ta0M65VjxWiMeoXNpKeQG4Drdk7dQQbHyO29lv4lZ5L/APGbgn7LPO2dM4y4lUmWXssFxDHe4Yzw8yepPefYFoFk4lh0lPK+KZpZKxxa9p7iPt8b94Kxlgz1opJJR4J7wbwUS15nk/A0jHTPJ6agCGX9W7v2FfTxFiNCbG8FTFse/TI3Y27iL9PEKnY6V1BlrsMcanEHb6WkkQkeQ6Fg/wDVKlPArFpHUklNK17TC7VHqaR8XISSBcdztX+ZbQ22PM6hOd5F2df75lFYlh76eaSGQWkje5jvW02KmvBGrZHizRJa745WRk/lmxHvDXD2rYcd8ucmtZUtHYqG2d+tjsD726T7HKusOpZXv+Ia90je2OWCXN02Ors7ixtus/DI7U1lxfFF9cVOF78Rc2opnAVDWBjmO2a9oJIs76LhcjfY7dLKm6ZtVhFbFJLE+KWNwcGuFg9vRwDujgQSLi/VWRkvjsNLYsRabiw57Be/nIwb+1t/UrPLaTE6f/lVNO71OF/taR7CFpSlujjWTJhWjIrR5hzdmD0+slqdHL5hb2dWq1mhvWwv08Fp1NOKGQhhlS3lkmmmDnRX3LS22phPfa4IPeD5FQtZO73PQxuLinHgLsp6d0j2sYC57iGtA6lzjYAesldanvBjAhPiHOePiaVplce7V0YPtd+wVCVuicktEXIu7KfJpmtw5jgZqaGJ0gHfzC659rgT+23xVQ8d8vcmtZUtHYqG9r9ZGA0+9uk+wrpy7mucY8ax8coinkcx92O2hfZjL7fRsw/sq1+KmXvTMMla0Xli+Oj8bxgkgetpcPaFt4onmRvDlTffk8wq7ch4e3EMtzUkLg2cOkDt7XfqErNXk6wbfyPgqlyxgZrayGnadJleGk9bN+U51u+zQT7Fa2O5zjwGrhoqOBopowx1WSAZJdY/K8QO1fvO2wG9Ibbs6+oblUY88/wfOKUTocJ+Bqb/AIyvPbnbGQWwtEjZHbk7WdpaB13J26KuMQ4f18ETpZqWRkTBd7jpsB4mzlcGa8nvqqimxHCpSx0rohO6NxbqicRaXzsAA5p62G2xUC4tZ+lqquSnilIpIiY9LTYSObs9zrfKF7gDptfvUyS7mWCcm6j33Z3cBfnKX6rN95EreyDmQYjh7JH2MgBinG3y2izrj84EOt+cqh4DfOUv1Wb+OJccE80+jV5p3m0VTZov0Erb6Pfct8yWqYuqK58etya5VfkjGfcsmgr5YbfF31wnxifu33bt9bStpwmy2KqvEktvRqYc6Un5PZ3Y093UX9TSrL455W9Io21LBeSn+X5wu+V/lNnerUolio+CcAZB8msr+1N+UIrC7T4dktbbxe/zUONM0jm140ly9i18i5iNfTOqPoummEY8I2u0s/cLnzJXn7ij88Vf6wfwNVzcEfmiP9ZN/EqZ4o/PFX+sH8DVM/CjPp0lmkkRZERYnpBERAEREAQBFNeEWWvTMSYXC8MHx0nhdp7Dfa6xt4NKlK3RSclCLky8stu+D8NpWVklngQxkusLPkIa2MWA+TcN9TSSq3/pBYRJzaeouTCWmK21mPF3/wDmF/8AIVPs1Z1wuOQ09c9jnsLXFjonyBriLtOzSAbH17pjTafHMLmbSvEjTflOsW2mj7TQQ4Ajew9Tl0PdUeRjk4TWRr9blDcNvnaj/XN/1V18UPw2Ff4hT/aFS3DqMtxekDhZwmaCD1BFwQfBXTxQ/DYV/iFP9oVIeFnT1H/WPwIHl7E5Is0zMjeWsmqZmSiw7TRqcAbjbcDorox3Co6ynlppCLSMsel26r6XW8nNuPNqo3Cf62H63P8AY9T7N2afQccoy91oJYTFN4AOkOlx/RdbfwLlMXs7Ms0G5R081ZzwkyQcOhmlqQGzyPczfa0cbi0dfyjd3q0rG49YpJFRRMjeWsle5kosO00N1WNxtuB0WRxXzVyn0lGw9ueaB0vlE2Vth+04e5pHetZ/SF/Fab9c/wDgKl7RaRWFyyxnLuUWiIuc9gKU8RvxuP6rRfcMUWUp4jfjcf1Wi+4YrdjN+NfP8EWREVTQLspmkvaBuS5oA87rrUrydn04c0htLTzPL9bZJGkvbsBZpHQbX9qlFJtpbKz0XmWIuw+oaAS4084AHUkxuFl5JVrf7wlV/ZoPfJ/NQvOGcPhBzHGmggc3XcxCxfqt8rxtb95Wk2nwcnTY547UlyR1X9/R/iIw6UkbGodpPjaOMG3t296o7BcSFPPHKY2ShhvokF2O2Is4e39ysWDj7PG0NZR0zGDo1usAeoA2CiDSds06mM5x0xRqeNtO5uLyEizXshLT3EBoabe0FQ7CcJlqpmxQMMkrzZoH2k9AB3k9FY1Rx5mkFpKOmeO7Vqd9pXFPx4mj/B0VKz9HU37Cj0t3ZEHljBR0/U54yYGyjpcMgbp1Rxzte4ADUQIbuPrOo+1RjIOQZsTmAALKZpHOltsB+S3uc4+Hd1Pnl5i4oSVtRTTTU8J9HLyGHU5j9drh4d+iFvYOPtQxoaykpmtHQN1gD1AHZPZbISyxxqKW/wDZr+KGbG6vg2kbyqKlcY3NH05GGxLu8gOv6zdxvtaRcEM+nUMPnJIOo0rj3WBc6M+VgSPaPBQvN/EY4hGWvpKeOQua4ysaeYdN9i47kH/RZeW+KzqGKNkVFSl7G6eaWkSO83OG6J+1dkSxN4tOnf4/Usni7w69Ni9Jpm3q429poG8sY3t5uHd49PBUrlPLT62tjpmtO7vjTb5DGntk+Fhtv3kBTz/eFqv7NB75P5rpj48zNc57aKla93y3DUHO9ZBufapeluyuNZoQ018NzM4i8Taqjr3U1E8RQQMjZp0NO+kOv2gdrED2LAylxirXVsDaqUPp3vayQaGDZ/ZBu0A7Eg+xaXOPEt2JRaJKWnY/U081gPMs36Oo72WFk7O3wdqIpYJ3uc1zXSi7mFtx2COnX9yjVvyXWFejpx3L64oZaNdhsrGC80fxsXiXM3LR+k3UPWQqn4C/Oj/q8v8AHGs7/eEqv7NB75P5qNYlxOnfUipp4oaWblvjeYmA6g8hxLtQO+w36qzkrsyx4sig8bXJ8cRckPoKlzmNvRSkup5G7s0u3DCRsCOnmACtzwL9I+EvitXo+h/pFr6LWOi/dfVa3f17rrQ5Z4kVlCzlMc2Wn/6UzdbB39ncFvqBt5Le1fHGrMRjp4aemBvvGw3BPe0E6QfYVVVdm045HHRV+8239IHHWPlgpmkF8Qe+XyL7BrfXYE282qo12VFQ6R7nvcXPcSXOcSSSdyST1XWqyduzbFj9HFRCuGjdNgeXxMwaKyqlZuWgljSC5oIP5jCbHoXqt8p5k9An5whinOktDZRcAkg6h4EW/eVN6rjzNK0slo6Z7D1a/W4e4lTGkZZlOTSStGl/2y4p/aB/24//AKq8uHuZTX4fFM/eWxZLtYF7OyTbpvs7bxXmOmxEMqWzctjgJOZyyOwe1q0EeHd6lYlLx5miaGR0dMxg6NZraB7AbK0ZVyzLPg1JKETUYxTnA8dDww8pknNiHTVDJcFrb+ALm+tqsLNOV6HHmMqaWrjjma2zibG7RvplZcOYW3O/n3ixUEzLxfkrqd8M1JT9ppDX2cXMv3sJ6FV+otLbsXWKcqk9pIvrKua6DCGsoH1pqCXPLpQAYYi63YuCbAm56mxJva+2lxfhPQsmNS6vjjw03fpBBf46I33Id5bE91j1VPomrzRZYGncZc8ln8DWNOKzmIO5Xo8wbfchpli0hxHfYfuKrZxdHLtdsjHeotc0+8EEKwsI41yUsbWQ0VKwBrQS0OaXaRa7rdT/ADWjzlxAOIsAfS08Tw/WZIwdbtiLOceo3v7AodUIKam21s67noHJ+YGYjh8czg062ls7TYgPHZe0jwPXfuIXnniRmf0/EJJGm8Lfi4PDlsJAI/SN3ftLqy/nmejpainity6gWJN7sJGlzmW7y3b2BYGXMbFJUCUwxTgBw0Si7DcWvbyUylaSK4sHo5Sl/Bf3BSMjB4ri13zEeY1kX/cVTHFNpGMVdxb4wEeosbupVH/SAqGgNbSU7WgWABeAAO4AHZabNHFd9fC+OWjpg5wAEgBMjdwey49On71MmmqM8WPJHI5tc+8giIiyPQCIiAIiIArpybxhoaShggkZNzY4w15axliRfv1gnqqWRWUmuDLJijkVSJhxRzZDiNYyana9rBCxjtbQ0lwfI4nYnucFNMh8XaKhw+GnlZMZWB+ssY0tuXucLEvBOxCptcKVJp2VlgjKCg+EW3VZugxHHsOkpmPa1jg12toaS4uc6/ZJv1U14o/hsK/xCn+0KUZagb6HTHS2/Jh3sL/IaujMmVxWS0jnP0tpp2z2HVzmDsi/cNVifILanR5byR1LakrKowfOlPhuM4m+pbI4PlcGaGhxBa9xPUi3VfPEzihSYjRcmBkol5jHXexoGlt7i4cT3qc5vxd5nq6UxBsIw6omDy3d79m7G30QSPW71Lzes5NrY7MMI5Hra3VdyYZRzvysTjq64vkDIzH2QHGwj5bLAkDbb956qcZ14wUVZQTwRsm5j2WYXsaADcHc6yR0VLoqqTSo6JYISkpeQREVDcKU8RvxuP6rRfcMUWUp4jfjcf1Wi+4YrdjN+NfP8EWREVTQ5Y25AuBcgXOw38VKMU4dVFPTCpkkpuQ4Xjc2Zp17XtHt2jsdh4KLKzs3/wBWcM/WO/8AlVkuTHJJpxS7shrcpSGjNXzafkg6SOa3XrIuI9HXVYE6fAXWjUlb8yH683/27lGlDLQbd35nLRc2+1SHH8hVVHAyeQMfTyW0yRPEjN92kkdAe4qOhW1gGdY6dlLR1oD8PqKOIP1f8txklbq9RsL+FgR03lJPkrllKNOJARlCT0P0vm0/J6W5rdeu2rl6LX1W30+C0asrP2UDhuHmIO1wvreZA64uYzBYXt3ggjztfvVao1QxT1qzljbkDYX8entUoxThzUU9MKmSSm5DheNzZmu5m1wI9u2SAdgosFZueP6vYV7f4SiXIySalFLuyslzGy5AuBcgXOwF/E9y4RVNSU4pw5qKel9JkkpvRyOw5szXazuQGWHaOx2HgVhsyfIaM1Ylp+SNiOa3WHkXEejrqI30qbcPnjEsJq8MefjowZqW/j1sPCz9j5SnwUTzd/w8VPQjZ0LebU/WZgHOaf0GaGesOV2lyc0ZyctL5v6EYXLG3IGwv49PauEVDpJfNwxqGQsmfNRtgk/ByOqGBjups1x2PQ+5aXMGWpKMxiV0bhKzmRuieJGlty24cNuoVmVPov8A4ewz03ncnnf8nRe+qW+rV3Wv03VbZia4vc5lzRCaojpDc6A0P5hbHq3A7bT+14q7SRzYpyk9/eadZmEYYaiZsTXxsc82BlcGMv3AuPS/QeZWGsrCvw8X6yP+IKp0PjYldTwlq2Tcjm0hqSNQhE4EhG5uGuaL9CohXUL4ZHRytLJGEte09QR3K/sXwyllzHE6SZ4q2RMfDFpDY3uZrLRzbk36m2nu7+ipnPddNNiNQ+oj5UxfZzBvp0AMaL/S7LRv39e9XkkjmwZZTdPys0KyMOw6SolZFCwvleQ1jR1JPr2HrOwWOpBkPEZaevjmgi5z4xI9zLgExtY4yWJ6ENufZ0Kojpk2k2jtqsgVDGyuY+nmELXuqOTMx5jDASdY2PcRtcXFrqNK5JMCosSiqKjB53U9UYpPSIHbBzH7vaWm+kOI6tJbe3RU2rSVGWKbldhSnDeHVRPSmpZJTcgAcxzpmjQbA6X7dk7jY+Kiys7Kf9WMS/Wt+yFRFWTmk4pV5orKRliRcGxIuNwbeB71wiKpqSih4d1ErIHCWmYagB0DJJ2MkeCdIsw7nfZd1TwxqYzK0yUplhY6SWNs7DI1rW6ydHXpb3hY2Sq18mKUAe4uDJYGMv3Ma+4aPK5PvWx4oVz4sbq3RuLXGzSR+S+FrXD2gkK+1Wc9z16b7WQlERUOglVTw3qWUfpZfTmm06g9szTfu0jbc32t47LCkydK2iFYZIOQdh8a3WX97AzrqA3LfDdTHg9igqBPhdQC+mqGPc38x4F3EeFwAfItHionnatAn9FiBbTUZfDGD1c5riJZXW21PcCfUGjuV2lVnPGU9bg/8iOoiKh0hERAEREAREQBcLlEBYlFxzroomRtjptLGtY27JL2aA0X+N8l3/7fq/8A6dL/ANuT/wDZVoivqZh6vj8ixK3jTW1LHQvZStbK10TnaJAWtk7LiCZTbx9i0+P5WhhpjJG5/MY7TI1xabEFrbOAA5bjq1Btzs13hdRNZFRiMsjWtfI97G/Ia5znBvd2QTYexRd8krEov2NjHREVTYIiIAt/nbE46ipY+J2pop6VhNiO0yJrHDcDoQQtAikrW9hERQWCk+EZ6fFSGjnhiqqTVqayTW0sdubsewgt3J956XUYRSnRWUVLk22NZhNQxkTI44KeMuLIo9VtTrAvc55LnuIAFyeg7lqURAkkqRy02PS/kt5mLM7atkTRSxQmFrY2OjdKTy26iGHW4g7uJud/NaJEDim7N3XZummoYqOUh0cLy6JxvqA0loZfvAubeHTotIiIFFLg5YbEXFx4ePlspfjPET0mjZSOo4GwxD4gtdNqjNiLgl/a6/SuD3qHolkSgpU2ERFBc22VcySYfVMqIgC5uoFpvZzXCxBt7/YFr62sdNK+SQ3ke5z3nxc43P2rpRSV0q7C5YbEXFx4ePlsuEUEk2quJbZKWOlfQUzqaI3jZqn7J331CTV9I9T3rUZjzZ6XDBC2nip4oOZobFq3MmnUSXEkns9VoEVrZRY4rdBZmD4g2CZkromzBhuGPLg0kbgnSQTY2NuhtusNFBdq9iU5pz/JXTx1HJjhqoy0tljL7nQbtBDnEbHe9rrpzhnM4k5sktPFHOAA6SPWC8AWAcCSNvHr3dFHEU2yixxVUuAtjl/H5aKcTwaRKGva0uGoDW0svboSL3F9r9Qei1yKC7Sapkrjz8Yo5RTUsFPPO0smlj5l9DjdwjY5xbFf832W2tFERLKxio8BTDCeIno9E6jFHA6CS3O1OmvI6wGokP7J7I+TYC2yh6InQlBS5OZHAkkCwJNhvt5b7rhEUFjbZZx4UVQ2fksmewgx8wvAa4G4dZjhc+u4Xdm7NHwhPz3QRxSn8IYy/tkAAEhziBYC21vNaNFN9iuhatXcIiKC5IcnZvOGymVkEcs1iGueZOyCLOADXAG/iRda/MGLiqqHzCJkReS57WF5Be4lzndski5PQbLXIpvsU0LVq7hERQXCIiAIiIAiIgCIiAIiIAiIgCIiAIiIAiIgCIiAIiIAiIgCIiAIiIAiIgCIiAIiIAiIgCIiAIiIAiIgCIiAIiIAiIgCIiAIiIAiIgCIiAIiIAiIgP/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1206"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
            </a:r>
            <a:br>
              <a:rPr lang="en-US" dirty="0" smtClean="0"/>
            </a:br>
            <a:r>
              <a:rPr lang="en-US" dirty="0" smtClean="0"/>
              <a:t>Presentation outline</a:t>
            </a:r>
            <a:endParaRPr lang="en-US" dirty="0"/>
          </a:p>
        </p:txBody>
      </p:sp>
      <p:sp>
        <p:nvSpPr>
          <p:cNvPr id="3" name="2 Marcador de contenido"/>
          <p:cNvSpPr>
            <a:spLocks noGrp="1"/>
          </p:cNvSpPr>
          <p:nvPr>
            <p:ph sz="quarter" idx="1"/>
          </p:nvPr>
        </p:nvSpPr>
        <p:spPr/>
        <p:txBody>
          <a:bodyPr/>
          <a:lstStyle/>
          <a:p>
            <a:r>
              <a:rPr lang="en-US" dirty="0" smtClean="0"/>
              <a:t>Question</a:t>
            </a:r>
          </a:p>
          <a:p>
            <a:r>
              <a:rPr lang="en-US" dirty="0" smtClean="0"/>
              <a:t>Channels considered </a:t>
            </a:r>
          </a:p>
          <a:p>
            <a:r>
              <a:rPr lang="en-US" dirty="0" smtClean="0"/>
              <a:t>Source of variation</a:t>
            </a:r>
          </a:p>
          <a:p>
            <a:r>
              <a:rPr lang="en-US" dirty="0" smtClean="0"/>
              <a:t>Research design</a:t>
            </a:r>
          </a:p>
          <a:p>
            <a:r>
              <a:rPr lang="en-US" dirty="0" smtClean="0"/>
              <a:t>Identifying assumptions</a:t>
            </a:r>
          </a:p>
          <a:p>
            <a:r>
              <a:rPr lang="en-US" dirty="0" smtClean="0"/>
              <a:t>Inference</a:t>
            </a:r>
          </a:p>
          <a:p>
            <a:r>
              <a:rPr lang="en-US" dirty="0" smtClean="0"/>
              <a:t>Results</a:t>
            </a:r>
          </a:p>
          <a:p>
            <a:r>
              <a:rPr lang="en-US" dirty="0" smtClean="0"/>
              <a:t>Comments</a:t>
            </a:r>
          </a:p>
          <a:p>
            <a:endParaRPr lang="en-US" dirty="0"/>
          </a:p>
        </p:txBody>
      </p:sp>
      <p:sp>
        <p:nvSpPr>
          <p:cNvPr id="50178" name="AutoShape 2" descr="data:image/jpeg;base64,/9j/4AAQSkZJRgABAQAAAQABAAD/2wCEAAkGBhQREBUUERMVFBAWFxMXEhgWGBcXGBoWFhoaFBgYGBgYGyYeFyUjHhgYIDQhJSkrLCwtFx4xNTAqNSYrLSkBCQoKDgwOGg8PGjYkHiQsKiwsLCwpLywsLDQsLCwsLCwsKSwsLCwsLCwsLCwsLC8sKSwpLCwsLCwsLCksLCwsLP/AABEIAG4ByAMBIgACEQEDEQH/xAAcAAEAAgIDAQAAAAAAAAAAAAAABgcEBQEDCAL/xABOEAABAwIEAwQECAoHBgcAAAABAAIDBBEFBhIhBxMxIkFRYRRxgZEVIzI1QnSxszM0UmJyc4KhstEINlRVdZLBFxgkQ1OTFqKjtMPS0//EABoBAQADAQEBAAAAAAAAAAAAAAABAgMEBQb/xAAuEQACAgEDAgIKAwEBAAAAAAAAAQIRAxIhMQRBMlETFCJhcYGhscHRkeHwMyP/2gAMAwEAAhEDEQA/AKjREXGfSBERAEREAREQBERAEREAREQBERAEREAREQBERAEREAREQBERAEREAREQBERAEREAREQBERAEREAREQBERAEREAREQBERAEREAREQBERAEREAREQBFb7siUkVFSTfB1VVmaKN0hgleS15aCbsG4B8Rt3eF8H4ApP7hxT3y/yV9JzesJ8L7fsq5FaPwBSf3Dinvl/knwDSf3Dif+aX+SaSfTry+37KuRWj8AUn9w4p75f5J8AUn9w4p75f5JpHp15fb9lXIrexHJNB6BUyejS01ZHA6ZkUkznva3o172jZtzfsnfZVCVDVF8eRTugiIqmoQtt1RSjiN+Nx/VaL7hikq5bpEXREUFgitDhZkmhrKKeetBtFIQXcxzGtYGBxJsbd53XzLPlsO0tiq372BaX2P+Z4P7lfSc7zrU4pN0Vii9EV3CLCoYXzPil0MY6R1pXk6WtLzYX62ChFFJluR4aWVUdyBqe54aL+Ja829alworHqVLdJlXIrT4jZQw/DaiiIikdTSc4ztbIS5zWhmnSSdt3eKkuVOH2DYjT86nim0hxY4PkkDmuABIPat0cDceKjQ7oPqYqKlToodFbuZMLwCgqXU88NUZGhpOh7i3tAOFiXjuK+8uYTl6umEMTZ2Su+Q2R8jdR62BDiL+SaPeT6wq1aXRT6KYZswelocZfC+OQ0THRlzA46y10bXGziQflHxU/yhk3A8TY407JQ9ltcb5Xh4v0Ng4gjzCKN7EyzqMVKnRSCK9M45AwjDacTy01Q9heGfFyONiQSCbuAA2t6yFVOB1VA2pldVwzPpTr5LGOs9t3At1HUL2bcdeqONEwzKatI0KK9cVyJgdLSsqahsscb2tcxrpJOYS5ocGhl76rHcd3eqhzRPRvnvQRyxwaQCJTqcX3dc9TYW07eRRxoY8yycJmoRdlNTuke1jBd7nNa0Dvc42A95Vs8TOF8NHhsU1Oy0sOhtS4EnWHANLyCdrPt0ts4+ChK9y08sYyUX3KiRFnYHg0lZURwQi8kjrC/Qd5cfAAAk+pQaN0rZgorexnK2D4M2Nla2arqnt1ENJbte2rSHNDRcG1yTsVg0OSsNxZw+DJZIJWuaZqeY3Ji1APfGTfcA+JF7XAuraWYLqI1dOvMq9Fvs94DHRYhNTxFxjjLdJeQXbtDtyAB3+C0KqbRakrQREUFgitjhLw3hraSeaqZqDyY6c3cNOkdqQWIv2iBv+QVV+I0DoJpIpBZ8b3Md62ktP2KzVKzKOWMpOK7GOiKQZVyLU4hrMDWtiZ+Elkdojaetr95tvYdO+1woqy8pKKtkfRSXNHD6qoGNklDHwONmyxO1suegJ6j3WKjKNUIyUlaOUVvZCy9guJHlNhnbUMjDnh8jgHWs1zmlrj9IjbbqFncQuD9NBQSTUTHiWKz3Avc/VGPl7HpYdr9kq2h1Zz+sxUtLVFJoiAKh0hFfuWeCdH6JEatj3VJaHS2kc0Au7WmwNuyCB7FCuIWH4PRmamginNY0AB2txja42dY6nb7Hw71dwaVs5o9TGUtMUVuiIqHUEREAREQBcLlEIPWOSPm2k/UQ/whaLiJxJ+Cnwt9H53Na8316LaSB+Sb9VGsu5bxt9JA6DEImQmKMxtLd2sLRpB+LPQKEcVKCuhlhbiFQ2oeWPMZaLaRexHyR3gLdyaR5WPDGWTdp87E/wAtccPS6uGn9D0c14Zq5uq1++3LF/et5xJqHRz4WWEtJr4Wkjbsv7Dm+ogkH1qkOG3ztR/rm/6q6+KH4bCv8Qp/tCRba3LZccYZUorsaTH+OnotVNB6Hr5Uj2auba+k2vblmyknDriJ8Lc/4jk8nlfT16uZr/NFraP3qqKjI8uKYxiEcL2MMcsjiX6rEF5btpBWViWV8Ty/A6aGoYI5HMbLyhqII1aC7WzYbuG3eQoUpXfYmWLE46VtLbzJbm/DZGVGMSuYRFJQM5bvouLAGuF/EHu9SocqfYJmLFsYkNG2pLmyMfzdTWhojA3Li1lx3DbvIX3mDgxU0dNJUSTQuZG3U4N13O4G12271WXtbo3xNYvZm99ivkRFmdgUp4jfjcf1Wi+4YospTxG/G4/qtF9wxW7Gb8a+f4IsiIqmhIcOzg6HDaiiazad7Xuk1EEAabt023vp8e9aGD5bfWPtXwvuD5bfWPtU2VUUro9YZp+ban6tP905eTAvWeafm2p+rT/dOXktaZDh6HhkjzNnJ9bT0kL2AGljMYfquXghjQSLbbMHvVtf0ffm+f6wfu41Qavz+j783z/WD93Gog7kX6qKjipFd8aPnmb9GH7tq1mIZcmw6KirNY1TfGxNAIcwsLXC/je46KyeIHEdlHiMkRoKactEZ5kgGs3aD10npey0fGHMDK2kw6dlm62yuLLglh7ALTbwIKNLdjHOVQjW39ECzPmOSvqXVErWtkeGghlw3sgNHUnwXGWcxS0FSyohPaadx3OaflMd5Ee7Y9QtWipfc69KrT2PV+H1tNi9BqsH08zS17T1afpNPg5p7x4AjuVX4Zwviwyomq8Se11FTm9ONiZSd2am+I6ae935o36OBr54efO94jwxrTzi/ZpkaLgs8wOp8CB1ta0M65VjxWiMeoXNpKeQG4Drdk7dQQbHyO29lv4lZ5L/APGbgn7LPO2dM4y4lUmWXssFxDHe4Yzw8yepPefYFoFk4lh0lPK+KZpZKxxa9p7iPt8b94Kxlgz1opJJR4J7wbwUS15nk/A0jHTPJ6agCGX9W7v2FfTxFiNCbG8FTFse/TI3Y27iL9PEKnY6V1BlrsMcanEHb6WkkQkeQ6Fg/wDVKlPArFpHUklNK17TC7VHqaR8XISSBcdztX+ZbQ22PM6hOd5F2df75lFYlh76eaSGQWkje5jvW02KmvBGrZHizRJa745WRk/lmxHvDXD2rYcd8ucmtZUtHYqG2d+tjsD726T7HKusOpZXv+Ia90je2OWCXN02Ors7ixtus/DI7U1lxfFF9cVOF78Rc2opnAVDWBjmO2a9oJIs76LhcjfY7dLKm6ZtVhFbFJLE+KWNwcGuFg9vRwDujgQSLi/VWRkvjsNLYsRabiw57Be/nIwb+1t/UrPLaTE6f/lVNO71OF/taR7CFpSlujjWTJhWjIrR5hzdmD0+slqdHL5hb2dWq1mhvWwv08Fp1NOKGQhhlS3lkmmmDnRX3LS22phPfa4IPeD5FQtZO73PQxuLinHgLsp6d0j2sYC57iGtA6lzjYAesldanvBjAhPiHOePiaVplce7V0YPtd+wVCVuicktEXIu7KfJpmtw5jgZqaGJ0gHfzC659rgT+23xVQ8d8vcmtZUtHYqG9r9ZGA0+9uk+wrpy7mucY8ax8coinkcx92O2hfZjL7fRsw/sq1+KmXvTMMla0Xli+Oj8bxgkgetpcPaFt4onmRvDlTffk8wq7ch4e3EMtzUkLg2cOkDt7XfqErNXk6wbfyPgqlyxgZrayGnadJleGk9bN+U51u+zQT7Fa2O5zjwGrhoqOBopowx1WSAZJdY/K8QO1fvO2wG9Ibbs6+oblUY88/wfOKUTocJ+Bqb/AIyvPbnbGQWwtEjZHbk7WdpaB13J26KuMQ4f18ETpZqWRkTBd7jpsB4mzlcGa8nvqqimxHCpSx0rohO6NxbqicRaXzsAA5p62G2xUC4tZ+lqquSnilIpIiY9LTYSObs9zrfKF7gDptfvUyS7mWCcm6j33Z3cBfnKX6rN95EreyDmQYjh7JH2MgBinG3y2izrj84EOt+cqh4DfOUv1Wb+OJccE80+jV5p3m0VTZov0Erb6Pfct8yWqYuqK58etya5VfkjGfcsmgr5YbfF31wnxifu33bt9bStpwmy2KqvEktvRqYc6Un5PZ3Y093UX9TSrL455W9Io21LBeSn+X5wu+V/lNnerUolio+CcAZB8msr+1N+UIrC7T4dktbbxe/zUONM0jm140ly9i18i5iNfTOqPoummEY8I2u0s/cLnzJXn7ij88Vf6wfwNVzcEfmiP9ZN/EqZ4o/PFX+sH8DVM/CjPp0lmkkRZERYnpBERAEREAQBFNeEWWvTMSYXC8MHx0nhdp7Dfa6xt4NKlK3RSclCLky8stu+D8NpWVklngQxkusLPkIa2MWA+TcN9TSSq3/pBYRJzaeouTCWmK21mPF3/wDmF/8AIVPs1Z1wuOQ09c9jnsLXFjonyBriLtOzSAbH17pjTafHMLmbSvEjTflOsW2mj7TQQ4Ajew9Tl0PdUeRjk4TWRr9blDcNvnaj/XN/1V18UPw2Ff4hT/aFS3DqMtxekDhZwmaCD1BFwQfBXTxQ/DYV/iFP9oVIeFnT1H/WPwIHl7E5Is0zMjeWsmqZmSiw7TRqcAbjbcDorox3Co6ynlppCLSMsel26r6XW8nNuPNqo3Cf62H63P8AY9T7N2afQccoy91oJYTFN4AOkOlx/RdbfwLlMXs7Ms0G5R081ZzwkyQcOhmlqQGzyPczfa0cbi0dfyjd3q0rG49YpJFRRMjeWsle5kosO00N1WNxtuB0WRxXzVyn0lGw9ueaB0vlE2Vth+04e5pHetZ/SF/Fab9c/wDgKl7RaRWFyyxnLuUWiIuc9gKU8RvxuP6rRfcMUWUp4jfjcf1Wi+4YrdjN+NfP8EWREVTQLspmkvaBuS5oA87rrUrydn04c0htLTzPL9bZJGkvbsBZpHQbX9qlFJtpbKz0XmWIuw+oaAS4084AHUkxuFl5JVrf7wlV/ZoPfJ/NQvOGcPhBzHGmggc3XcxCxfqt8rxtb95Wk2nwcnTY547UlyR1X9/R/iIw6UkbGodpPjaOMG3t296o7BcSFPPHKY2ShhvokF2O2Is4e39ysWDj7PG0NZR0zGDo1usAeoA2CiDSds06mM5x0xRqeNtO5uLyEizXshLT3EBoabe0FQ7CcJlqpmxQMMkrzZoH2k9AB3k9FY1Rx5mkFpKOmeO7Vqd9pXFPx4mj/B0VKz9HU37Cj0t3ZEHljBR0/U54yYGyjpcMgbp1Rxzte4ADUQIbuPrOo+1RjIOQZsTmAALKZpHOltsB+S3uc4+Hd1Pnl5i4oSVtRTTTU8J9HLyGHU5j9drh4d+iFvYOPtQxoaykpmtHQN1gD1AHZPZbISyxxqKW/wDZr+KGbG6vg2kbyqKlcY3NH05GGxLu8gOv6zdxvtaRcEM+nUMPnJIOo0rj3WBc6M+VgSPaPBQvN/EY4hGWvpKeOQua4ysaeYdN9i47kH/RZeW+KzqGKNkVFSl7G6eaWkSO83OG6J+1dkSxN4tOnf4/Usni7w69Ni9Jpm3q429poG8sY3t5uHd49PBUrlPLT62tjpmtO7vjTb5DGntk+Fhtv3kBTz/eFqv7NB75P5rpj48zNc57aKla93y3DUHO9ZBufapeluyuNZoQ018NzM4i8Taqjr3U1E8RQQMjZp0NO+kOv2gdrED2LAylxirXVsDaqUPp3vayQaGDZ/ZBu0A7Eg+xaXOPEt2JRaJKWnY/U081gPMs36Oo72WFk7O3wdqIpYJ3uc1zXSi7mFtx2COnX9yjVvyXWFejpx3L64oZaNdhsrGC80fxsXiXM3LR+k3UPWQqn4C/Oj/q8v8AHGs7/eEqv7NB75P5qNYlxOnfUipp4oaWblvjeYmA6g8hxLtQO+w36qzkrsyx4sig8bXJ8cRckPoKlzmNvRSkup5G7s0u3DCRsCOnmACtzwL9I+EvitXo+h/pFr6LWOi/dfVa3f17rrQ5Z4kVlCzlMc2Wn/6UzdbB39ncFvqBt5Le1fHGrMRjp4aemBvvGw3BPe0E6QfYVVVdm045HHRV+8239IHHWPlgpmkF8Qe+XyL7BrfXYE282qo12VFQ6R7nvcXPcSXOcSSSdyST1XWqyduzbFj9HFRCuGjdNgeXxMwaKyqlZuWgljSC5oIP5jCbHoXqt8p5k9An5whinOktDZRcAkg6h4EW/eVN6rjzNK0slo6Z7D1a/W4e4lTGkZZlOTSStGl/2y4p/aB/24//AKq8uHuZTX4fFM/eWxZLtYF7OyTbpvs7bxXmOmxEMqWzctjgJOZyyOwe1q0EeHd6lYlLx5miaGR0dMxg6NZraB7AbK0ZVyzLPg1JKETUYxTnA8dDww8pknNiHTVDJcFrb+ALm+tqsLNOV6HHmMqaWrjjma2zibG7RvplZcOYW3O/n3ixUEzLxfkrqd8M1JT9ppDX2cXMv3sJ6FV+otLbsXWKcqk9pIvrKua6DCGsoH1pqCXPLpQAYYi63YuCbAm56mxJva+2lxfhPQsmNS6vjjw03fpBBf46I33Id5bE91j1VPomrzRZYGncZc8ln8DWNOKzmIO5Xo8wbfchpli0hxHfYfuKrZxdHLtdsjHeotc0+8EEKwsI41yUsbWQ0VKwBrQS0OaXaRa7rdT/ADWjzlxAOIsAfS08Tw/WZIwdbtiLOceo3v7AodUIKam21s67noHJ+YGYjh8czg062ls7TYgPHZe0jwPXfuIXnniRmf0/EJJGm8Lfi4PDlsJAI/SN3ftLqy/nmejpainity6gWJN7sJGlzmW7y3b2BYGXMbFJUCUwxTgBw0Si7DcWvbyUylaSK4sHo5Sl/Bf3BSMjB4ri13zEeY1kX/cVTHFNpGMVdxb4wEeosbupVH/SAqGgNbSU7WgWABeAAO4AHZabNHFd9fC+OWjpg5wAEgBMjdwey49On71MmmqM8WPJHI5tc+8giIiyPQCIiAIiIArpybxhoaShggkZNzY4w15axliRfv1gnqqWRWUmuDLJijkVSJhxRzZDiNYyana9rBCxjtbQ0lwfI4nYnucFNMh8XaKhw+GnlZMZWB+ssY0tuXucLEvBOxCptcKVJp2VlgjKCg+EW3VZugxHHsOkpmPa1jg12toaS4uc6/ZJv1U14o/hsK/xCn+0KUZagb6HTHS2/Jh3sL/IaujMmVxWS0jnP0tpp2z2HVzmDsi/cNVifILanR5byR1LakrKowfOlPhuM4m+pbI4PlcGaGhxBa9xPUi3VfPEzihSYjRcmBkol5jHXexoGlt7i4cT3qc5vxd5nq6UxBsIw6omDy3d79m7G30QSPW71Lzes5NrY7MMI5Hra3VdyYZRzvysTjq64vkDIzH2QHGwj5bLAkDbb956qcZ14wUVZQTwRsm5j2WYXsaADcHc6yR0VLoqqTSo6JYISkpeQREVDcKU8RvxuP6rRfcMUWUp4jfjcf1Wi+4YrdjN+NfP8EWREVTQ5Y25AuBcgXOw38VKMU4dVFPTCpkkpuQ4Xjc2Zp17XtHt2jsdh4KLKzs3/wBWcM/WO/8AlVkuTHJJpxS7shrcpSGjNXzafkg6SOa3XrIuI9HXVYE6fAXWjUlb8yH683/27lGlDLQbd35nLRc2+1SHH8hVVHAyeQMfTyW0yRPEjN92kkdAe4qOhW1gGdY6dlLR1oD8PqKOIP1f8txklbq9RsL+FgR03lJPkrllKNOJARlCT0P0vm0/J6W5rdeu2rl6LX1W30+C0asrP2UDhuHmIO1wvreZA64uYzBYXt3ggjztfvVao1QxT1qzljbkDYX8entUoxThzUU9MKmSSm5DheNzZmu5m1wI9u2SAdgosFZueP6vYV7f4SiXIySalFLuyslzGy5AuBcgXOwF/E9y4RVNSU4pw5qKel9JkkpvRyOw5szXazuQGWHaOx2HgVhsyfIaM1Ylp+SNiOa3WHkXEejrqI30qbcPnjEsJq8MefjowZqW/j1sPCz9j5SnwUTzd/w8VPQjZ0LebU/WZgHOaf0GaGesOV2lyc0ZyctL5v6EYXLG3IGwv49PauEVDpJfNwxqGQsmfNRtgk/ByOqGBjups1x2PQ+5aXMGWpKMxiV0bhKzmRuieJGlty24cNuoVmVPov8A4ewz03ncnnf8nRe+qW+rV3Wv03VbZia4vc5lzRCaojpDc6A0P5hbHq3A7bT+14q7SRzYpyk9/eadZmEYYaiZsTXxsc82BlcGMv3AuPS/QeZWGsrCvw8X6yP+IKp0PjYldTwlq2Tcjm0hqSNQhE4EhG5uGuaL9CohXUL4ZHRytLJGEte09QR3K/sXwyllzHE6SZ4q2RMfDFpDY3uZrLRzbk36m2nu7+ipnPddNNiNQ+oj5UxfZzBvp0AMaL/S7LRv39e9XkkjmwZZTdPys0KyMOw6SolZFCwvleQ1jR1JPr2HrOwWOpBkPEZaevjmgi5z4xI9zLgExtY4yWJ6ENufZ0Kojpk2k2jtqsgVDGyuY+nmELXuqOTMx5jDASdY2PcRtcXFrqNK5JMCosSiqKjB53U9UYpPSIHbBzH7vaWm+kOI6tJbe3RU2rSVGWKbldhSnDeHVRPSmpZJTcgAcxzpmjQbA6X7dk7jY+Kiys7Kf9WMS/Wt+yFRFWTmk4pV5orKRliRcGxIuNwbeB71wiKpqSih4d1ErIHCWmYagB0DJJ2MkeCdIsw7nfZd1TwxqYzK0yUplhY6SWNs7DI1rW6ydHXpb3hY2Sq18mKUAe4uDJYGMv3Ma+4aPK5PvWx4oVz4sbq3RuLXGzSR+S+FrXD2gkK+1Wc9z16b7WQlERUOglVTw3qWUfpZfTmm06g9szTfu0jbc32t47LCkydK2iFYZIOQdh8a3WX97AzrqA3LfDdTHg9igqBPhdQC+mqGPc38x4F3EeFwAfItHionnatAn9FiBbTUZfDGD1c5riJZXW21PcCfUGjuV2lVnPGU9bg/8iOoiKh0hERAEREAREQBcLlEBYlFxzroomRtjptLGtY27JL2aA0X+N8l3/7fq/8A6dL/ANuT/wDZVoivqZh6vj8ixK3jTW1LHQvZStbK10TnaJAWtk7LiCZTbx9i0+P5WhhpjJG5/MY7TI1xabEFrbOAA5bjq1Btzs13hdRNZFRiMsjWtfI97G/Ia5znBvd2QTYexRd8krEov2NjHREVTYIiIAt/nbE46ipY+J2pop6VhNiO0yJrHDcDoQQtAikrW9hERQWCk+EZ6fFSGjnhiqqTVqayTW0sdubsewgt3J956XUYRSnRWUVLk22NZhNQxkTI44KeMuLIo9VtTrAvc55LnuIAFyeg7lqURAkkqRy02PS/kt5mLM7atkTRSxQmFrY2OjdKTy26iGHW4g7uJud/NaJEDim7N3XZummoYqOUh0cLy6JxvqA0loZfvAubeHTotIiIFFLg5YbEXFx4ePlspfjPET0mjZSOo4GwxD4gtdNqjNiLgl/a6/SuD3qHolkSgpU2ERFBc22VcySYfVMqIgC5uoFpvZzXCxBt7/YFr62sdNK+SQ3ke5z3nxc43P2rpRSV0q7C5YbEXFx4ePlsuEUEk2quJbZKWOlfQUzqaI3jZqn7J331CTV9I9T3rUZjzZ6XDBC2nip4oOZobFq3MmnUSXEkns9VoEVrZRY4rdBZmD4g2CZkromzBhuGPLg0kbgnSQTY2NuhtusNFBdq9iU5pz/JXTx1HJjhqoy0tljL7nQbtBDnEbHe9rrpzhnM4k5sktPFHOAA6SPWC8AWAcCSNvHr3dFHEU2yixxVUuAtjl/H5aKcTwaRKGva0uGoDW0svboSL3F9r9Qei1yKC7Sapkrjz8Yo5RTUsFPPO0smlj5l9DjdwjY5xbFf832W2tFERLKxio8BTDCeIno9E6jFHA6CS3O1OmvI6wGokP7J7I+TYC2yh6InQlBS5OZHAkkCwJNhvt5b7rhEUFjbZZx4UVQ2fksmewgx8wvAa4G4dZjhc+u4Xdm7NHwhPz3QRxSn8IYy/tkAAEhziBYC21vNaNFN9iuhatXcIiKC5IcnZvOGymVkEcs1iGueZOyCLOADXAG/iRda/MGLiqqHzCJkReS57WF5Be4lzndski5PQbLXIpvsU0LVq7hERQXCIiAIiIAiIgCIiAIiIAiIgCIiAIiIAiIgCIiAIiIAiIgCIiAIiIAiIgCIiAIiIAiIgCIiAIiIAiIgCIiAIiIAiIgCIiAIiIAiIgCIiAIiIAiIgP/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Question</a:t>
            </a:r>
            <a:endParaRPr lang="en-US" dirty="0"/>
          </a:p>
        </p:txBody>
      </p:sp>
      <p:sp>
        <p:nvSpPr>
          <p:cNvPr id="3" name="2 Marcador de contenido"/>
          <p:cNvSpPr>
            <a:spLocks noGrp="1"/>
          </p:cNvSpPr>
          <p:nvPr>
            <p:ph sz="quarter" idx="1"/>
          </p:nvPr>
        </p:nvSpPr>
        <p:spPr/>
        <p:txBody>
          <a:bodyPr/>
          <a:lstStyle/>
          <a:p>
            <a:r>
              <a:rPr lang="en-US" dirty="0" smtClean="0"/>
              <a:t>How does classroom grade composition affect student achievement?</a:t>
            </a:r>
          </a:p>
          <a:p>
            <a:pPr lvl="1"/>
            <a:r>
              <a:rPr lang="en-US" dirty="0" smtClean="0"/>
              <a:t>Is it more beneficial to be in combination classes than in single grade classrooms?</a:t>
            </a:r>
            <a:endParaRPr lang="en-US" dirty="0"/>
          </a:p>
        </p:txBody>
      </p:sp>
      <p:pic>
        <p:nvPicPr>
          <p:cNvPr id="7"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Channel</a:t>
            </a:r>
            <a:endParaRPr lang="en-US" dirty="0"/>
          </a:p>
        </p:txBody>
      </p:sp>
      <p:sp>
        <p:nvSpPr>
          <p:cNvPr id="3" name="2 Marcador de contenido"/>
          <p:cNvSpPr>
            <a:spLocks noGrp="1"/>
          </p:cNvSpPr>
          <p:nvPr>
            <p:ph sz="quarter" idx="1"/>
          </p:nvPr>
        </p:nvSpPr>
        <p:spPr/>
        <p:txBody>
          <a:bodyPr>
            <a:normAutofit/>
          </a:bodyPr>
          <a:lstStyle/>
          <a:p>
            <a:r>
              <a:rPr lang="en-US" dirty="0" smtClean="0"/>
              <a:t>Negative or positive spillovers due to the presence of more or less able peers since pupil’s grade is correlated with her age and length of schooling, and therefore with cognitive development and achievement.</a:t>
            </a:r>
          </a:p>
          <a:p>
            <a:r>
              <a:rPr lang="en-US" dirty="0" smtClean="0"/>
              <a:t>Peers from higher grades can serve as role models in terms of non-academic behavior, which can feedback to school achievement</a:t>
            </a:r>
          </a:p>
          <a:p>
            <a:r>
              <a:rPr lang="en-US" dirty="0" smtClean="0"/>
              <a:t>Classroom’s grade composition can also significantly affect teacher inputs and teaching methods  </a:t>
            </a:r>
            <a:endParaRPr lang="en-US" dirty="0"/>
          </a:p>
        </p:txBody>
      </p:sp>
      <p:pic>
        <p:nvPicPr>
          <p:cNvPr id="6"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Previous research</a:t>
            </a:r>
            <a:endParaRPr lang="en-US" dirty="0"/>
          </a:p>
        </p:txBody>
      </p:sp>
      <p:sp>
        <p:nvSpPr>
          <p:cNvPr id="3" name="2 Marcador de contenido"/>
          <p:cNvSpPr>
            <a:spLocks noGrp="1"/>
          </p:cNvSpPr>
          <p:nvPr>
            <p:ph sz="quarter" idx="1"/>
          </p:nvPr>
        </p:nvSpPr>
        <p:spPr/>
        <p:txBody>
          <a:bodyPr/>
          <a:lstStyle/>
          <a:p>
            <a:r>
              <a:rPr lang="en-US" dirty="0" smtClean="0"/>
              <a:t>Fixed effects studies --&gt;Within school or grade variation in peers characteristics</a:t>
            </a:r>
          </a:p>
          <a:p>
            <a:pPr lvl="2"/>
            <a:r>
              <a:rPr lang="en-US" dirty="0" smtClean="0"/>
              <a:t>This strategy is compromised if pupils are not randomly allocated to peers and teachers. </a:t>
            </a:r>
          </a:p>
          <a:p>
            <a:pPr lvl="2"/>
            <a:r>
              <a:rPr lang="en-US" dirty="0" smtClean="0"/>
              <a:t>Usually little variation in peer group composition </a:t>
            </a:r>
          </a:p>
          <a:p>
            <a:r>
              <a:rPr lang="en-US" dirty="0" smtClean="0"/>
              <a:t>Experiments</a:t>
            </a:r>
          </a:p>
          <a:p>
            <a:r>
              <a:rPr lang="en-US" dirty="0" smtClean="0"/>
              <a:t>Quasi-experiments </a:t>
            </a:r>
          </a:p>
          <a:p>
            <a:r>
              <a:rPr lang="en-US" dirty="0" smtClean="0"/>
              <a:t>Selection on observables </a:t>
            </a: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Threats</a:t>
            </a:r>
            <a:endParaRPr lang="en-US" dirty="0"/>
          </a:p>
        </p:txBody>
      </p:sp>
      <p:sp>
        <p:nvSpPr>
          <p:cNvPr id="3" name="2 Marcador de contenido"/>
          <p:cNvSpPr>
            <a:spLocks noGrp="1"/>
          </p:cNvSpPr>
          <p:nvPr>
            <p:ph sz="quarter" idx="1"/>
          </p:nvPr>
        </p:nvSpPr>
        <p:spPr/>
        <p:txBody>
          <a:bodyPr/>
          <a:lstStyle/>
          <a:p>
            <a:r>
              <a:rPr lang="en-US" dirty="0" smtClean="0"/>
              <a:t>Omitted variable bias</a:t>
            </a:r>
          </a:p>
          <a:p>
            <a:r>
              <a:rPr lang="en-US" dirty="0" smtClean="0"/>
              <a:t>Measurement error </a:t>
            </a:r>
          </a:p>
          <a:p>
            <a:r>
              <a:rPr lang="en-US" dirty="0" smtClean="0"/>
              <a:t>Grade mixing arises when school’s grade mixing in year t depends on the perceived success of grade mixing in year t-1</a:t>
            </a: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Contribution</a:t>
            </a:r>
            <a:endParaRPr lang="en-US" dirty="0"/>
          </a:p>
        </p:txBody>
      </p:sp>
      <p:sp>
        <p:nvSpPr>
          <p:cNvPr id="3" name="2 Marcador de contenido"/>
          <p:cNvSpPr>
            <a:spLocks noGrp="1"/>
          </p:cNvSpPr>
          <p:nvPr>
            <p:ph sz="quarter" idx="1"/>
          </p:nvPr>
        </p:nvSpPr>
        <p:spPr/>
        <p:txBody>
          <a:bodyPr/>
          <a:lstStyle/>
          <a:p>
            <a:r>
              <a:rPr lang="en-US" dirty="0" smtClean="0"/>
              <a:t>Identification and addressing confounding effects. </a:t>
            </a:r>
          </a:p>
          <a:p>
            <a:pPr marL="822960" lvl="4" indent="-274320">
              <a:spcBef>
                <a:spcPts val="580"/>
              </a:spcBef>
              <a:buClr>
                <a:schemeClr val="accent1"/>
              </a:buClr>
            </a:pPr>
            <a:endParaRPr lang="en-US" dirty="0" smtClean="0"/>
          </a:p>
          <a:p>
            <a:pPr marL="822960" lvl="4" indent="-274320">
              <a:spcBef>
                <a:spcPts val="580"/>
              </a:spcBef>
              <a:buClr>
                <a:schemeClr val="accent1"/>
              </a:buClr>
            </a:pPr>
            <a:r>
              <a:rPr lang="en-US" dirty="0" smtClean="0"/>
              <a:t>Previous papers have struggled to address potential negative spillovers of grade mixing to other single grade class rooms, and the confounding effects of class size.  An important aspect of our study is that the first issue does not arise in our setup, and that we can control for and, more importantly, instrument for class size.</a:t>
            </a:r>
          </a:p>
          <a:p>
            <a:endParaRPr lang="en-US" dirty="0" smtClean="0"/>
          </a:p>
          <a:p>
            <a:r>
              <a:rPr lang="en-US" dirty="0" smtClean="0"/>
              <a:t>They can separate the average effect of grade mixing into that of sharing the classroom with lower grades </a:t>
            </a:r>
            <a:r>
              <a:rPr lang="en-US" dirty="0" err="1" smtClean="0"/>
              <a:t>vs</a:t>
            </a:r>
            <a:r>
              <a:rPr lang="en-US" dirty="0" smtClean="0"/>
              <a:t> higher grades.</a:t>
            </a:r>
          </a:p>
          <a:p>
            <a:r>
              <a:rPr lang="en-US" dirty="0" smtClean="0"/>
              <a:t>They can control and instrument for class size</a:t>
            </a:r>
            <a:endParaRPr lang="en-US" dirty="0"/>
          </a:p>
        </p:txBody>
      </p:sp>
      <p:pic>
        <p:nvPicPr>
          <p:cNvPr id="5"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Source of variation</a:t>
            </a:r>
            <a:endParaRPr lang="en-US" dirty="0"/>
          </a:p>
        </p:txBody>
      </p:sp>
      <p:sp>
        <p:nvSpPr>
          <p:cNvPr id="3" name="2 Marcador de contenido"/>
          <p:cNvSpPr>
            <a:spLocks noGrp="1"/>
          </p:cNvSpPr>
          <p:nvPr>
            <p:ph sz="quarter" idx="1"/>
          </p:nvPr>
        </p:nvSpPr>
        <p:spPr/>
        <p:txBody>
          <a:bodyPr/>
          <a:lstStyle/>
          <a:p>
            <a:r>
              <a:rPr lang="en-US" dirty="0" smtClean="0"/>
              <a:t>Discontinuous grade mixing rules in Norwegian junior high schools </a:t>
            </a:r>
            <a:endParaRPr lang="en-US" dirty="0"/>
          </a:p>
        </p:txBody>
      </p:sp>
      <p:pic>
        <p:nvPicPr>
          <p:cNvPr id="6"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Data</a:t>
            </a:r>
            <a:endParaRPr lang="en-US" dirty="0"/>
          </a:p>
        </p:txBody>
      </p:sp>
      <p:sp>
        <p:nvSpPr>
          <p:cNvPr id="3" name="2 Marcador de contenido"/>
          <p:cNvSpPr>
            <a:spLocks noGrp="1"/>
          </p:cNvSpPr>
          <p:nvPr>
            <p:ph sz="quarter" idx="1"/>
          </p:nvPr>
        </p:nvSpPr>
        <p:spPr/>
        <p:txBody>
          <a:bodyPr>
            <a:normAutofit/>
          </a:bodyPr>
          <a:lstStyle/>
          <a:p>
            <a:r>
              <a:rPr lang="en-US" dirty="0" smtClean="0"/>
              <a:t>Integrated schools that manage both primary and junior high school level.</a:t>
            </a:r>
          </a:p>
          <a:p>
            <a:r>
              <a:rPr lang="en-US" dirty="0" smtClean="0"/>
              <a:t>Those schools are relatively small and remote, it is common practice to combine multiple grades in a single classroom.</a:t>
            </a:r>
          </a:p>
          <a:p>
            <a:r>
              <a:rPr lang="en-US" dirty="0" smtClean="0"/>
              <a:t>All junior high schools in Norway follow the same national curriculum </a:t>
            </a:r>
          </a:p>
          <a:p>
            <a:r>
              <a:rPr lang="en-US" dirty="0" smtClean="0"/>
              <a:t>All junior high schools teachers are required to have completed teacher college</a:t>
            </a:r>
            <a:endParaRPr lang="en-US" dirty="0"/>
          </a:p>
        </p:txBody>
      </p:sp>
      <p:pic>
        <p:nvPicPr>
          <p:cNvPr id="5"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
            </a:r>
            <a:br>
              <a:rPr lang="en-US" dirty="0" smtClean="0"/>
            </a:br>
            <a:r>
              <a:rPr lang="en-US" dirty="0" smtClean="0"/>
              <a:t>Mixed data sets contain</a:t>
            </a:r>
            <a:endParaRPr lang="en-US" dirty="0"/>
          </a:p>
        </p:txBody>
      </p:sp>
      <p:sp>
        <p:nvSpPr>
          <p:cNvPr id="3" name="2 Marcador de contenido"/>
          <p:cNvSpPr>
            <a:spLocks noGrp="1"/>
          </p:cNvSpPr>
          <p:nvPr>
            <p:ph sz="quarter" idx="1"/>
          </p:nvPr>
        </p:nvSpPr>
        <p:spPr/>
        <p:txBody>
          <a:bodyPr>
            <a:normAutofit/>
          </a:bodyPr>
          <a:lstStyle/>
          <a:p>
            <a:r>
              <a:rPr lang="en-US" dirty="0" smtClean="0"/>
              <a:t>Administrative enrollment data on all pupil’s who graduated from junior high school 2001/02 and 2002/03</a:t>
            </a:r>
          </a:p>
          <a:p>
            <a:r>
              <a:rPr lang="en-US" dirty="0" smtClean="0"/>
              <a:t>Grade mixing</a:t>
            </a:r>
          </a:p>
          <a:p>
            <a:r>
              <a:rPr lang="en-US" dirty="0" smtClean="0"/>
              <a:t>Number of pupils and classes per grade</a:t>
            </a:r>
          </a:p>
          <a:p>
            <a:r>
              <a:rPr lang="en-US" dirty="0" smtClean="0"/>
              <a:t>Pupil’s birth date and gender</a:t>
            </a:r>
          </a:p>
          <a:p>
            <a:r>
              <a:rPr lang="en-US" dirty="0" smtClean="0"/>
              <a:t>Socioeconomic characteristics </a:t>
            </a:r>
          </a:p>
          <a:p>
            <a:r>
              <a:rPr lang="en-US" dirty="0" smtClean="0"/>
              <a:t>Test-score</a:t>
            </a:r>
          </a:p>
          <a:p>
            <a:endParaRPr lang="en-US" dirty="0" smtClean="0"/>
          </a:p>
          <a:p>
            <a:endParaRPr lang="en-US" dirty="0"/>
          </a:p>
        </p:txBody>
      </p:sp>
      <p:pic>
        <p:nvPicPr>
          <p:cNvPr id="5"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
            </a:r>
            <a:br>
              <a:rPr lang="en-US" dirty="0" smtClean="0"/>
            </a:br>
            <a:r>
              <a:rPr lang="en-US" dirty="0" smtClean="0"/>
              <a:t>Maximum class </a:t>
            </a:r>
            <a:br>
              <a:rPr lang="en-US" dirty="0" smtClean="0"/>
            </a:br>
            <a:r>
              <a:rPr lang="en-US" dirty="0" smtClean="0"/>
              <a:t>size rules</a:t>
            </a:r>
            <a:endParaRPr lang="en-US" dirty="0"/>
          </a:p>
        </p:txBody>
      </p:sp>
      <p:sp>
        <p:nvSpPr>
          <p:cNvPr id="3" name="2 Marcador de contenido"/>
          <p:cNvSpPr>
            <a:spLocks noGrp="1"/>
          </p:cNvSpPr>
          <p:nvPr>
            <p:ph sz="quarter" idx="1"/>
          </p:nvPr>
        </p:nvSpPr>
        <p:spPr/>
        <p:txBody>
          <a:bodyPr/>
          <a:lstStyle/>
          <a:p>
            <a:endParaRPr lang="en-US" dirty="0" smtClean="0"/>
          </a:p>
          <a:p>
            <a:r>
              <a:rPr lang="en-US" dirty="0" smtClean="0"/>
              <a:t>A class in junior high school cannot have more than</a:t>
            </a:r>
          </a:p>
          <a:p>
            <a:pPr lvl="1"/>
            <a:r>
              <a:rPr lang="en-US" dirty="0" smtClean="0"/>
              <a:t>18 pupils when there are three cohorts in the class</a:t>
            </a:r>
          </a:p>
          <a:p>
            <a:pPr lvl="1"/>
            <a:r>
              <a:rPr lang="en-US" dirty="0" smtClean="0"/>
              <a:t>24 pupils when there are two cohorts in the class</a:t>
            </a:r>
          </a:p>
          <a:p>
            <a:pPr lvl="1"/>
            <a:r>
              <a:rPr lang="en-US" dirty="0" smtClean="0"/>
              <a:t>30 pupils when there is one cohort in the class</a:t>
            </a:r>
            <a:endParaRPr lang="en-US" dirty="0"/>
          </a:p>
        </p:txBody>
      </p:sp>
      <p:pic>
        <p:nvPicPr>
          <p:cNvPr id="6"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Data</a:t>
            </a:r>
            <a:endParaRPr lang="en-US" dirty="0"/>
          </a:p>
        </p:txBody>
      </p:sp>
      <p:pic>
        <p:nvPicPr>
          <p:cNvPr id="65538" name="Picture 2"/>
          <p:cNvPicPr>
            <a:picLocks noGrp="1" noChangeAspect="1" noChangeArrowheads="1"/>
          </p:cNvPicPr>
          <p:nvPr>
            <p:ph sz="quarter" idx="1"/>
          </p:nvPr>
        </p:nvPicPr>
        <p:blipFill>
          <a:blip r:embed="rId2" cstate="print"/>
          <a:srcRect/>
          <a:stretch>
            <a:fillRect/>
          </a:stretch>
        </p:blipFill>
        <p:spPr bwMode="auto">
          <a:xfrm>
            <a:off x="1057275" y="1843087"/>
            <a:ext cx="7486650" cy="3781425"/>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Average number of </a:t>
            </a:r>
            <a:br>
              <a:rPr lang="en-US" dirty="0" smtClean="0"/>
            </a:br>
            <a:r>
              <a:rPr lang="en-US" dirty="0" smtClean="0"/>
              <a:t>grades mixed by school size</a:t>
            </a:r>
            <a:endParaRPr lang="en-US" dirty="0"/>
          </a:p>
        </p:txBody>
      </p:sp>
      <p:pic>
        <p:nvPicPr>
          <p:cNvPr id="1027" name="Picture 3"/>
          <p:cNvPicPr>
            <a:picLocks noGrp="1" noChangeAspect="1" noChangeArrowheads="1"/>
          </p:cNvPicPr>
          <p:nvPr>
            <p:ph sz="quarter" idx="1"/>
          </p:nvPr>
        </p:nvPicPr>
        <p:blipFill>
          <a:blip r:embed="rId3" cstate="print"/>
          <a:stretch>
            <a:fillRect/>
          </a:stretch>
        </p:blipFill>
        <p:spPr bwMode="auto">
          <a:xfrm>
            <a:off x="1876425" y="1628775"/>
            <a:ext cx="5848350" cy="4210050"/>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4"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sz="3600" dirty="0" smtClean="0"/>
              <a:t>Average number of grades </a:t>
            </a:r>
            <a:br>
              <a:rPr lang="en-US" sz="3600" dirty="0" smtClean="0"/>
            </a:br>
            <a:r>
              <a:rPr lang="en-US" sz="3600" dirty="0" smtClean="0"/>
              <a:t>mixed by cohort size of 7</a:t>
            </a:r>
            <a:r>
              <a:rPr lang="en-US" sz="3600" baseline="30000" dirty="0" smtClean="0"/>
              <a:t>th</a:t>
            </a:r>
            <a:r>
              <a:rPr lang="en-US" sz="3600" dirty="0" smtClean="0"/>
              <a:t> and 8</a:t>
            </a:r>
            <a:r>
              <a:rPr lang="en-US" sz="3600" baseline="30000" dirty="0" smtClean="0"/>
              <a:t>th</a:t>
            </a:r>
            <a:r>
              <a:rPr lang="en-US" sz="3600" dirty="0" smtClean="0"/>
              <a:t> graders</a:t>
            </a:r>
            <a:endParaRPr lang="en-US" sz="3600" dirty="0"/>
          </a:p>
        </p:txBody>
      </p:sp>
      <p:pic>
        <p:nvPicPr>
          <p:cNvPr id="2050" name="Picture 2"/>
          <p:cNvPicPr>
            <a:picLocks noGrp="1" noChangeAspect="1" noChangeArrowheads="1"/>
          </p:cNvPicPr>
          <p:nvPr>
            <p:ph sz="quarter" idx="1"/>
          </p:nvPr>
        </p:nvPicPr>
        <p:blipFill>
          <a:blip r:embed="rId3" cstate="print"/>
          <a:stretch>
            <a:fillRect/>
          </a:stretch>
        </p:blipFill>
        <p:spPr bwMode="auto">
          <a:xfrm>
            <a:off x="1600200" y="2057400"/>
            <a:ext cx="5886450" cy="4057650"/>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4"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n-US" sz="2800" dirty="0" smtClean="0"/>
              <a:t>Average number of </a:t>
            </a:r>
            <a:br>
              <a:rPr lang="en-US" sz="2800" dirty="0" smtClean="0"/>
            </a:br>
            <a:r>
              <a:rPr lang="en-US" sz="2800" dirty="0" smtClean="0"/>
              <a:t>grades mixed by cohort </a:t>
            </a:r>
            <a:br>
              <a:rPr lang="en-US" sz="2800" dirty="0" smtClean="0"/>
            </a:br>
            <a:r>
              <a:rPr lang="en-US" sz="2800" dirty="0" smtClean="0"/>
              <a:t>size of 8</a:t>
            </a:r>
            <a:r>
              <a:rPr lang="en-US" sz="2800" baseline="30000" dirty="0" smtClean="0"/>
              <a:t>th</a:t>
            </a:r>
            <a:r>
              <a:rPr lang="en-US" sz="2800" dirty="0" smtClean="0"/>
              <a:t> and 9</a:t>
            </a:r>
            <a:r>
              <a:rPr lang="en-US" sz="2800" baseline="30000" dirty="0" smtClean="0"/>
              <a:t>th</a:t>
            </a:r>
            <a:r>
              <a:rPr lang="en-US" sz="2800" dirty="0" smtClean="0"/>
              <a:t> graders</a:t>
            </a:r>
            <a:endParaRPr lang="en-US" sz="2800" dirty="0"/>
          </a:p>
        </p:txBody>
      </p:sp>
      <p:pic>
        <p:nvPicPr>
          <p:cNvPr id="3074" name="Picture 2"/>
          <p:cNvPicPr>
            <a:picLocks noGrp="1" noChangeAspect="1" noChangeArrowheads="1"/>
          </p:cNvPicPr>
          <p:nvPr>
            <p:ph sz="quarter" idx="1"/>
          </p:nvPr>
        </p:nvPicPr>
        <p:blipFill>
          <a:blip r:embed="rId3" cstate="print"/>
          <a:stretch>
            <a:fillRect/>
          </a:stretch>
        </p:blipFill>
        <p:spPr bwMode="auto">
          <a:xfrm>
            <a:off x="1643062" y="1676400"/>
            <a:ext cx="6315075" cy="4114800"/>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4"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The interaction of grade </a:t>
            </a:r>
            <a:br>
              <a:rPr lang="en-US" dirty="0" smtClean="0"/>
            </a:br>
            <a:r>
              <a:rPr lang="en-US" dirty="0" smtClean="0"/>
              <a:t>mixing rules -9</a:t>
            </a:r>
            <a:r>
              <a:rPr lang="en-US" baseline="30000" dirty="0" smtClean="0"/>
              <a:t>th</a:t>
            </a:r>
            <a:r>
              <a:rPr lang="en-US" dirty="0" smtClean="0"/>
              <a:t> grade enrollment </a:t>
            </a:r>
            <a:endParaRPr lang="en-US" dirty="0"/>
          </a:p>
        </p:txBody>
      </p:sp>
      <p:pic>
        <p:nvPicPr>
          <p:cNvPr id="4098" name="Picture 2"/>
          <p:cNvPicPr>
            <a:picLocks noGrp="1" noChangeAspect="1" noChangeArrowheads="1"/>
          </p:cNvPicPr>
          <p:nvPr>
            <p:ph sz="quarter" idx="1"/>
          </p:nvPr>
        </p:nvPicPr>
        <p:blipFill>
          <a:blip r:embed="rId3" cstate="print"/>
          <a:stretch>
            <a:fillRect/>
          </a:stretch>
        </p:blipFill>
        <p:spPr bwMode="auto">
          <a:xfrm>
            <a:off x="1610198" y="1447800"/>
            <a:ext cx="6380803" cy="4572000"/>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4"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cstate="print"/>
          <a:srcRect/>
          <a:stretch>
            <a:fillRect/>
          </a:stretch>
        </p:blipFill>
        <p:spPr bwMode="auto">
          <a:xfrm rot="5400000">
            <a:off x="1429932" y="-667932"/>
            <a:ext cx="6131733" cy="8534401"/>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Research design</a:t>
            </a:r>
            <a:endParaRPr lang="en-US" dirty="0"/>
          </a:p>
        </p:txBody>
      </p:sp>
      <p:sp>
        <p:nvSpPr>
          <p:cNvPr id="3" name="2 Marcador de contenido"/>
          <p:cNvSpPr>
            <a:spLocks noGrp="1"/>
          </p:cNvSpPr>
          <p:nvPr>
            <p:ph sz="quarter" idx="1"/>
          </p:nvPr>
        </p:nvSpPr>
        <p:spPr/>
        <p:txBody>
          <a:bodyPr/>
          <a:lstStyle/>
          <a:p>
            <a:r>
              <a:rPr lang="en-US" dirty="0" smtClean="0"/>
              <a:t>Instrumental variable approach</a:t>
            </a:r>
          </a:p>
          <a:p>
            <a:pPr marL="548640" lvl="2" indent="-274320">
              <a:spcBef>
                <a:spcPts val="580"/>
              </a:spcBef>
              <a:buClr>
                <a:schemeClr val="accent1"/>
              </a:buClr>
            </a:pPr>
            <a:endParaRPr lang="en-US" dirty="0" smtClean="0"/>
          </a:p>
          <a:p>
            <a:pPr marL="548640" lvl="2" indent="-274320">
              <a:spcBef>
                <a:spcPts val="580"/>
              </a:spcBef>
              <a:buClr>
                <a:schemeClr val="accent1"/>
              </a:buClr>
            </a:pPr>
            <a:r>
              <a:rPr lang="en-US" dirty="0" smtClean="0"/>
              <a:t>They instrument observed grade mixing with predicted grade mixing based on institutional rules.</a:t>
            </a:r>
          </a:p>
          <a:p>
            <a:pPr marL="548640" lvl="2" indent="-274320">
              <a:spcBef>
                <a:spcPts val="580"/>
              </a:spcBef>
              <a:buClr>
                <a:schemeClr val="accent1"/>
              </a:buClr>
            </a:pPr>
            <a:endParaRPr lang="en-US" dirty="0" smtClean="0"/>
          </a:p>
          <a:p>
            <a:pPr marL="274320" lvl="1" indent="-274320">
              <a:spcBef>
                <a:spcPts val="580"/>
              </a:spcBef>
              <a:buClr>
                <a:schemeClr val="accent1"/>
              </a:buClr>
            </a:pPr>
            <a:r>
              <a:rPr lang="en-US" dirty="0" smtClean="0"/>
              <a:t>They don’t use regression discontinuity because they do not have enough observations.</a:t>
            </a:r>
          </a:p>
          <a:p>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dirty="0" smtClean="0"/>
              <a:t/>
            </a:r>
            <a:br>
              <a:rPr lang="en-US" dirty="0" smtClean="0"/>
            </a:br>
            <a:r>
              <a:rPr lang="en-US" dirty="0" smtClean="0"/>
              <a:t>Predicted grade mixing</a:t>
            </a:r>
            <a:endParaRPr lang="en-US" dirty="0"/>
          </a:p>
        </p:txBody>
      </p:sp>
      <p:pic>
        <p:nvPicPr>
          <p:cNvPr id="5123" name="Picture 3"/>
          <p:cNvPicPr>
            <a:picLocks noGrp="1" noChangeAspect="1" noChangeArrowheads="1"/>
          </p:cNvPicPr>
          <p:nvPr>
            <p:ph sz="quarter" idx="1"/>
          </p:nvPr>
        </p:nvPicPr>
        <p:blipFill>
          <a:blip r:embed="rId3" cstate="print"/>
          <a:srcRect/>
          <a:stretch>
            <a:fillRect/>
          </a:stretch>
        </p:blipFill>
        <p:spPr bwMode="auto">
          <a:xfrm>
            <a:off x="457200" y="2057400"/>
            <a:ext cx="8416185" cy="2448719"/>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4" cstate="print"/>
          <a:srcRect/>
          <a:stretch>
            <a:fillRect/>
          </a:stretch>
        </p:blipFill>
        <p:spPr bwMode="auto">
          <a:xfrm>
            <a:off x="6705600" y="0"/>
            <a:ext cx="2438400" cy="609601"/>
          </a:xfrm>
          <a:prstGeom prst="rect">
            <a:avLst/>
          </a:prstGeom>
          <a:noFill/>
        </p:spPr>
      </p:pic>
      <p:sp>
        <p:nvSpPr>
          <p:cNvPr id="6" name="2 Marcador de contenido"/>
          <p:cNvSpPr txBox="1">
            <a:spLocks/>
          </p:cNvSpPr>
          <p:nvPr/>
        </p:nvSpPr>
        <p:spPr>
          <a:xfrm>
            <a:off x="1219200" y="4648200"/>
            <a:ext cx="7467600" cy="1371600"/>
          </a:xfrm>
          <a:prstGeom prst="rect">
            <a:avLst/>
          </a:prstGeom>
        </p:spPr>
        <p:txBody>
          <a:bodyPr vert="horz">
            <a:normAutofit fontScale="25000" lnSpcReduction="2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Char char=""/>
              <a:tabLst/>
              <a:defRPr/>
            </a:pPr>
            <a:r>
              <a:rPr kumimoji="0" lang="en-US" sz="11200" b="0" i="1" u="none" strike="noStrike" kern="1200" cap="none" spc="0" normalizeH="0" baseline="0" noProof="0" dirty="0" err="1" smtClean="0">
                <a:ln>
                  <a:noFill/>
                </a:ln>
                <a:solidFill>
                  <a:schemeClr val="tx1"/>
                </a:solidFill>
                <a:effectLst/>
                <a:uLnTx/>
                <a:uFillTx/>
                <a:latin typeface="+mj-lt"/>
                <a:ea typeface="+mn-ea"/>
                <a:cs typeface="+mn-cs"/>
              </a:rPr>
              <a:t>n</a:t>
            </a:r>
            <a:r>
              <a:rPr kumimoji="0" lang="en-US" sz="11200" b="0" i="1" u="none" strike="noStrike" kern="1200" cap="none" spc="0" normalizeH="0" baseline="30000" noProof="0" dirty="0" err="1" smtClean="0">
                <a:ln>
                  <a:noFill/>
                </a:ln>
                <a:solidFill>
                  <a:schemeClr val="tx1"/>
                </a:solidFill>
                <a:effectLst/>
                <a:uLnTx/>
                <a:uFillTx/>
                <a:latin typeface="+mj-lt"/>
                <a:ea typeface="+mn-ea"/>
                <a:cs typeface="+mn-cs"/>
              </a:rPr>
              <a:t>j</a:t>
            </a:r>
            <a:r>
              <a:rPr kumimoji="0" lang="en-US" sz="11200" b="0" i="1" u="none" strike="noStrike" kern="1200" cap="none" spc="0" normalizeH="0" baseline="-25000" noProof="0" dirty="0" err="1" smtClean="0">
                <a:ln>
                  <a:noFill/>
                </a:ln>
                <a:solidFill>
                  <a:schemeClr val="tx1"/>
                </a:solidFill>
                <a:effectLst/>
                <a:uLnTx/>
                <a:uFillTx/>
                <a:latin typeface="+mj-lt"/>
                <a:ea typeface="+mn-ea"/>
                <a:cs typeface="+mn-cs"/>
              </a:rPr>
              <a:t>it</a:t>
            </a:r>
            <a:r>
              <a:rPr kumimoji="0" lang="en-US" sz="11200" b="0" i="0" u="none" strike="noStrike" kern="1200" cap="none" spc="0" normalizeH="0" baseline="0" noProof="0" dirty="0" smtClean="0">
                <a:ln>
                  <a:noFill/>
                </a:ln>
                <a:solidFill>
                  <a:schemeClr val="tx1"/>
                </a:solidFill>
                <a:effectLst/>
                <a:uLnTx/>
                <a:uFillTx/>
                <a:latin typeface="+mj-lt"/>
                <a:ea typeface="+mn-ea"/>
                <a:cs typeface="+mn-cs"/>
              </a:rPr>
              <a:t>  </a:t>
            </a:r>
            <a:r>
              <a:rPr kumimoji="0" lang="en-US" sz="6400" b="0" i="0" u="none" strike="noStrike" kern="1200" cap="none" spc="0" normalizeH="0" baseline="0" noProof="0" dirty="0" smtClean="0">
                <a:ln>
                  <a:noFill/>
                </a:ln>
                <a:solidFill>
                  <a:schemeClr val="tx1"/>
                </a:solidFill>
                <a:effectLst/>
                <a:uLnTx/>
                <a:uFillTx/>
                <a:latin typeface="+mj-lt"/>
                <a:ea typeface="+mn-ea"/>
                <a:cs typeface="+mn-cs"/>
              </a:rPr>
              <a:t>is the number of students in class n in grade j at time t for pupil </a:t>
            </a:r>
            <a:r>
              <a:rPr kumimoji="0" lang="en-US" sz="6400" b="0" i="0" u="none" strike="noStrike" kern="1200" cap="none" spc="0" normalizeH="0" baseline="0" noProof="0" dirty="0" err="1" smtClean="0">
                <a:ln>
                  <a:noFill/>
                </a:ln>
                <a:solidFill>
                  <a:schemeClr val="tx1"/>
                </a:solidFill>
                <a:effectLst/>
                <a:uLnTx/>
                <a:uFillTx/>
                <a:latin typeface="+mj-lt"/>
                <a:ea typeface="+mn-ea"/>
                <a:cs typeface="+mn-cs"/>
              </a:rPr>
              <a:t>i</a:t>
            </a:r>
            <a:endParaRPr kumimoji="0" lang="en-US" sz="6400" b="0" i="0" u="none" strike="noStrike" kern="1200" cap="none" spc="0" normalizeH="0" baseline="0" noProof="0" dirty="0" smtClean="0">
              <a:ln>
                <a:noFill/>
              </a:ln>
              <a:solidFill>
                <a:schemeClr val="tx1"/>
              </a:solidFill>
              <a:effectLst/>
              <a:uLnTx/>
              <a:uFillTx/>
              <a:latin typeface="+mj-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Predicted Class Size</a:t>
            </a:r>
            <a:endParaRPr lang="en-US" dirty="0"/>
          </a:p>
        </p:txBody>
      </p:sp>
      <p:pic>
        <p:nvPicPr>
          <p:cNvPr id="2050" name="Picture 2"/>
          <p:cNvPicPr>
            <a:picLocks noGrp="1" noChangeAspect="1" noChangeArrowheads="1"/>
          </p:cNvPicPr>
          <p:nvPr>
            <p:ph sz="quarter" idx="1"/>
          </p:nvPr>
        </p:nvPicPr>
        <p:blipFill>
          <a:blip r:embed="rId2" cstate="print"/>
          <a:srcRect/>
          <a:stretch>
            <a:fillRect/>
          </a:stretch>
        </p:blipFill>
        <p:spPr bwMode="auto">
          <a:xfrm>
            <a:off x="533400" y="2590800"/>
            <a:ext cx="8305792" cy="1001626"/>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
        <p:nvSpPr>
          <p:cNvPr id="6" name="2 Marcador de contenido"/>
          <p:cNvSpPr txBox="1">
            <a:spLocks/>
          </p:cNvSpPr>
          <p:nvPr/>
        </p:nvSpPr>
        <p:spPr>
          <a:xfrm>
            <a:off x="1219200" y="4648200"/>
            <a:ext cx="7467600" cy="1371600"/>
          </a:xfrm>
          <a:prstGeom prst="rect">
            <a:avLst/>
          </a:prstGeom>
        </p:spPr>
        <p:txBody>
          <a:bodyPr vert="horz">
            <a:normAutofit fontScale="25000" lnSpcReduction="2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Char char=""/>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Char char=""/>
              <a:tabLst/>
              <a:defRPr/>
            </a:pPr>
            <a:r>
              <a:rPr kumimoji="0" lang="en-US" sz="11200" b="0" i="1" u="none" strike="noStrike" kern="1200" cap="none" spc="0" normalizeH="0" baseline="0" noProof="0" dirty="0" err="1" smtClean="0">
                <a:ln>
                  <a:noFill/>
                </a:ln>
                <a:solidFill>
                  <a:schemeClr val="tx1"/>
                </a:solidFill>
                <a:effectLst/>
                <a:uLnTx/>
                <a:uFillTx/>
                <a:latin typeface="+mj-lt"/>
                <a:cs typeface="Arial" pitchFamily="34" charset="0"/>
              </a:rPr>
              <a:t>n</a:t>
            </a:r>
            <a:r>
              <a:rPr kumimoji="0" lang="en-US" sz="11200" b="0" i="1" u="none" strike="noStrike" kern="1200" cap="none" spc="0" normalizeH="0" baseline="30000" noProof="0" dirty="0" err="1" smtClean="0">
                <a:ln>
                  <a:noFill/>
                </a:ln>
                <a:solidFill>
                  <a:schemeClr val="tx1"/>
                </a:solidFill>
                <a:effectLst/>
                <a:uLnTx/>
                <a:uFillTx/>
                <a:latin typeface="+mj-lt"/>
                <a:cs typeface="Arial" pitchFamily="34" charset="0"/>
              </a:rPr>
              <a:t>j</a:t>
            </a:r>
            <a:r>
              <a:rPr kumimoji="0" lang="en-US" sz="11200" b="0" i="1" u="none" strike="noStrike" kern="1200" cap="none" spc="0" normalizeH="0" baseline="-25000" noProof="0" dirty="0" err="1" smtClean="0">
                <a:ln>
                  <a:noFill/>
                </a:ln>
                <a:solidFill>
                  <a:schemeClr val="tx1"/>
                </a:solidFill>
                <a:effectLst/>
                <a:uLnTx/>
                <a:uFillTx/>
                <a:latin typeface="+mj-lt"/>
                <a:cs typeface="Arial" pitchFamily="34" charset="0"/>
              </a:rPr>
              <a:t>it</a:t>
            </a:r>
            <a:r>
              <a:rPr kumimoji="0" lang="en-US" sz="11200" b="0" i="0" u="none" strike="noStrike" kern="1200" cap="none" spc="0" normalizeH="0" baseline="0" noProof="0" dirty="0" smtClean="0">
                <a:ln>
                  <a:noFill/>
                </a:ln>
                <a:solidFill>
                  <a:schemeClr val="tx1"/>
                </a:solidFill>
                <a:effectLst/>
                <a:uLnTx/>
                <a:uFillTx/>
                <a:latin typeface="+mj-lt"/>
                <a:cs typeface="Arial" pitchFamily="34" charset="0"/>
              </a:rPr>
              <a:t>  </a:t>
            </a:r>
            <a:r>
              <a:rPr kumimoji="0" lang="en-US" sz="6400" b="0" i="0" u="none" strike="noStrike" kern="1200" cap="none" spc="0" normalizeH="0" baseline="0" noProof="0" dirty="0" smtClean="0">
                <a:ln>
                  <a:noFill/>
                </a:ln>
                <a:solidFill>
                  <a:schemeClr val="tx1"/>
                </a:solidFill>
                <a:effectLst/>
                <a:uLnTx/>
                <a:uFillTx/>
                <a:latin typeface="+mj-lt"/>
                <a:cs typeface="Arial" pitchFamily="34" charset="0"/>
              </a:rPr>
              <a:t>is the number of students in class n in grade j at time t for pupil </a:t>
            </a:r>
            <a:r>
              <a:rPr kumimoji="0" lang="en-US" sz="6400" b="0" i="0" u="none" strike="noStrike" kern="1200" cap="none" spc="0" normalizeH="0" baseline="0" noProof="0" dirty="0" err="1" smtClean="0">
                <a:ln>
                  <a:noFill/>
                </a:ln>
                <a:solidFill>
                  <a:schemeClr val="tx1"/>
                </a:solidFill>
                <a:effectLst/>
                <a:uLnTx/>
                <a:uFillTx/>
                <a:latin typeface="+mj-lt"/>
                <a:cs typeface="Arial" pitchFamily="34" charset="0"/>
              </a:rPr>
              <a:t>i</a:t>
            </a:r>
            <a:endParaRPr kumimoji="0" lang="en-US" sz="6400" b="0" i="0" u="none" strike="noStrike" kern="1200" cap="none" spc="0" normalizeH="0" baseline="0" noProof="0" dirty="0" smtClean="0">
              <a:ln>
                <a:noFill/>
              </a:ln>
              <a:solidFill>
                <a:schemeClr val="tx1"/>
              </a:solidFill>
              <a:effectLst/>
              <a:uLnTx/>
              <a:uFillTx/>
              <a:latin typeface="+mj-lt"/>
              <a:cs typeface="Arial"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822960" marR="0" lvl="2" indent="-228600" algn="l" defTabSz="914400" rtl="0" eaLnBrk="1" fontAlgn="auto" latinLnBrk="0" hangingPunct="1">
              <a:lnSpc>
                <a:spcPct val="100000"/>
              </a:lnSpc>
              <a:spcBef>
                <a:spcPts val="370"/>
              </a:spcBef>
              <a:spcAft>
                <a:spcPts val="0"/>
              </a:spcAft>
              <a:buClr>
                <a:schemeClr val="accent1">
                  <a:tint val="60000"/>
                </a:schemeClr>
              </a:buClr>
              <a:buSzPct val="85000"/>
              <a:buFont typeface="Wingdings 2"/>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Identifying Assumptions</a:t>
            </a:r>
            <a:endParaRPr lang="en-US" dirty="0"/>
          </a:p>
        </p:txBody>
      </p:sp>
      <p:sp>
        <p:nvSpPr>
          <p:cNvPr id="3" name="2 Marcador de contenido"/>
          <p:cNvSpPr>
            <a:spLocks noGrp="1"/>
          </p:cNvSpPr>
          <p:nvPr>
            <p:ph sz="quarter" idx="1"/>
          </p:nvPr>
        </p:nvSpPr>
        <p:spPr/>
        <p:txBody>
          <a:bodyPr>
            <a:normAutofit/>
          </a:bodyPr>
          <a:lstStyle/>
          <a:p>
            <a:endParaRPr lang="en-US" dirty="0" smtClean="0"/>
          </a:p>
          <a:p>
            <a:r>
              <a:rPr lang="en-US" dirty="0" smtClean="0"/>
              <a:t>Relevance condition:</a:t>
            </a:r>
          </a:p>
          <a:p>
            <a:pPr lvl="2"/>
            <a:r>
              <a:rPr lang="en-US" dirty="0" smtClean="0"/>
              <a:t>Predicted grade mixing is correlated with observed grade mixing</a:t>
            </a:r>
          </a:p>
          <a:p>
            <a:endParaRPr lang="en-US" sz="2800" dirty="0" smtClean="0"/>
          </a:p>
          <a:p>
            <a:endParaRPr lang="en-US" sz="2800" dirty="0" smtClean="0"/>
          </a:p>
          <a:p>
            <a:r>
              <a:rPr lang="en-US" sz="2800" dirty="0" smtClean="0"/>
              <a:t>Exclusion restriction: </a:t>
            </a:r>
          </a:p>
          <a:p>
            <a:pPr lvl="2"/>
            <a:r>
              <a:rPr lang="en-US" dirty="0" smtClean="0"/>
              <a:t>The only effect the predicted grade mixing can have on the pupil achievement is through its effect on observed grade mixing.</a:t>
            </a:r>
          </a:p>
          <a:p>
            <a:pPr lvl="2">
              <a:buNone/>
            </a:pP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First and second stage equations</a:t>
            </a:r>
            <a:endParaRPr lang="en-US" dirty="0"/>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1066800" y="3276600"/>
            <a:ext cx="7121864" cy="1377156"/>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914400" y="1981200"/>
            <a:ext cx="7707586" cy="1219200"/>
          </a:xfrm>
          <a:prstGeom prst="rect">
            <a:avLst/>
          </a:prstGeom>
          <a:noFill/>
          <a:ln w="9525">
            <a:noFill/>
            <a:miter lim="800000"/>
            <a:headEnd/>
            <a:tailEnd/>
          </a:ln>
        </p:spPr>
      </p:pic>
      <p:pic>
        <p:nvPicPr>
          <p:cNvPr id="7" name="Picture 6" descr="https://encrypted-tbn2.gstatic.com/images?q=tbn:ANd9GcSfMqQ8-vpqyl30t5ZbkYaL5rQaIq7EkR8RS9ZmQPmS6qwc_1IFXA"/>
          <p:cNvPicPr>
            <a:picLocks noChangeAspect="1" noChangeArrowheads="1"/>
          </p:cNvPicPr>
          <p:nvPr/>
        </p:nvPicPr>
        <p:blipFill>
          <a:blip r:embed="rId4" cstate="print"/>
          <a:srcRect/>
          <a:stretch>
            <a:fillRect/>
          </a:stretch>
        </p:blipFill>
        <p:spPr bwMode="auto">
          <a:xfrm>
            <a:off x="6705600" y="0"/>
            <a:ext cx="2438400" cy="609601"/>
          </a:xfrm>
          <a:prstGeom prst="rect">
            <a:avLst/>
          </a:prstGeom>
          <a:noFill/>
        </p:spPr>
      </p:pic>
      <p:pic>
        <p:nvPicPr>
          <p:cNvPr id="1028" name="Picture 4"/>
          <p:cNvPicPr>
            <a:picLocks noChangeAspect="1" noChangeArrowheads="1"/>
          </p:cNvPicPr>
          <p:nvPr/>
        </p:nvPicPr>
        <p:blipFill>
          <a:blip r:embed="rId5" cstate="print"/>
          <a:srcRect/>
          <a:stretch>
            <a:fillRect/>
          </a:stretch>
        </p:blipFill>
        <p:spPr bwMode="auto">
          <a:xfrm>
            <a:off x="1295400" y="5029200"/>
            <a:ext cx="6731318" cy="971550"/>
          </a:xfrm>
          <a:prstGeom prst="rect">
            <a:avLst/>
          </a:prstGeom>
          <a:noFill/>
          <a:ln w="9525">
            <a:noFill/>
            <a:miter lim="800000"/>
            <a:headEnd/>
            <a:tailEnd/>
          </a:ln>
        </p:spPr>
      </p:pic>
      <p:sp>
        <p:nvSpPr>
          <p:cNvPr id="9" name="8 CuadroTexto"/>
          <p:cNvSpPr txBox="1"/>
          <p:nvPr/>
        </p:nvSpPr>
        <p:spPr>
          <a:xfrm>
            <a:off x="6705600" y="2819400"/>
            <a:ext cx="1752600" cy="646331"/>
          </a:xfrm>
          <a:prstGeom prst="rect">
            <a:avLst/>
          </a:prstGeom>
          <a:noFill/>
        </p:spPr>
        <p:txBody>
          <a:bodyPr wrap="square" rtlCol="0">
            <a:spAutoFit/>
          </a:bodyPr>
          <a:lstStyle/>
          <a:p>
            <a:r>
              <a:rPr lang="en-US" dirty="0" smtClean="0"/>
              <a:t>School and family control variables</a:t>
            </a:r>
            <a:endParaRPr lang="en-US" dirty="0"/>
          </a:p>
        </p:txBody>
      </p:sp>
      <p:sp>
        <p:nvSpPr>
          <p:cNvPr id="10" name="9 CuadroTexto"/>
          <p:cNvSpPr txBox="1"/>
          <p:nvPr/>
        </p:nvSpPr>
        <p:spPr>
          <a:xfrm>
            <a:off x="457200" y="4267200"/>
            <a:ext cx="2057399" cy="646331"/>
          </a:xfrm>
          <a:prstGeom prst="rect">
            <a:avLst/>
          </a:prstGeom>
          <a:noFill/>
        </p:spPr>
        <p:txBody>
          <a:bodyPr wrap="square" rtlCol="0">
            <a:spAutoFit/>
          </a:bodyPr>
          <a:lstStyle/>
          <a:p>
            <a:r>
              <a:rPr lang="en-US" dirty="0" smtClean="0"/>
              <a:t>Pupil achievement at the end of high school</a:t>
            </a:r>
            <a:endParaRPr lang="en-US" dirty="0"/>
          </a:p>
        </p:txBody>
      </p:sp>
      <p:sp>
        <p:nvSpPr>
          <p:cNvPr id="11" name="10 CuadroTexto"/>
          <p:cNvSpPr txBox="1"/>
          <p:nvPr/>
        </p:nvSpPr>
        <p:spPr>
          <a:xfrm>
            <a:off x="5105400" y="2057400"/>
            <a:ext cx="1096582" cy="369332"/>
          </a:xfrm>
          <a:prstGeom prst="rect">
            <a:avLst/>
          </a:prstGeom>
          <a:noFill/>
        </p:spPr>
        <p:txBody>
          <a:bodyPr wrap="none" rtlCol="0">
            <a:spAutoFit/>
          </a:bodyPr>
          <a:lstStyle/>
          <a:p>
            <a:r>
              <a:rPr lang="en-US" dirty="0" smtClean="0"/>
              <a:t>School size</a:t>
            </a:r>
            <a:endParaRPr lang="en-US" dirty="0"/>
          </a:p>
        </p:txBody>
      </p:sp>
      <p:sp>
        <p:nvSpPr>
          <p:cNvPr id="12" name="11 CuadroTexto"/>
          <p:cNvSpPr txBox="1"/>
          <p:nvPr/>
        </p:nvSpPr>
        <p:spPr>
          <a:xfrm>
            <a:off x="1676400" y="3048000"/>
            <a:ext cx="3276600" cy="646331"/>
          </a:xfrm>
          <a:prstGeom prst="rect">
            <a:avLst/>
          </a:prstGeom>
          <a:noFill/>
        </p:spPr>
        <p:txBody>
          <a:bodyPr wrap="square" rtlCol="0">
            <a:spAutoFit/>
          </a:bodyPr>
          <a:lstStyle/>
          <a:p>
            <a:r>
              <a:rPr lang="en-US" dirty="0" smtClean="0"/>
              <a:t>Average number of grade levels a pupil was exposed during high school</a:t>
            </a:r>
            <a:endParaRPr lang="en-US" dirty="0"/>
          </a:p>
        </p:txBody>
      </p:sp>
      <p:sp>
        <p:nvSpPr>
          <p:cNvPr id="13" name="12 CuadroTexto"/>
          <p:cNvSpPr txBox="1"/>
          <p:nvPr/>
        </p:nvSpPr>
        <p:spPr>
          <a:xfrm>
            <a:off x="1219200" y="5791200"/>
            <a:ext cx="3429000" cy="923330"/>
          </a:xfrm>
          <a:prstGeom prst="rect">
            <a:avLst/>
          </a:prstGeom>
          <a:noFill/>
        </p:spPr>
        <p:txBody>
          <a:bodyPr wrap="square" rtlCol="0">
            <a:spAutoFit/>
          </a:bodyPr>
          <a:lstStyle/>
          <a:p>
            <a:r>
              <a:rPr lang="en-US" dirty="0" smtClean="0"/>
              <a:t>Average number of higher grade level’s in pupil’s classroom when he was in high school</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228600"/>
            <a:ext cx="7772400" cy="1143000"/>
          </a:xfrm>
        </p:spPr>
        <p:txBody>
          <a:bodyPr/>
          <a:lstStyle/>
          <a:p>
            <a:r>
              <a:rPr lang="en-US" dirty="0" smtClean="0"/>
              <a:t>Relevance condition</a:t>
            </a:r>
            <a:endParaRPr lang="en-US" dirty="0"/>
          </a:p>
        </p:txBody>
      </p:sp>
      <p:pic>
        <p:nvPicPr>
          <p:cNvPr id="66563" name="Picture 3"/>
          <p:cNvPicPr>
            <a:picLocks noGrp="1" noChangeAspect="1" noChangeArrowheads="1"/>
          </p:cNvPicPr>
          <p:nvPr>
            <p:ph sz="quarter" idx="1"/>
          </p:nvPr>
        </p:nvPicPr>
        <p:blipFill>
          <a:blip r:embed="rId2" cstate="print"/>
          <a:srcRect/>
          <a:stretch>
            <a:fillRect/>
          </a:stretch>
        </p:blipFill>
        <p:spPr bwMode="auto">
          <a:xfrm rot="5400000">
            <a:off x="1919579" y="-395578"/>
            <a:ext cx="5486399" cy="8563556"/>
          </a:xfrm>
          <a:prstGeom prst="rect">
            <a:avLst/>
          </a:prstGeom>
          <a:noFill/>
          <a:ln w="9525">
            <a:noFill/>
            <a:miter lim="800000"/>
            <a:headEnd/>
            <a:tailEnd/>
          </a:ln>
        </p:spPr>
      </p:pic>
      <p:pic>
        <p:nvPicPr>
          <p:cNvPr id="6"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Exclusion restriction</a:t>
            </a:r>
            <a:endParaRPr lang="en-US" dirty="0"/>
          </a:p>
        </p:txBody>
      </p:sp>
      <p:sp>
        <p:nvSpPr>
          <p:cNvPr id="3" name="2 Marcador de contenido"/>
          <p:cNvSpPr>
            <a:spLocks noGrp="1"/>
          </p:cNvSpPr>
          <p:nvPr>
            <p:ph sz="quarter" idx="1"/>
          </p:nvPr>
        </p:nvSpPr>
        <p:spPr/>
        <p:txBody>
          <a:bodyPr/>
          <a:lstStyle/>
          <a:p>
            <a:r>
              <a:rPr lang="en-US" dirty="0" smtClean="0"/>
              <a:t>check whether parents and/or schools position themselves in non-random ways around the points where schools are supposed to change the classroom grade composition.</a:t>
            </a:r>
          </a:p>
          <a:p>
            <a:pPr lvl="1"/>
            <a:r>
              <a:rPr lang="en-US" dirty="0" smtClean="0"/>
              <a:t>Parents prefer mixing or non-mixing classrooms they might decide to enroll their children in a different school.</a:t>
            </a:r>
          </a:p>
          <a:p>
            <a:pPr lvl="2"/>
            <a:r>
              <a:rPr lang="en-US" dirty="0" smtClean="0"/>
              <a:t>If more advantaged families sort in different ways than disadvantaged families, the underlying pupil population at both sides of the discontinuities are not longer comparable. </a:t>
            </a:r>
          </a:p>
          <a:p>
            <a:pPr lvl="2"/>
            <a:r>
              <a:rPr lang="en-US" dirty="0" smtClean="0"/>
              <a:t>Families moving to different school catchment areas in reaction to our anticipating classroom grade composition. </a:t>
            </a:r>
          </a:p>
          <a:p>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Exclusion restriction</a:t>
            </a:r>
            <a:endParaRPr lang="en-US" dirty="0"/>
          </a:p>
        </p:txBody>
      </p:sp>
      <p:sp>
        <p:nvSpPr>
          <p:cNvPr id="3" name="2 Marcador de contenido"/>
          <p:cNvSpPr>
            <a:spLocks noGrp="1"/>
          </p:cNvSpPr>
          <p:nvPr>
            <p:ph sz="quarter" idx="1"/>
          </p:nvPr>
        </p:nvSpPr>
        <p:spPr/>
        <p:txBody>
          <a:bodyPr>
            <a:normAutofit/>
          </a:bodyPr>
          <a:lstStyle/>
          <a:p>
            <a:r>
              <a:rPr lang="en-US" dirty="0" smtClean="0"/>
              <a:t>Check alternative confounding changes of related school inputs</a:t>
            </a:r>
          </a:p>
          <a:p>
            <a:pPr lvl="1"/>
            <a:r>
              <a:rPr lang="en-US" dirty="0" smtClean="0"/>
              <a:t>Class-size discontinuously changes when combining grades</a:t>
            </a:r>
          </a:p>
          <a:p>
            <a:pPr lvl="2"/>
            <a:r>
              <a:rPr lang="en-US" dirty="0" smtClean="0"/>
              <a:t>Combining grades not only changes the classroom grade composition but also class-size.</a:t>
            </a:r>
          </a:p>
          <a:p>
            <a:pPr lvl="1"/>
            <a:r>
              <a:rPr lang="en-US" dirty="0" smtClean="0"/>
              <a:t>Grade mixing in junior high school could be correlated with grade mixing in primary school.</a:t>
            </a:r>
          </a:p>
          <a:p>
            <a:pPr lvl="2">
              <a:buNone/>
            </a:pP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Inference </a:t>
            </a:r>
            <a:endParaRPr lang="en-US" dirty="0"/>
          </a:p>
        </p:txBody>
      </p:sp>
      <p:sp>
        <p:nvSpPr>
          <p:cNvPr id="3" name="2 Marcador de contenido"/>
          <p:cNvSpPr>
            <a:spLocks noGrp="1"/>
          </p:cNvSpPr>
          <p:nvPr>
            <p:ph sz="quarter" idx="1"/>
          </p:nvPr>
        </p:nvSpPr>
        <p:spPr/>
        <p:txBody>
          <a:bodyPr/>
          <a:lstStyle/>
          <a:p>
            <a:r>
              <a:rPr lang="en-US" dirty="0" smtClean="0"/>
              <a:t>Standard errors are clustered at school-level</a:t>
            </a: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Results</a:t>
            </a:r>
            <a:endParaRPr lang="en-US" dirty="0"/>
          </a:p>
        </p:txBody>
      </p:sp>
      <p:sp>
        <p:nvSpPr>
          <p:cNvPr id="3" name="2 Marcador de contenido"/>
          <p:cNvSpPr>
            <a:spLocks noGrp="1"/>
          </p:cNvSpPr>
          <p:nvPr>
            <p:ph sz="quarter" idx="1"/>
          </p:nvPr>
        </p:nvSpPr>
        <p:spPr/>
        <p:txBody>
          <a:bodyPr/>
          <a:lstStyle/>
          <a:p>
            <a:r>
              <a:rPr lang="en-US" dirty="0" smtClean="0"/>
              <a:t>Pupils in combination classes perform slightly  better than homogeneous single grade classrooms.</a:t>
            </a:r>
          </a:p>
          <a:p>
            <a:pPr lvl="1"/>
            <a:r>
              <a:rPr lang="en-US" dirty="0" smtClean="0"/>
              <a:t>Driving by pupils benefiting  from sharing the classroom with more mature peers from higher grades.</a:t>
            </a:r>
          </a:p>
          <a:p>
            <a:r>
              <a:rPr lang="en-US" dirty="0" smtClean="0"/>
              <a:t>The presence of lower grade peers decreases achievement</a:t>
            </a:r>
          </a:p>
          <a:p>
            <a:pPr lvl="1"/>
            <a:r>
              <a:rPr lang="en-US" dirty="0" smtClean="0"/>
              <a:t>Effects are larger on girls</a:t>
            </a:r>
          </a:p>
          <a:p>
            <a:r>
              <a:rPr lang="en-US" dirty="0" smtClean="0"/>
              <a:t>Class size does not have an effect on student achievement. </a:t>
            </a:r>
          </a:p>
          <a:p>
            <a:pPr lvl="1"/>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cstate="print"/>
          <a:srcRect/>
          <a:stretch>
            <a:fillRect/>
          </a:stretch>
        </p:blipFill>
        <p:spPr bwMode="auto">
          <a:xfrm>
            <a:off x="1524000" y="838200"/>
            <a:ext cx="6477000" cy="5791200"/>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sz="quarter" idx="1"/>
          </p:nvPr>
        </p:nvPicPr>
        <p:blipFill>
          <a:blip r:embed="rId2" cstate="print"/>
          <a:srcRect/>
          <a:stretch>
            <a:fillRect/>
          </a:stretch>
        </p:blipFill>
        <p:spPr bwMode="auto">
          <a:xfrm>
            <a:off x="914400" y="838200"/>
            <a:ext cx="7686676" cy="5856514"/>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quarter" idx="1"/>
          </p:nvPr>
        </p:nvPicPr>
        <p:blipFill>
          <a:blip r:embed="rId2" cstate="print"/>
          <a:srcRect/>
          <a:stretch>
            <a:fillRect/>
          </a:stretch>
        </p:blipFill>
        <p:spPr bwMode="auto">
          <a:xfrm>
            <a:off x="381000" y="1295400"/>
            <a:ext cx="8499987" cy="5105400"/>
          </a:xfrm>
          <a:prstGeom prst="rect">
            <a:avLst/>
          </a:prstGeom>
          <a:noFill/>
          <a:ln w="9525">
            <a:noFill/>
            <a:miter lim="800000"/>
            <a:headEnd/>
            <a:tailEnd/>
          </a:ln>
        </p:spPr>
      </p:pic>
      <p:pic>
        <p:nvPicPr>
          <p:cNvPr id="5"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Comments</a:t>
            </a:r>
            <a:endParaRPr lang="en-US" dirty="0"/>
          </a:p>
        </p:txBody>
      </p:sp>
      <p:sp>
        <p:nvSpPr>
          <p:cNvPr id="3" name="2 Marcador de contenido"/>
          <p:cNvSpPr>
            <a:spLocks noGrp="1"/>
          </p:cNvSpPr>
          <p:nvPr>
            <p:ph sz="quarter" idx="1"/>
          </p:nvPr>
        </p:nvSpPr>
        <p:spPr/>
        <p:txBody>
          <a:bodyPr>
            <a:normAutofit/>
          </a:bodyPr>
          <a:lstStyle/>
          <a:p>
            <a:pPr>
              <a:buNone/>
            </a:pPr>
            <a:endParaRPr lang="en-US" dirty="0" smtClean="0"/>
          </a:p>
          <a:p>
            <a:r>
              <a:rPr lang="en-US" dirty="0" smtClean="0"/>
              <a:t>Potential </a:t>
            </a:r>
            <a:r>
              <a:rPr lang="en-US" dirty="0" err="1" smtClean="0"/>
              <a:t>endogeneity</a:t>
            </a:r>
            <a:r>
              <a:rPr lang="en-US" dirty="0" smtClean="0"/>
              <a:t> of the instrument: There may be factors affecting the instrument and the outcome: </a:t>
            </a:r>
          </a:p>
          <a:p>
            <a:pPr lvl="1"/>
            <a:r>
              <a:rPr lang="en-US" dirty="0" smtClean="0"/>
              <a:t>The composition of the mixed grades under the control of school authorities. This confounding is not addressed.</a:t>
            </a:r>
          </a:p>
          <a:p>
            <a:pPr lvl="1"/>
            <a:r>
              <a:rPr lang="en-US" dirty="0" smtClean="0"/>
              <a:t>The quality of the teachers assigned to mixed classes: more experienced teachers may be sent to mixed classed because they can handle it better, but no way to control for this</a:t>
            </a:r>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Comments</a:t>
            </a:r>
            <a:endParaRPr lang="en-US" dirty="0"/>
          </a:p>
        </p:txBody>
      </p:sp>
      <p:sp>
        <p:nvSpPr>
          <p:cNvPr id="3" name="2 Marcador de contenido"/>
          <p:cNvSpPr>
            <a:spLocks noGrp="1"/>
          </p:cNvSpPr>
          <p:nvPr>
            <p:ph sz="quarter" idx="1"/>
          </p:nvPr>
        </p:nvSpPr>
        <p:spPr/>
        <p:txBody>
          <a:bodyPr/>
          <a:lstStyle/>
          <a:p>
            <a:pPr>
              <a:buNone/>
            </a:pPr>
            <a:endParaRPr lang="en-US" dirty="0" smtClean="0"/>
          </a:p>
          <a:p>
            <a:r>
              <a:rPr lang="en-US" dirty="0" smtClean="0"/>
              <a:t>Classroom grade composition in previous education</a:t>
            </a:r>
          </a:p>
          <a:p>
            <a:pPr lvl="1"/>
            <a:r>
              <a:rPr lang="en-US" dirty="0" smtClean="0"/>
              <a:t>Mixing also takes place before 7</a:t>
            </a:r>
            <a:r>
              <a:rPr lang="en-US" baseline="30000" dirty="0" smtClean="0"/>
              <a:t>th</a:t>
            </a:r>
            <a:r>
              <a:rPr lang="en-US" dirty="0" smtClean="0"/>
              <a:t> grade, so there may be a learning curve or other dynamic aspect of the effect not taken into account here.</a:t>
            </a:r>
          </a:p>
          <a:p>
            <a:r>
              <a:rPr lang="en-US" dirty="0" smtClean="0"/>
              <a:t>Sample selection</a:t>
            </a:r>
          </a:p>
          <a:p>
            <a:pPr lvl="1"/>
            <a:r>
              <a:rPr lang="en-US" dirty="0" smtClean="0"/>
              <a:t>It is possible that individuals who left the sample  have specific characteristics that could bias our estimates.</a:t>
            </a:r>
          </a:p>
          <a:p>
            <a:pPr>
              <a:buNone/>
            </a:pP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Comments</a:t>
            </a:r>
            <a:endParaRPr lang="en-US" dirty="0"/>
          </a:p>
        </p:txBody>
      </p:sp>
      <p:sp>
        <p:nvSpPr>
          <p:cNvPr id="3" name="2 Marcador de contenido"/>
          <p:cNvSpPr>
            <a:spLocks noGrp="1"/>
          </p:cNvSpPr>
          <p:nvPr>
            <p:ph sz="quarter" idx="1"/>
          </p:nvPr>
        </p:nvSpPr>
        <p:spPr/>
        <p:txBody>
          <a:bodyPr/>
          <a:lstStyle/>
          <a:p>
            <a:r>
              <a:rPr lang="en-US" dirty="0" smtClean="0"/>
              <a:t>Sample</a:t>
            </a:r>
          </a:p>
          <a:p>
            <a:pPr lvl="1"/>
            <a:r>
              <a:rPr lang="en-US" dirty="0" smtClean="0"/>
              <a:t>The sample is concentrated in rural areas, and there may be some sorting into urban areas to avoid mixing.</a:t>
            </a:r>
          </a:p>
          <a:p>
            <a:pPr lvl="1"/>
            <a:endParaRPr lang="en-US" dirty="0" smtClean="0"/>
          </a:p>
          <a:p>
            <a:r>
              <a:rPr lang="en-US" dirty="0" smtClean="0"/>
              <a:t>Fixed effects at the province level</a:t>
            </a:r>
          </a:p>
          <a:p>
            <a:pPr lvl="1">
              <a:buNone/>
            </a:pPr>
            <a:endParaRPr lang="en-US" dirty="0" smtClean="0"/>
          </a:p>
          <a:p>
            <a:endParaRPr lang="en-US" dirty="0" smtClean="0"/>
          </a:p>
          <a:p>
            <a:r>
              <a:rPr lang="en-US" dirty="0" smtClean="0"/>
              <a:t>Heterogeneity in observed characteristics</a:t>
            </a:r>
          </a:p>
          <a:p>
            <a:pPr lvl="1"/>
            <a:r>
              <a:rPr lang="en-US" dirty="0" smtClean="0"/>
              <a:t>In Table 1 it seems to be differences in observed characteristics that might be misleading their estimates.</a:t>
            </a:r>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2" cstate="print"/>
          <a:srcRect/>
          <a:stretch>
            <a:fillRect/>
          </a:stretch>
        </p:blipFill>
        <p:spPr bwMode="auto">
          <a:xfrm>
            <a:off x="6705600" y="0"/>
            <a:ext cx="2438400" cy="609601"/>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smtClean="0"/>
              <a:t>Comments</a:t>
            </a:r>
            <a:endParaRPr lang="en-US" dirty="0"/>
          </a:p>
        </p:txBody>
      </p:sp>
      <p:sp>
        <p:nvSpPr>
          <p:cNvPr id="3" name="2 Marcador de contenido"/>
          <p:cNvSpPr>
            <a:spLocks noGrp="1"/>
          </p:cNvSpPr>
          <p:nvPr>
            <p:ph sz="quarter" idx="1"/>
          </p:nvPr>
        </p:nvSpPr>
        <p:spPr/>
        <p:txBody>
          <a:bodyPr>
            <a:normAutofit/>
          </a:bodyPr>
          <a:lstStyle/>
          <a:p>
            <a:r>
              <a:rPr lang="en-US" dirty="0" smtClean="0"/>
              <a:t>Instruments:</a:t>
            </a:r>
          </a:p>
          <a:p>
            <a:pPr lvl="1"/>
            <a:r>
              <a:rPr lang="en-US" dirty="0" smtClean="0"/>
              <a:t>Class size</a:t>
            </a:r>
          </a:p>
          <a:p>
            <a:pPr lvl="2"/>
            <a:r>
              <a:rPr lang="en-US" dirty="0" smtClean="0"/>
              <a:t>the authors assume that the mixing between 7</a:t>
            </a:r>
            <a:r>
              <a:rPr lang="en-US" baseline="30000" dirty="0" smtClean="0"/>
              <a:t>th</a:t>
            </a:r>
            <a:r>
              <a:rPr lang="en-US" dirty="0" smtClean="0"/>
              <a:t>-8</a:t>
            </a:r>
            <a:r>
              <a:rPr lang="en-US" baseline="30000" dirty="0" smtClean="0"/>
              <a:t>th</a:t>
            </a:r>
            <a:r>
              <a:rPr lang="en-US" dirty="0" smtClean="0"/>
              <a:t> and 8</a:t>
            </a:r>
            <a:r>
              <a:rPr lang="en-US" baseline="30000" dirty="0" smtClean="0"/>
              <a:t>th</a:t>
            </a:r>
            <a:r>
              <a:rPr lang="en-US" dirty="0" smtClean="0"/>
              <a:t>-9</a:t>
            </a:r>
            <a:r>
              <a:rPr lang="en-US" baseline="30000" dirty="0" smtClean="0"/>
              <a:t>th</a:t>
            </a:r>
            <a:r>
              <a:rPr lang="en-US" dirty="0" smtClean="0"/>
              <a:t> happen with probability 0.5.  But when we see the observed mixing sequences in table 2 this probability does not match.</a:t>
            </a:r>
          </a:p>
          <a:p>
            <a:pPr lvl="1">
              <a:buNone/>
            </a:pPr>
            <a:endParaRPr lang="en-US" dirty="0" smtClean="0"/>
          </a:p>
          <a:p>
            <a:pPr lvl="1"/>
            <a:r>
              <a:rPr lang="en-US" dirty="0" smtClean="0"/>
              <a:t>Predicted grade mixing</a:t>
            </a:r>
          </a:p>
          <a:p>
            <a:pPr lvl="2"/>
            <a:r>
              <a:rPr lang="en-US" dirty="0" smtClean="0"/>
              <a:t>The predicted grade composition of a student who was mixed in 9</a:t>
            </a:r>
            <a:r>
              <a:rPr lang="en-US" baseline="30000" dirty="0" smtClean="0"/>
              <a:t>th</a:t>
            </a:r>
            <a:r>
              <a:rPr lang="en-US" dirty="0" smtClean="0"/>
              <a:t> grade with 7</a:t>
            </a:r>
            <a:r>
              <a:rPr lang="en-US" baseline="30000" dirty="0" smtClean="0"/>
              <a:t>th</a:t>
            </a:r>
            <a:r>
              <a:rPr lang="en-US" dirty="0" smtClean="0"/>
              <a:t> and 8</a:t>
            </a:r>
            <a:r>
              <a:rPr lang="en-US" baseline="30000" dirty="0" smtClean="0"/>
              <a:t>th</a:t>
            </a:r>
            <a:r>
              <a:rPr lang="en-US" dirty="0" smtClean="0"/>
              <a:t> graders is the same as the one of a student who was mixed in 7</a:t>
            </a:r>
            <a:r>
              <a:rPr lang="en-US" baseline="30000" dirty="0" smtClean="0"/>
              <a:t>th</a:t>
            </a:r>
            <a:r>
              <a:rPr lang="en-US" dirty="0" smtClean="0"/>
              <a:t> grade with 8</a:t>
            </a:r>
            <a:r>
              <a:rPr lang="en-US" baseline="30000" dirty="0" smtClean="0"/>
              <a:t>th</a:t>
            </a:r>
            <a:r>
              <a:rPr lang="en-US" dirty="0" smtClean="0"/>
              <a:t> graders and 8</a:t>
            </a:r>
            <a:r>
              <a:rPr lang="en-US" baseline="30000" dirty="0" smtClean="0"/>
              <a:t>th</a:t>
            </a:r>
            <a:r>
              <a:rPr lang="en-US" dirty="0" smtClean="0"/>
              <a:t> grade with 9</a:t>
            </a:r>
            <a:r>
              <a:rPr lang="en-US" baseline="30000" dirty="0" smtClean="0"/>
              <a:t>th</a:t>
            </a:r>
            <a:r>
              <a:rPr lang="en-US" dirty="0" smtClean="0"/>
              <a:t> graders.</a:t>
            </a:r>
          </a:p>
          <a:p>
            <a:pPr lvl="2"/>
            <a:r>
              <a:rPr lang="en-US" dirty="0" smtClean="0"/>
              <a:t>No weighting in construction of indicators: is mixing the same if in 7</a:t>
            </a:r>
            <a:r>
              <a:rPr lang="en-US" baseline="30000" dirty="0" smtClean="0"/>
              <a:t>th</a:t>
            </a:r>
            <a:r>
              <a:rPr lang="en-US" dirty="0" smtClean="0"/>
              <a:t>-8</a:t>
            </a:r>
            <a:r>
              <a:rPr lang="en-US" baseline="30000" dirty="0" smtClean="0"/>
              <a:t>th</a:t>
            </a:r>
            <a:r>
              <a:rPr lang="en-US" dirty="0" smtClean="0"/>
              <a:t> as in 8</a:t>
            </a:r>
            <a:r>
              <a:rPr lang="en-US" baseline="30000" dirty="0" smtClean="0"/>
              <a:t>th</a:t>
            </a:r>
            <a:r>
              <a:rPr lang="en-US" dirty="0" smtClean="0"/>
              <a:t>-9</a:t>
            </a:r>
            <a:r>
              <a:rPr lang="en-US" baseline="30000" dirty="0" smtClean="0"/>
              <a:t>th</a:t>
            </a:r>
            <a:r>
              <a:rPr lang="en-US" dirty="0" smtClean="0"/>
              <a:t>? </a:t>
            </a:r>
          </a:p>
          <a:p>
            <a:pPr lvl="1"/>
            <a:endParaRPr lang="en-US" dirty="0"/>
          </a:p>
        </p:txBody>
      </p:sp>
      <p:pic>
        <p:nvPicPr>
          <p:cNvPr id="4" name="Picture 6" descr="https://encrypted-tbn2.gstatic.com/images?q=tbn:ANd9GcSfMqQ8-vpqyl30t5ZbkYaL5rQaIq7EkR8RS9ZmQPmS6qwc_1IFXA"/>
          <p:cNvPicPr>
            <a:picLocks noChangeAspect="1" noChangeArrowheads="1"/>
          </p:cNvPicPr>
          <p:nvPr/>
        </p:nvPicPr>
        <p:blipFill>
          <a:blip r:embed="rId3" cstate="print"/>
          <a:srcRect/>
          <a:stretch>
            <a:fillRect/>
          </a:stretch>
        </p:blipFill>
        <p:spPr bwMode="auto">
          <a:xfrm>
            <a:off x="6705600" y="0"/>
            <a:ext cx="2438400" cy="609601"/>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Personalizado 1">
      <a:dk1>
        <a:sysClr val="windowText" lastClr="000000"/>
      </a:dk1>
      <a:lt1>
        <a:sysClr val="window" lastClr="FFFFFF"/>
      </a:lt1>
      <a:dk2>
        <a:srgbClr val="5B0C10"/>
      </a:dk2>
      <a:lt2>
        <a:srgbClr val="5B0C10"/>
      </a:lt2>
      <a:accent1>
        <a:srgbClr val="7A1116"/>
      </a:accent1>
      <a:accent2>
        <a:srgbClr val="5B0C10"/>
      </a:accent2>
      <a:accent3>
        <a:srgbClr val="5B0C10"/>
      </a:accent3>
      <a:accent4>
        <a:srgbClr val="5B0C10"/>
      </a:accent4>
      <a:accent5>
        <a:srgbClr val="510B0F"/>
      </a:accent5>
      <a:accent6>
        <a:srgbClr val="5B0C10"/>
      </a:accent6>
      <a:hlink>
        <a:srgbClr val="7A1116"/>
      </a:hlink>
      <a:folHlink>
        <a:srgbClr val="7A1116"/>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2056</TotalTime>
  <Words>1233</Words>
  <Application>Microsoft Office PowerPoint</Application>
  <PresentationFormat>Presentación en pantalla (4:3)</PresentationFormat>
  <Paragraphs>155</Paragraphs>
  <Slides>34</Slides>
  <Notes>6</Notes>
  <HiddenSlides>0</HiddenSlides>
  <MMClips>0</MMClips>
  <ScaleCrop>false</ScaleCrop>
  <HeadingPairs>
    <vt:vector size="4" baseType="variant">
      <vt:variant>
        <vt:lpstr>Tema</vt:lpstr>
      </vt:variant>
      <vt:variant>
        <vt:i4>1</vt:i4>
      </vt:variant>
      <vt:variant>
        <vt:lpstr>Títulos de diapositiva</vt:lpstr>
      </vt:variant>
      <vt:variant>
        <vt:i4>34</vt:i4>
      </vt:variant>
    </vt:vector>
  </HeadingPairs>
  <TitlesOfParts>
    <vt:vector size="35" baseType="lpstr">
      <vt:lpstr>Equidad</vt:lpstr>
      <vt:lpstr>Classroom Grade Composition and Pupil Achievement By Edwin Leuven &amp; Marte Ronning</vt:lpstr>
      <vt:lpstr> Presentation outline</vt:lpstr>
      <vt:lpstr>Question</vt:lpstr>
      <vt:lpstr>Channel</vt:lpstr>
      <vt:lpstr>Previous research</vt:lpstr>
      <vt:lpstr>Threats</vt:lpstr>
      <vt:lpstr>Contribution</vt:lpstr>
      <vt:lpstr>Source of variation</vt:lpstr>
      <vt:lpstr>Data</vt:lpstr>
      <vt:lpstr> Mixed data sets contain</vt:lpstr>
      <vt:lpstr> Maximum class  size rules</vt:lpstr>
      <vt:lpstr>Data</vt:lpstr>
      <vt:lpstr>  Average number of  grades mixed by school size</vt:lpstr>
      <vt:lpstr>  Average number of grades  mixed by cohort size of 7th and 8th graders</vt:lpstr>
      <vt:lpstr>Average number of  grades mixed by cohort  size of 8th and 9th graders</vt:lpstr>
      <vt:lpstr>The interaction of grade  mixing rules -9th grade enrollment </vt:lpstr>
      <vt:lpstr>Diapositiva 17</vt:lpstr>
      <vt:lpstr>Research design</vt:lpstr>
      <vt:lpstr> Predicted grade mixing</vt:lpstr>
      <vt:lpstr>Predicted Class Size</vt:lpstr>
      <vt:lpstr>Identifying Assumptions</vt:lpstr>
      <vt:lpstr>First and second stage equations</vt:lpstr>
      <vt:lpstr>Relevance condition</vt:lpstr>
      <vt:lpstr>Exclusion restriction</vt:lpstr>
      <vt:lpstr>Exclusion restriction</vt:lpstr>
      <vt:lpstr>Inference </vt:lpstr>
      <vt:lpstr>Results</vt:lpstr>
      <vt:lpstr>Diapositiva 28</vt:lpstr>
      <vt:lpstr>Diapositiva 29</vt:lpstr>
      <vt:lpstr>Diapositiva 30</vt:lpstr>
      <vt:lpstr>Comments</vt:lpstr>
      <vt:lpstr>Comments</vt:lpstr>
      <vt:lpstr>Comments</vt:lpstr>
      <vt:lpstr>Comments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Classroom Grade Composition and Pupil Achievement</dc:title>
  <dc:creator>maria</dc:creator>
  <cp:lastModifiedBy>maria</cp:lastModifiedBy>
  <cp:revision>175</cp:revision>
  <dcterms:created xsi:type="dcterms:W3CDTF">2013-11-09T15:29:09Z</dcterms:created>
  <dcterms:modified xsi:type="dcterms:W3CDTF">2013-11-25T16:23:00Z</dcterms:modified>
</cp:coreProperties>
</file>