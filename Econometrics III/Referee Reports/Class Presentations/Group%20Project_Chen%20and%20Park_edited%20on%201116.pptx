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6" r:id="rId2"/>
    <p:sldId id="273" r:id="rId3"/>
    <p:sldId id="274" r:id="rId4"/>
    <p:sldId id="275" r:id="rId5"/>
    <p:sldId id="276" r:id="rId6"/>
    <p:sldId id="277" r:id="rId7"/>
    <p:sldId id="278" r:id="rId8"/>
    <p:sldId id="279" r:id="rId9"/>
    <p:sldId id="280" r:id="rId10"/>
    <p:sldId id="281" r:id="rId11"/>
    <p:sldId id="282" r:id="rId12"/>
    <p:sldId id="266" r:id="rId13"/>
    <p:sldId id="267" r:id="rId14"/>
    <p:sldId id="261" r:id="rId15"/>
    <p:sldId id="262" r:id="rId16"/>
    <p:sldId id="259" r:id="rId17"/>
    <p:sldId id="283" r:id="rId18"/>
    <p:sldId id="284" r:id="rId19"/>
    <p:sldId id="263" r:id="rId20"/>
    <p:sldId id="264" r:id="rId21"/>
    <p:sldId id="265"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21" autoAdjust="0"/>
    <p:restoredTop sz="94118" autoAdjust="0"/>
  </p:normalViewPr>
  <p:slideViewPr>
    <p:cSldViewPr>
      <p:cViewPr varScale="1">
        <p:scale>
          <a:sx n="51" d="100"/>
          <a:sy n="51" d="100"/>
        </p:scale>
        <p:origin x="1253"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1999"/>
          </a:xfrm>
        </p:spPr>
        <p:txBody>
          <a:bodyPr anchor="ctr">
            <a:noAutofit/>
          </a:bodyPr>
          <a:lstStyle>
            <a:lvl1pPr>
              <a:lnSpc>
                <a:spcPct val="100000"/>
              </a:lnSpc>
              <a:defRPr sz="8800" spc="-8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882DFF9-922D-4C3F-841A-B97A3CD56806}" type="datetimeFigureOut">
              <a:rPr lang="en-US" smtClean="0"/>
              <a:t>11/17/2013</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73CF20D-E7B2-49CA-AA5A-334E0C650FB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882DFF9-922D-4C3F-841A-B97A3CD56806}" type="datetimeFigureOut">
              <a:rPr lang="en-US" smtClean="0"/>
              <a:t>11/17/2013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3CF20D-E7B2-49CA-AA5A-334E0C650FB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2882DFF9-922D-4C3F-841A-B97A3CD56806}" type="datetimeFigureOut">
              <a:rPr lang="en-US" smtClean="0"/>
              <a:t>11/17/2013</a:t>
            </a:fld>
            <a:endParaRPr lang="en-US"/>
          </a:p>
        </p:txBody>
      </p:sp>
      <p:sp>
        <p:nvSpPr>
          <p:cNvPr id="8" name="Slide Number Placeholder 7"/>
          <p:cNvSpPr>
            <a:spLocks noGrp="1"/>
          </p:cNvSpPr>
          <p:nvPr>
            <p:ph type="sldNum" sz="quarter" idx="11"/>
          </p:nvPr>
        </p:nvSpPr>
        <p:spPr/>
        <p:txBody>
          <a:bodyPr/>
          <a:lstStyle/>
          <a:p>
            <a:fld id="{073CF20D-E7B2-49CA-AA5A-334E0C650FB4}"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882DFF9-922D-4C3F-841A-B97A3CD56806}" type="datetimeFigureOut">
              <a:rPr lang="en-US" smtClean="0"/>
              <a:t>11/17/2013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3CF20D-E7B2-49CA-AA5A-334E0C650FB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882DFF9-922D-4C3F-841A-B97A3CD56806}" type="datetimeFigureOut">
              <a:rPr lang="en-US" smtClean="0"/>
              <a:t>11/17/2013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3CF20D-E7B2-49CA-AA5A-334E0C650FB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882DFF9-922D-4C3F-841A-B97A3CD56806}" type="datetimeFigureOut">
              <a:rPr lang="en-US" smtClean="0"/>
              <a:t>11/17/2013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3CF20D-E7B2-49CA-AA5A-334E0C650FB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82DFF9-922D-4C3F-841A-B97A3CD56806}" type="datetimeFigureOut">
              <a:rPr lang="en-US" smtClean="0"/>
              <a:t>11/17/2013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3CF20D-E7B2-49CA-AA5A-334E0C650FB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82DFF9-922D-4C3F-841A-B97A3CD56806}" type="datetimeFigureOut">
              <a:rPr lang="en-US" smtClean="0"/>
              <a:t>11/17/2013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3CF20D-E7B2-49CA-AA5A-334E0C650FB4}" type="slidenum">
              <a:rPr lang="en-US" smtClean="0"/>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82DFF9-922D-4C3F-841A-B97A3CD56806}" type="datetimeFigureOut">
              <a:rPr lang="en-US" smtClean="0"/>
              <a:t>11/17/2013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073CF20D-E7B2-49CA-AA5A-334E0C650FB4}" type="slidenum">
              <a:rPr lang="en-US" smtClean="0"/>
              <a:t>‹#›</a:t>
            </a:fld>
            <a:endParaRPr lang="en-US"/>
          </a:p>
        </p:txBody>
      </p:sp>
      <p:sp>
        <p:nvSpPr>
          <p:cNvPr id="8" name="Title 7"/>
          <p:cNvSpPr>
            <a:spLocks noGrp="1"/>
          </p:cNvSpPr>
          <p:nvPr>
            <p:ph type="title"/>
          </p:nvPr>
        </p:nvSpPr>
        <p:spPr>
          <a:xfrm>
            <a:off x="457200" y="4953000"/>
            <a:ext cx="8153400" cy="762000"/>
          </a:xfrm>
        </p:spPr>
        <p:txBody>
          <a:bodyPr anchor="t">
            <a:normAutofit/>
          </a:bodyPr>
          <a:lstStyle>
            <a:lvl1pPr>
              <a:defRPr sz="3200"/>
            </a:lvl1pPr>
          </a:lstStyle>
          <a:p>
            <a:r>
              <a:rPr lang="en-US" smtClean="0"/>
              <a:t>Click to edit Master title style</a:t>
            </a:r>
            <a:endParaRPr lang="en-US" dirty="0"/>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882DFF9-922D-4C3F-841A-B97A3CD56806}" type="datetimeFigureOut">
              <a:rPr lang="en-US" smtClean="0"/>
              <a:t>11/17/2013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3CF20D-E7B2-49CA-AA5A-334E0C650FB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882DFF9-922D-4C3F-841A-B97A3CD56806}" type="datetimeFigureOut">
              <a:rPr lang="en-US" smtClean="0"/>
              <a:t>11/17/2013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3CF20D-E7B2-49CA-AA5A-334E0C650FB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2882DFF9-922D-4C3F-841A-B97A3CD56806}" type="datetimeFigureOut">
              <a:rPr lang="en-US" smtClean="0"/>
              <a:t>11/17/2013</a:t>
            </a:fld>
            <a:endParaRPr lang="en-US"/>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rot="16200000">
            <a:off x="8227377" y="5885497"/>
            <a:ext cx="1315721" cy="365125"/>
          </a:xfrm>
          <a:prstGeom prst="rect">
            <a:avLst/>
          </a:prstGeom>
        </p:spPr>
        <p:txBody>
          <a:bodyPr vert="horz" lIns="91440" tIns="45720" rIns="91440" bIns="45720" rtlCol="0" anchor="ctr"/>
          <a:lstStyle>
            <a:lvl1pPr algn="l">
              <a:defRPr sz="2400" b="1">
                <a:solidFill>
                  <a:schemeClr val="tx2"/>
                </a:solidFill>
              </a:defRPr>
            </a:lvl1pPr>
          </a:lstStyle>
          <a:p>
            <a:fld id="{073CF20D-E7B2-49CA-AA5A-334E0C650FB4}" type="slidenum">
              <a:rPr lang="en-US" smtClean="0"/>
              <a:t>‹#›</a:t>
            </a:fld>
            <a:endParaRPr lang="en-US"/>
          </a:p>
        </p:txBody>
      </p:sp>
      <p:sp>
        <p:nvSpPr>
          <p:cNvPr id="7" name="Rectangle 6"/>
          <p:cNvSpPr/>
          <p:nvPr/>
        </p:nvSpPr>
        <p:spPr>
          <a:xfrm>
            <a:off x="9001124" y="0"/>
            <a:ext cx="142876"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01124" y="1371600"/>
            <a:ext cx="142876"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defTabSz="914400" rtl="0" eaLnBrk="1" latinLnBrk="0" hangingPunct="1">
        <a:spcBef>
          <a:spcPct val="0"/>
        </a:spcBef>
        <a:buNone/>
        <a:defRPr sz="3600" kern="1200" cap="all" spc="-60" baseline="0">
          <a:solidFill>
            <a:schemeClr val="tx2"/>
          </a:solidFill>
          <a:latin typeface="+mj-lt"/>
          <a:ea typeface="+mj-ea"/>
          <a:cs typeface="+mj-cs"/>
        </a:defRPr>
      </a:lvl1pPr>
    </p:titleStyle>
    <p:body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hyperlink" Target="http://www.barb.co.uk/" TargetMode="Externa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200" dirty="0"/>
              <a:t>Using international soccer tournaments to understand </a:t>
            </a:r>
            <a:r>
              <a:rPr lang="en-US" sz="3200" dirty="0" smtClean="0"/>
              <a:t>the education </a:t>
            </a:r>
            <a:r>
              <a:rPr lang="en-US" sz="3200" dirty="0"/>
              <a:t>production </a:t>
            </a:r>
            <a:r>
              <a:rPr lang="en-US" sz="3200" dirty="0" smtClean="0"/>
              <a:t>function</a:t>
            </a:r>
            <a:r>
              <a:rPr lang="en-US" sz="2000" dirty="0" smtClean="0"/>
              <a:t/>
            </a:r>
            <a:br>
              <a:rPr lang="en-US" sz="2000" dirty="0" smtClean="0"/>
            </a:br>
            <a:r>
              <a:rPr lang="en-US" sz="2000" dirty="0" smtClean="0"/>
              <a:t/>
            </a:r>
            <a:br>
              <a:rPr lang="en-US" sz="2000" dirty="0" smtClean="0"/>
            </a:br>
            <a:r>
              <a:rPr lang="en-US" sz="2400" dirty="0" smtClean="0"/>
              <a:t>- </a:t>
            </a:r>
            <a:r>
              <a:rPr lang="en-US" sz="2400" dirty="0"/>
              <a:t>Robert </a:t>
            </a:r>
            <a:r>
              <a:rPr lang="en-US" sz="2400" dirty="0" smtClean="0"/>
              <a:t>Metcalfe, </a:t>
            </a:r>
            <a:r>
              <a:rPr lang="en-US" sz="2400" dirty="0"/>
              <a:t>Simon </a:t>
            </a:r>
            <a:r>
              <a:rPr lang="en-US" sz="2400" dirty="0" smtClean="0"/>
              <a:t>Burgess, &amp; Steven Proud</a:t>
            </a:r>
            <a:r>
              <a:rPr lang="en-US" sz="2000" dirty="0" smtClean="0"/>
              <a:t/>
            </a:r>
            <a:br>
              <a:rPr lang="en-US" sz="2000" dirty="0" smtClean="0"/>
            </a:br>
            <a:r>
              <a:rPr lang="en-US" sz="2000" dirty="0" smtClean="0"/>
              <a:t/>
            </a:r>
            <a:br>
              <a:rPr lang="en-US" sz="2000" dirty="0" smtClean="0"/>
            </a:br>
            <a:r>
              <a:rPr lang="en-US" sz="2000" dirty="0"/>
              <a:t/>
            </a:r>
            <a:br>
              <a:rPr lang="en-US" sz="2000" dirty="0"/>
            </a:br>
            <a:r>
              <a:rPr lang="en-US" sz="2000" dirty="0"/>
              <a:t/>
            </a:r>
            <a:br>
              <a:rPr lang="en-US" sz="2000" dirty="0"/>
            </a:br>
            <a:r>
              <a:rPr lang="en-US" sz="2000" dirty="0" smtClean="0"/>
              <a:t>ECMT 677 | Referee Report | 11/18/13</a:t>
            </a:r>
            <a:endParaRPr lang="en-US" sz="2000" dirty="0"/>
          </a:p>
        </p:txBody>
      </p:sp>
      <p:sp>
        <p:nvSpPr>
          <p:cNvPr id="3" name="Subtitle 2"/>
          <p:cNvSpPr>
            <a:spLocks noGrp="1"/>
          </p:cNvSpPr>
          <p:nvPr>
            <p:ph type="subTitle" idx="1"/>
          </p:nvPr>
        </p:nvSpPr>
        <p:spPr>
          <a:xfrm>
            <a:off x="457200" y="4752108"/>
            <a:ext cx="6858000" cy="914400"/>
          </a:xfrm>
        </p:spPr>
        <p:txBody>
          <a:bodyPr/>
          <a:lstStyle/>
          <a:p>
            <a:r>
              <a:rPr lang="en-US" dirty="0" err="1" smtClean="0"/>
              <a:t>Xirong</a:t>
            </a:r>
            <a:r>
              <a:rPr lang="en-US" dirty="0" smtClean="0"/>
              <a:t> Chen</a:t>
            </a:r>
          </a:p>
          <a:p>
            <a:r>
              <a:rPr lang="en-US" dirty="0" smtClean="0"/>
              <a:t>Han “John” Park</a:t>
            </a:r>
            <a:endParaRPr lang="en-US" dirty="0"/>
          </a:p>
        </p:txBody>
      </p:sp>
    </p:spTree>
    <p:extLst>
      <p:ext uri="{BB962C8B-B14F-4D97-AF65-F5344CB8AC3E}">
        <p14:creationId xmlns:p14="http://schemas.microsoft.com/office/powerpoint/2010/main" val="39229251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Introduction</a:t>
            </a:r>
            <a:endParaRPr lang="en-US" dirty="0"/>
          </a:p>
        </p:txBody>
      </p:sp>
      <p:sp>
        <p:nvSpPr>
          <p:cNvPr id="6" name="Content Placeholder 5"/>
          <p:cNvSpPr>
            <a:spLocks noGrp="1"/>
          </p:cNvSpPr>
          <p:nvPr>
            <p:ph sz="quarter" idx="4"/>
          </p:nvPr>
        </p:nvSpPr>
        <p:spPr>
          <a:xfrm>
            <a:off x="685800" y="2209800"/>
            <a:ext cx="6553200" cy="4038600"/>
          </a:xfrm>
        </p:spPr>
        <p:txBody>
          <a:bodyPr/>
          <a:lstStyle/>
          <a:p>
            <a:endParaRPr lang="en-US" dirty="0" smtClean="0"/>
          </a:p>
          <a:p>
            <a:pPr marL="342900" indent="-342900">
              <a:buFont typeface="Arial" pitchFamily="34" charset="0"/>
              <a:buChar char="•"/>
            </a:pPr>
            <a:r>
              <a:rPr lang="en-US" dirty="0" smtClean="0"/>
              <a:t>Does </a:t>
            </a:r>
            <a:r>
              <a:rPr lang="en-US" dirty="0"/>
              <a:t>studying hard pay off?</a:t>
            </a:r>
            <a:endParaRPr lang="en-US" dirty="0" smtClean="0"/>
          </a:p>
          <a:p>
            <a:pPr marL="800100" lvl="1" indent="-342900"/>
            <a:r>
              <a:rPr lang="en-US" dirty="0" smtClean="0"/>
              <a:t>Why is this question important? </a:t>
            </a:r>
          </a:p>
          <a:p>
            <a:pPr marL="1485900" lvl="2" indent="-342900"/>
            <a:r>
              <a:rPr lang="en-US" dirty="0" smtClean="0"/>
              <a:t>Understanding </a:t>
            </a:r>
            <a:r>
              <a:rPr lang="en-US" dirty="0"/>
              <a:t>the factors of education production function. </a:t>
            </a:r>
            <a:endParaRPr lang="en-US" dirty="0" smtClean="0"/>
          </a:p>
          <a:p>
            <a:pPr marL="1943100" lvl="3" indent="-342900"/>
            <a:r>
              <a:rPr lang="en-US" dirty="0" smtClean="0"/>
              <a:t>Effort </a:t>
            </a:r>
            <a:r>
              <a:rPr lang="en-US" dirty="0"/>
              <a:t>in studying is one of the few factors </a:t>
            </a:r>
            <a:r>
              <a:rPr lang="en-US" dirty="0" smtClean="0"/>
              <a:t>under student’s </a:t>
            </a:r>
            <a:r>
              <a:rPr lang="en-US" dirty="0"/>
              <a:t>own control. </a:t>
            </a:r>
          </a:p>
          <a:p>
            <a:endParaRPr lang="en-US" dirty="0"/>
          </a:p>
        </p:txBody>
      </p:sp>
      <p:sp>
        <p:nvSpPr>
          <p:cNvPr id="3" name="TextBox 2"/>
          <p:cNvSpPr txBox="1"/>
          <p:nvPr/>
        </p:nvSpPr>
        <p:spPr>
          <a:xfrm>
            <a:off x="990600" y="1676400"/>
            <a:ext cx="4524828" cy="461665"/>
          </a:xfrm>
          <a:prstGeom prst="rect">
            <a:avLst/>
          </a:prstGeom>
          <a:noFill/>
        </p:spPr>
        <p:txBody>
          <a:bodyPr wrap="none" rtlCol="0">
            <a:spAutoFit/>
          </a:bodyPr>
          <a:lstStyle/>
          <a:p>
            <a:r>
              <a:rPr lang="en-US" sz="2400" b="1" dirty="0" smtClean="0">
                <a:latin typeface="+mj-lt"/>
              </a:rPr>
              <a:t>(1) RESEARCH QEUSTION</a:t>
            </a:r>
            <a:endParaRPr lang="en-US" sz="2400" b="1" dirty="0">
              <a:latin typeface="+mj-lt"/>
            </a:endParaRPr>
          </a:p>
        </p:txBody>
      </p:sp>
    </p:spTree>
    <p:extLst>
      <p:ext uri="{BB962C8B-B14F-4D97-AF65-F5344CB8AC3E}">
        <p14:creationId xmlns:p14="http://schemas.microsoft.com/office/powerpoint/2010/main" val="8152525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90600" y="1676400"/>
            <a:ext cx="3182923" cy="461665"/>
          </a:xfrm>
          <a:prstGeom prst="rect">
            <a:avLst/>
          </a:prstGeom>
          <a:noFill/>
        </p:spPr>
        <p:txBody>
          <a:bodyPr wrap="none" rtlCol="0">
            <a:spAutoFit/>
          </a:bodyPr>
          <a:lstStyle/>
          <a:p>
            <a:r>
              <a:rPr lang="en-US" sz="2400" b="1" dirty="0" smtClean="0">
                <a:latin typeface="+mj-lt"/>
              </a:rPr>
              <a:t>(2) BACKGROUND</a:t>
            </a:r>
            <a:endParaRPr lang="en-US" sz="2400" b="1" dirty="0">
              <a:latin typeface="+mj-lt"/>
            </a:endParaRPr>
          </a:p>
        </p:txBody>
      </p:sp>
      <p:sp>
        <p:nvSpPr>
          <p:cNvPr id="3" name="Title 2"/>
          <p:cNvSpPr>
            <a:spLocks noGrp="1"/>
          </p:cNvSpPr>
          <p:nvPr>
            <p:ph type="title"/>
          </p:nvPr>
        </p:nvSpPr>
        <p:spPr/>
        <p:txBody>
          <a:bodyPr/>
          <a:lstStyle/>
          <a:p>
            <a:r>
              <a:rPr lang="en-US" dirty="0" smtClean="0"/>
              <a:t>1. introduction</a:t>
            </a:r>
            <a:endParaRPr lang="en-US" dirty="0"/>
          </a:p>
        </p:txBody>
      </p:sp>
      <p:sp>
        <p:nvSpPr>
          <p:cNvPr id="8" name="Content Placeholder 5"/>
          <p:cNvSpPr>
            <a:spLocks noGrp="1"/>
          </p:cNvSpPr>
          <p:nvPr>
            <p:ph sz="quarter" idx="4"/>
          </p:nvPr>
        </p:nvSpPr>
        <p:spPr>
          <a:xfrm>
            <a:off x="685800" y="2209800"/>
            <a:ext cx="6553200" cy="4038600"/>
          </a:xfrm>
        </p:spPr>
        <p:txBody>
          <a:bodyPr>
            <a:normAutofit/>
          </a:bodyPr>
          <a:lstStyle/>
          <a:p>
            <a:endParaRPr lang="en-US" dirty="0" smtClean="0"/>
          </a:p>
          <a:p>
            <a:pPr marL="342900" indent="-342900">
              <a:buFont typeface="Arial" pitchFamily="34" charset="0"/>
              <a:buChar char="•"/>
            </a:pPr>
            <a:r>
              <a:rPr lang="en-US" dirty="0" smtClean="0"/>
              <a:t>Compulsory Education in England</a:t>
            </a:r>
          </a:p>
          <a:p>
            <a:pPr marL="800100" lvl="1" indent="-342900"/>
            <a:r>
              <a:rPr lang="en-US" dirty="0" smtClean="0"/>
              <a:t>Key Stage 1 (KS1) : age 5 – age 7</a:t>
            </a:r>
          </a:p>
          <a:p>
            <a:pPr marL="800100" lvl="1" indent="-342900"/>
            <a:r>
              <a:rPr lang="en-US" dirty="0" smtClean="0">
                <a:solidFill>
                  <a:schemeClr val="accent5">
                    <a:lumMod val="50000"/>
                  </a:schemeClr>
                </a:solidFill>
              </a:rPr>
              <a:t>Key Stage 2 (KS2) : age 7 – age11</a:t>
            </a:r>
          </a:p>
          <a:p>
            <a:pPr marL="800100" lvl="1" indent="-342900"/>
            <a:r>
              <a:rPr lang="en-US" dirty="0" smtClean="0"/>
              <a:t>Key Stage 3 (KS3) : age 11 – age 14</a:t>
            </a:r>
          </a:p>
          <a:p>
            <a:pPr marL="800100" lvl="1" indent="-342900"/>
            <a:r>
              <a:rPr lang="en-US" dirty="0" smtClean="0">
                <a:solidFill>
                  <a:srgbClr val="FF0000"/>
                </a:solidFill>
              </a:rPr>
              <a:t>Key Stage 4 (KS4) : age 14 - age 16</a:t>
            </a:r>
          </a:p>
          <a:p>
            <a:pPr marL="342900" indent="-342900">
              <a:buFont typeface="Arial" pitchFamily="34" charset="0"/>
              <a:buChar char="•"/>
            </a:pPr>
            <a:r>
              <a:rPr lang="en-US" dirty="0" smtClean="0"/>
              <a:t>The KS4 exams at age 16 are the high stakes examinations (</a:t>
            </a:r>
            <a:r>
              <a:rPr lang="en-US" dirty="0" smtClean="0">
                <a:solidFill>
                  <a:srgbClr val="FF0000"/>
                </a:solidFill>
              </a:rPr>
              <a:t>GCSEs</a:t>
            </a:r>
            <a:r>
              <a:rPr lang="en-US" dirty="0" smtClean="0"/>
              <a:t>)</a:t>
            </a:r>
          </a:p>
          <a:p>
            <a:pPr marL="800100" lvl="1" indent="-342900"/>
            <a:r>
              <a:rPr lang="en-US" dirty="0" smtClean="0"/>
              <a:t>Crucial for continuing in school or looking for jobs</a:t>
            </a:r>
            <a:endParaRPr lang="en-US" dirty="0"/>
          </a:p>
          <a:p>
            <a:endParaRPr lang="en-US" dirty="0"/>
          </a:p>
        </p:txBody>
      </p:sp>
    </p:spTree>
    <p:extLst>
      <p:ext uri="{BB962C8B-B14F-4D97-AF65-F5344CB8AC3E}">
        <p14:creationId xmlns:p14="http://schemas.microsoft.com/office/powerpoint/2010/main" val="37830269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90600" y="1676400"/>
            <a:ext cx="3182923" cy="461665"/>
          </a:xfrm>
          <a:prstGeom prst="rect">
            <a:avLst/>
          </a:prstGeom>
          <a:noFill/>
        </p:spPr>
        <p:txBody>
          <a:bodyPr wrap="none" rtlCol="0">
            <a:spAutoFit/>
          </a:bodyPr>
          <a:lstStyle/>
          <a:p>
            <a:r>
              <a:rPr lang="en-US" sz="2400" b="1" dirty="0" smtClean="0">
                <a:latin typeface="+mj-lt"/>
              </a:rPr>
              <a:t>(2) BACKGROUND</a:t>
            </a:r>
            <a:endParaRPr lang="en-US" sz="2400" b="1" dirty="0">
              <a:latin typeface="+mj-lt"/>
            </a:endParaRPr>
          </a:p>
        </p:txBody>
      </p:sp>
      <p:sp>
        <p:nvSpPr>
          <p:cNvPr id="3" name="Title 2"/>
          <p:cNvSpPr>
            <a:spLocks noGrp="1"/>
          </p:cNvSpPr>
          <p:nvPr>
            <p:ph type="title"/>
          </p:nvPr>
        </p:nvSpPr>
        <p:spPr/>
        <p:txBody>
          <a:bodyPr/>
          <a:lstStyle/>
          <a:p>
            <a:r>
              <a:rPr lang="en-US" dirty="0" smtClean="0"/>
              <a:t>1. </a:t>
            </a:r>
            <a:r>
              <a:rPr lang="en-US" dirty="0" err="1" smtClean="0"/>
              <a:t>iNTRODUCTION</a:t>
            </a:r>
            <a:endParaRPr lang="en-US" dirty="0"/>
          </a:p>
        </p:txBody>
      </p:sp>
      <p:sp>
        <p:nvSpPr>
          <p:cNvPr id="8" name="Content Placeholder 5"/>
          <p:cNvSpPr>
            <a:spLocks noGrp="1"/>
          </p:cNvSpPr>
          <p:nvPr>
            <p:ph sz="quarter" idx="4"/>
          </p:nvPr>
        </p:nvSpPr>
        <p:spPr>
          <a:xfrm>
            <a:off x="685800" y="2209800"/>
            <a:ext cx="8001000" cy="4038600"/>
          </a:xfrm>
        </p:spPr>
        <p:txBody>
          <a:bodyPr>
            <a:normAutofit/>
          </a:bodyPr>
          <a:lstStyle/>
          <a:p>
            <a:endParaRPr lang="en-US" dirty="0" smtClean="0"/>
          </a:p>
          <a:p>
            <a:pPr marL="342900" indent="-342900">
              <a:buFont typeface="Arial" pitchFamily="34" charset="0"/>
              <a:buChar char="•"/>
            </a:pPr>
            <a:r>
              <a:rPr lang="en-US" dirty="0" smtClean="0"/>
              <a:t>The Soccer tournaments</a:t>
            </a:r>
            <a:endParaRPr lang="en-US" dirty="0" smtClean="0"/>
          </a:p>
          <a:p>
            <a:pPr marL="800100" lvl="1" indent="-342900"/>
            <a:r>
              <a:rPr lang="en-US" dirty="0" smtClean="0"/>
              <a:t>The world’s two most widely watched international soccer </a:t>
            </a:r>
            <a:r>
              <a:rPr lang="en-US" dirty="0"/>
              <a:t>tournaments overlap with the exam period in schools in England.</a:t>
            </a:r>
          </a:p>
          <a:p>
            <a:pPr marL="1485900" lvl="2" indent="-342900"/>
            <a:r>
              <a:rPr lang="en-US" dirty="0" smtClean="0"/>
              <a:t>The FIFA World Cup (2002 &amp; 2006) </a:t>
            </a:r>
          </a:p>
          <a:p>
            <a:pPr marL="1485900" lvl="2" indent="-342900"/>
            <a:r>
              <a:rPr lang="en-US" dirty="0" smtClean="0"/>
              <a:t>The UEFA European Championship (2004 &amp; 2008)</a:t>
            </a:r>
          </a:p>
          <a:p>
            <a:pPr marL="800100" lvl="1" indent="-342900"/>
            <a:r>
              <a:rPr lang="en-US" dirty="0" smtClean="0"/>
              <a:t>England is a nation known to be obsessed with soccer</a:t>
            </a:r>
          </a:p>
          <a:p>
            <a:pPr marL="800100" lvl="1" indent="-342900"/>
            <a:r>
              <a:rPr lang="en-US" dirty="0" smtClean="0"/>
              <a:t>The English national soccer team were qualified in 2002, 2004, 2006, but not in 2008</a:t>
            </a:r>
          </a:p>
          <a:p>
            <a:pPr marL="800100" lvl="1" indent="-342900"/>
            <a:endParaRPr lang="en-US" dirty="0" smtClean="0"/>
          </a:p>
          <a:p>
            <a:pPr marL="342900" indent="-342900">
              <a:buFont typeface="Arial" pitchFamily="34" charset="0"/>
              <a:buChar char="•"/>
            </a:pPr>
            <a:endParaRPr lang="en-US" dirty="0"/>
          </a:p>
          <a:p>
            <a:endParaRPr lang="en-US" dirty="0"/>
          </a:p>
        </p:txBody>
      </p:sp>
    </p:spTree>
    <p:extLst>
      <p:ext uri="{BB962C8B-B14F-4D97-AF65-F5344CB8AC3E}">
        <p14:creationId xmlns:p14="http://schemas.microsoft.com/office/powerpoint/2010/main" val="37773670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a:t>
            </a:r>
            <a:r>
              <a:rPr lang="en-US" dirty="0" smtClean="0"/>
              <a:t>introduction</a:t>
            </a:r>
            <a:endParaRPr lang="en-US" dirty="0"/>
          </a:p>
        </p:txBody>
      </p:sp>
      <p:sp>
        <p:nvSpPr>
          <p:cNvPr id="6" name="Content Placeholder 5"/>
          <p:cNvSpPr>
            <a:spLocks noGrp="1"/>
          </p:cNvSpPr>
          <p:nvPr>
            <p:ph sz="quarter" idx="4"/>
          </p:nvPr>
        </p:nvSpPr>
        <p:spPr>
          <a:xfrm>
            <a:off x="685800" y="2590800"/>
            <a:ext cx="6553200" cy="3657600"/>
          </a:xfrm>
        </p:spPr>
        <p:txBody>
          <a:bodyPr/>
          <a:lstStyle/>
          <a:p>
            <a:pPr marL="342900" indent="-342900">
              <a:buFont typeface="Arial" panose="020B0604020202020204" pitchFamily="34" charset="0"/>
              <a:buChar char="•"/>
            </a:pPr>
            <a:r>
              <a:rPr lang="en-US" dirty="0" err="1" smtClean="0"/>
              <a:t>Lindo</a:t>
            </a:r>
            <a:r>
              <a:rPr lang="en-US" dirty="0" smtClean="0"/>
              <a:t> (2012)</a:t>
            </a:r>
          </a:p>
          <a:p>
            <a:pPr marL="742950" lvl="1" indent="-285750"/>
            <a:r>
              <a:rPr lang="en-US" sz="1600" dirty="0" smtClean="0"/>
              <a:t>How college students are impacted in their exams when college football team is doing well. </a:t>
            </a:r>
          </a:p>
          <a:p>
            <a:pPr marL="342900" indent="-342900">
              <a:buFont typeface="Arial" panose="020B0604020202020204" pitchFamily="34" charset="0"/>
              <a:buChar char="•"/>
            </a:pPr>
            <a:r>
              <a:rPr lang="en-US" b="1" dirty="0" err="1" smtClean="0"/>
              <a:t>Stinebricker</a:t>
            </a:r>
            <a:r>
              <a:rPr lang="en-US" dirty="0" smtClean="0"/>
              <a:t> (2008)</a:t>
            </a:r>
          </a:p>
          <a:p>
            <a:pPr marL="800100" lvl="1" indent="-342900"/>
            <a:r>
              <a:rPr lang="en-US" sz="1600" b="0" dirty="0" smtClean="0"/>
              <a:t>Rooming with the video game funs will reduce the studying time.</a:t>
            </a:r>
            <a:endParaRPr lang="en-US" sz="1600" b="0" dirty="0" smtClean="0"/>
          </a:p>
          <a:p>
            <a:pPr marL="342900" indent="-342900">
              <a:buFontTx/>
              <a:buChar char="-"/>
            </a:pPr>
            <a:endParaRPr lang="en-US" dirty="0"/>
          </a:p>
        </p:txBody>
      </p:sp>
      <p:sp>
        <p:nvSpPr>
          <p:cNvPr id="5" name="TextBox 4"/>
          <p:cNvSpPr txBox="1"/>
          <p:nvPr/>
        </p:nvSpPr>
        <p:spPr>
          <a:xfrm>
            <a:off x="990600" y="1676400"/>
            <a:ext cx="4355359" cy="461665"/>
          </a:xfrm>
          <a:prstGeom prst="rect">
            <a:avLst/>
          </a:prstGeom>
          <a:noFill/>
        </p:spPr>
        <p:txBody>
          <a:bodyPr wrap="none" rtlCol="0">
            <a:spAutoFit/>
          </a:bodyPr>
          <a:lstStyle/>
          <a:p>
            <a:r>
              <a:rPr lang="en-US" sz="2400" b="1" dirty="0" smtClean="0">
                <a:latin typeface="+mj-lt"/>
              </a:rPr>
              <a:t>(3) LITERATURE REVIEW</a:t>
            </a:r>
            <a:endParaRPr lang="en-US" sz="2400" b="1" dirty="0">
              <a:latin typeface="+mj-lt"/>
            </a:endParaRPr>
          </a:p>
        </p:txBody>
      </p:sp>
    </p:spTree>
    <p:extLst>
      <p:ext uri="{BB962C8B-B14F-4D97-AF65-F5344CB8AC3E}">
        <p14:creationId xmlns:p14="http://schemas.microsoft.com/office/powerpoint/2010/main" val="9595583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718"/>
            <a:ext cx="8686800" cy="1371600"/>
          </a:xfrm>
        </p:spPr>
        <p:txBody>
          <a:bodyPr>
            <a:normAutofit/>
          </a:bodyPr>
          <a:lstStyle/>
          <a:p>
            <a:r>
              <a:rPr lang="en-US" sz="2600" dirty="0" smtClean="0"/>
              <a:t>2. Identification assumptions </a:t>
            </a:r>
            <a:r>
              <a:rPr lang="en-US" sz="2600" dirty="0"/>
              <a:t>&amp; strategy </a:t>
            </a:r>
          </a:p>
        </p:txBody>
      </p:sp>
      <p:sp>
        <p:nvSpPr>
          <p:cNvPr id="6" name="Content Placeholder 5"/>
          <p:cNvSpPr>
            <a:spLocks noGrp="1"/>
          </p:cNvSpPr>
          <p:nvPr>
            <p:ph sz="quarter" idx="4"/>
          </p:nvPr>
        </p:nvSpPr>
        <p:spPr>
          <a:xfrm>
            <a:off x="685800" y="2286000"/>
            <a:ext cx="7696200" cy="3962400"/>
          </a:xfrm>
        </p:spPr>
        <p:txBody>
          <a:bodyPr>
            <a:normAutofit/>
          </a:bodyPr>
          <a:lstStyle/>
          <a:p>
            <a:pPr marL="342900" indent="-342900">
              <a:buFont typeface="Arial" pitchFamily="34" charset="0"/>
              <a:buChar char="•"/>
            </a:pPr>
            <a:r>
              <a:rPr lang="en-US" dirty="0" smtClean="0"/>
              <a:t>The </a:t>
            </a:r>
            <a:r>
              <a:rPr lang="en-US" dirty="0"/>
              <a:t>increasing leisure value will decrease the effort on study, and the soccer tournaments, defined as the treatment, substantially raise the leisure </a:t>
            </a:r>
            <a:r>
              <a:rPr lang="en-US" dirty="0" smtClean="0"/>
              <a:t>time value </a:t>
            </a:r>
            <a:r>
              <a:rPr lang="en-US" dirty="0"/>
              <a:t>during the overlap time of exams and tournaments. </a:t>
            </a:r>
            <a:endParaRPr lang="en-US" dirty="0" smtClean="0"/>
          </a:p>
          <a:p>
            <a:endParaRPr lang="en-US" dirty="0" smtClean="0"/>
          </a:p>
        </p:txBody>
      </p:sp>
      <p:sp>
        <p:nvSpPr>
          <p:cNvPr id="5" name="TextBox 4"/>
          <p:cNvSpPr txBox="1"/>
          <p:nvPr/>
        </p:nvSpPr>
        <p:spPr>
          <a:xfrm>
            <a:off x="990600" y="1676400"/>
            <a:ext cx="3042821" cy="461665"/>
          </a:xfrm>
          <a:prstGeom prst="rect">
            <a:avLst/>
          </a:prstGeom>
          <a:noFill/>
        </p:spPr>
        <p:txBody>
          <a:bodyPr wrap="none" rtlCol="0">
            <a:spAutoFit/>
          </a:bodyPr>
          <a:lstStyle/>
          <a:p>
            <a:r>
              <a:rPr lang="en-US" sz="2400" b="1" dirty="0" smtClean="0">
                <a:latin typeface="+mj-lt"/>
              </a:rPr>
              <a:t>(1) ASSUMPTION</a:t>
            </a:r>
            <a:endParaRPr lang="en-US" sz="2400" b="1" dirty="0">
              <a:latin typeface="+mj-lt"/>
            </a:endParaRPr>
          </a:p>
        </p:txBody>
      </p:sp>
    </p:spTree>
    <p:extLst>
      <p:ext uri="{BB962C8B-B14F-4D97-AF65-F5344CB8AC3E}">
        <p14:creationId xmlns:p14="http://schemas.microsoft.com/office/powerpoint/2010/main" val="40697684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4"/>
          </p:nvPr>
        </p:nvSpPr>
        <p:spPr>
          <a:xfrm>
            <a:off x="685800" y="2667000"/>
            <a:ext cx="7543800" cy="3581400"/>
          </a:xfrm>
        </p:spPr>
        <p:txBody>
          <a:bodyPr>
            <a:normAutofit/>
          </a:bodyPr>
          <a:lstStyle/>
          <a:p>
            <a:pPr marL="342900" indent="-342900">
              <a:buFont typeface="Arial" pitchFamily="34" charset="0"/>
              <a:buChar char="•"/>
            </a:pPr>
            <a:r>
              <a:rPr lang="en-US" dirty="0" smtClean="0"/>
              <a:t>The authors used a sharp, exogenous, and repeated change in the value of leisure time to identify the impact of student effort on educational achievement. </a:t>
            </a:r>
          </a:p>
        </p:txBody>
      </p:sp>
      <p:sp>
        <p:nvSpPr>
          <p:cNvPr id="5" name="TextBox 4"/>
          <p:cNvSpPr txBox="1"/>
          <p:nvPr/>
        </p:nvSpPr>
        <p:spPr>
          <a:xfrm>
            <a:off x="990600" y="1676400"/>
            <a:ext cx="2576026" cy="461665"/>
          </a:xfrm>
          <a:prstGeom prst="rect">
            <a:avLst/>
          </a:prstGeom>
          <a:noFill/>
        </p:spPr>
        <p:txBody>
          <a:bodyPr wrap="none" rtlCol="0">
            <a:spAutoFit/>
          </a:bodyPr>
          <a:lstStyle/>
          <a:p>
            <a:r>
              <a:rPr lang="en-US" sz="2400" b="1" dirty="0" smtClean="0">
                <a:latin typeface="+mj-lt"/>
              </a:rPr>
              <a:t>(2) STRATEGY</a:t>
            </a:r>
            <a:endParaRPr lang="en-US" sz="2400" b="1" dirty="0">
              <a:latin typeface="+mj-lt"/>
            </a:endParaRPr>
          </a:p>
        </p:txBody>
      </p:sp>
      <p:sp>
        <p:nvSpPr>
          <p:cNvPr id="7" name="Title 1"/>
          <p:cNvSpPr>
            <a:spLocks noGrp="1"/>
          </p:cNvSpPr>
          <p:nvPr>
            <p:ph type="title"/>
          </p:nvPr>
        </p:nvSpPr>
        <p:spPr>
          <a:xfrm>
            <a:off x="457200" y="152718"/>
            <a:ext cx="8686800" cy="1371600"/>
          </a:xfrm>
        </p:spPr>
        <p:txBody>
          <a:bodyPr>
            <a:normAutofit/>
          </a:bodyPr>
          <a:lstStyle/>
          <a:p>
            <a:r>
              <a:rPr lang="en-US" sz="2600" dirty="0" smtClean="0"/>
              <a:t>2. Identification assumptions </a:t>
            </a:r>
            <a:r>
              <a:rPr lang="en-US" sz="2600" dirty="0"/>
              <a:t>&amp; strategy </a:t>
            </a:r>
          </a:p>
        </p:txBody>
      </p:sp>
    </p:spTree>
    <p:extLst>
      <p:ext uri="{BB962C8B-B14F-4D97-AF65-F5344CB8AC3E}">
        <p14:creationId xmlns:p14="http://schemas.microsoft.com/office/powerpoint/2010/main" val="33075006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data</a:t>
            </a:r>
            <a:endParaRPr lang="en-US" dirty="0"/>
          </a:p>
        </p:txBody>
      </p:sp>
      <p:sp>
        <p:nvSpPr>
          <p:cNvPr id="6" name="Content Placeholder 5"/>
          <p:cNvSpPr>
            <a:spLocks noGrp="1"/>
          </p:cNvSpPr>
          <p:nvPr>
            <p:ph sz="quarter" idx="4"/>
          </p:nvPr>
        </p:nvSpPr>
        <p:spPr>
          <a:xfrm>
            <a:off x="685800" y="2667000"/>
            <a:ext cx="8001000" cy="3581400"/>
          </a:xfrm>
        </p:spPr>
        <p:txBody>
          <a:bodyPr>
            <a:normAutofit/>
          </a:bodyPr>
          <a:lstStyle/>
          <a:p>
            <a:pPr marL="342900" indent="-342900">
              <a:buFont typeface="Arial" pitchFamily="34" charset="0"/>
              <a:buChar char="•"/>
            </a:pPr>
            <a:r>
              <a:rPr lang="en-US" dirty="0" smtClean="0"/>
              <a:t>Timing of soccer tournaments and exams</a:t>
            </a:r>
          </a:p>
          <a:p>
            <a:pPr marL="800100" lvl="1" indent="-342900"/>
            <a:r>
              <a:rPr lang="en-US" dirty="0" smtClean="0"/>
              <a:t>Appendix Table 1 &amp; Table 2 in the next slides</a:t>
            </a:r>
          </a:p>
          <a:p>
            <a:pPr marL="342900" indent="-342900">
              <a:buFont typeface="Arial" pitchFamily="34" charset="0"/>
              <a:buChar char="•"/>
            </a:pPr>
            <a:r>
              <a:rPr lang="en-US" dirty="0" smtClean="0"/>
              <a:t>Pupil data</a:t>
            </a:r>
          </a:p>
          <a:p>
            <a:pPr marL="800100" lvl="1" indent="-342900"/>
            <a:r>
              <a:rPr lang="en-US" dirty="0" smtClean="0"/>
              <a:t>National Pupil Database (NPD; state-maintained system) available to researchers by the Department for Education</a:t>
            </a:r>
          </a:p>
          <a:p>
            <a:pPr marL="342900" indent="-342900">
              <a:buFont typeface="Arial" pitchFamily="34" charset="0"/>
              <a:buChar char="•"/>
            </a:pPr>
            <a:r>
              <a:rPr lang="en-US" dirty="0" smtClean="0"/>
              <a:t>Television viewing data</a:t>
            </a:r>
          </a:p>
          <a:p>
            <a:pPr marL="800100" lvl="1" indent="-342900"/>
            <a:r>
              <a:rPr lang="en-US" dirty="0" smtClean="0"/>
              <a:t>The Broadcasters’ Audience Research Board (</a:t>
            </a:r>
            <a:r>
              <a:rPr lang="en-US" dirty="0" smtClean="0">
                <a:hlinkClick r:id="rId2"/>
              </a:rPr>
              <a:t>www.barb.co.uk</a:t>
            </a:r>
            <a:r>
              <a:rPr lang="en-US" dirty="0" smtClean="0"/>
              <a:t>) provides weekly data on the viewing figures of the top 30 </a:t>
            </a:r>
            <a:r>
              <a:rPr lang="en-US" dirty="0" err="1" smtClean="0"/>
              <a:t>programes</a:t>
            </a:r>
            <a:r>
              <a:rPr lang="en-US" dirty="0" smtClean="0"/>
              <a:t> per channel.</a:t>
            </a:r>
            <a:endParaRPr lang="en-US" dirty="0"/>
          </a:p>
          <a:p>
            <a:endParaRPr lang="en-US" dirty="0"/>
          </a:p>
        </p:txBody>
      </p:sp>
      <p:sp>
        <p:nvSpPr>
          <p:cNvPr id="4" name="TextBox 3"/>
          <p:cNvSpPr txBox="1"/>
          <p:nvPr/>
        </p:nvSpPr>
        <p:spPr>
          <a:xfrm>
            <a:off x="990600" y="1676400"/>
            <a:ext cx="2848087" cy="461665"/>
          </a:xfrm>
          <a:prstGeom prst="rect">
            <a:avLst/>
          </a:prstGeom>
          <a:noFill/>
        </p:spPr>
        <p:txBody>
          <a:bodyPr wrap="none" rtlCol="0">
            <a:spAutoFit/>
          </a:bodyPr>
          <a:lstStyle/>
          <a:p>
            <a:r>
              <a:rPr lang="en-US" sz="2400" b="1" dirty="0" smtClean="0">
                <a:latin typeface="+mj-lt"/>
              </a:rPr>
              <a:t>(1) RESOURCES</a:t>
            </a:r>
            <a:endParaRPr lang="en-US" sz="2400" b="1" dirty="0">
              <a:latin typeface="+mj-lt"/>
            </a:endParaRPr>
          </a:p>
        </p:txBody>
      </p:sp>
    </p:spTree>
    <p:extLst>
      <p:ext uri="{BB962C8B-B14F-4D97-AF65-F5344CB8AC3E}">
        <p14:creationId xmlns:p14="http://schemas.microsoft.com/office/powerpoint/2010/main" val="15946456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23" y="2138065"/>
            <a:ext cx="8710957" cy="4091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990600" y="1676400"/>
            <a:ext cx="7543668" cy="461665"/>
          </a:xfrm>
          <a:prstGeom prst="rect">
            <a:avLst/>
          </a:prstGeom>
          <a:noFill/>
        </p:spPr>
        <p:txBody>
          <a:bodyPr wrap="none" rtlCol="0">
            <a:spAutoFit/>
          </a:bodyPr>
          <a:lstStyle/>
          <a:p>
            <a:r>
              <a:rPr lang="en-US" sz="2400" b="1" dirty="0" smtClean="0">
                <a:latin typeface="+mj-lt"/>
              </a:rPr>
              <a:t>* Timing </a:t>
            </a:r>
            <a:r>
              <a:rPr lang="en-US" sz="2400" b="1" dirty="0">
                <a:latin typeface="+mj-lt"/>
              </a:rPr>
              <a:t>of soccer tournaments and exams</a:t>
            </a:r>
          </a:p>
        </p:txBody>
      </p:sp>
      <p:sp>
        <p:nvSpPr>
          <p:cNvPr id="3" name="Title 2"/>
          <p:cNvSpPr>
            <a:spLocks noGrp="1"/>
          </p:cNvSpPr>
          <p:nvPr>
            <p:ph type="title"/>
          </p:nvPr>
        </p:nvSpPr>
        <p:spPr/>
        <p:txBody>
          <a:bodyPr/>
          <a:lstStyle/>
          <a:p>
            <a:r>
              <a:rPr lang="en-US" dirty="0" smtClean="0"/>
              <a:t>3. DATA</a:t>
            </a:r>
            <a:endParaRPr lang="en-US" dirty="0"/>
          </a:p>
        </p:txBody>
      </p:sp>
    </p:spTree>
    <p:extLst>
      <p:ext uri="{BB962C8B-B14F-4D97-AF65-F5344CB8AC3E}">
        <p14:creationId xmlns:p14="http://schemas.microsoft.com/office/powerpoint/2010/main" val="5396096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362200"/>
            <a:ext cx="7924800" cy="4060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990600" y="1676400"/>
            <a:ext cx="7474739" cy="461665"/>
          </a:xfrm>
          <a:prstGeom prst="rect">
            <a:avLst/>
          </a:prstGeom>
          <a:noFill/>
        </p:spPr>
        <p:txBody>
          <a:bodyPr wrap="none" rtlCol="0">
            <a:spAutoFit/>
          </a:bodyPr>
          <a:lstStyle/>
          <a:p>
            <a:r>
              <a:rPr lang="en-US" sz="2400" b="1" dirty="0" smtClean="0">
                <a:latin typeface="+mj-lt"/>
              </a:rPr>
              <a:t>* Timing </a:t>
            </a:r>
            <a:r>
              <a:rPr lang="en-US" sz="2400" b="1" dirty="0">
                <a:latin typeface="+mj-lt"/>
              </a:rPr>
              <a:t>of soccer tournaments and exams</a:t>
            </a:r>
          </a:p>
        </p:txBody>
      </p:sp>
      <p:sp>
        <p:nvSpPr>
          <p:cNvPr id="3" name="Title 2"/>
          <p:cNvSpPr>
            <a:spLocks noGrp="1"/>
          </p:cNvSpPr>
          <p:nvPr>
            <p:ph type="title"/>
          </p:nvPr>
        </p:nvSpPr>
        <p:spPr/>
        <p:txBody>
          <a:bodyPr/>
          <a:lstStyle/>
          <a:p>
            <a:r>
              <a:rPr lang="en-US" dirty="0" smtClean="0"/>
              <a:t>3. data</a:t>
            </a:r>
            <a:endParaRPr lang="en-US" dirty="0"/>
          </a:p>
        </p:txBody>
      </p:sp>
    </p:spTree>
    <p:extLst>
      <p:ext uri="{BB962C8B-B14F-4D97-AF65-F5344CB8AC3E}">
        <p14:creationId xmlns:p14="http://schemas.microsoft.com/office/powerpoint/2010/main" val="42812798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data</a:t>
            </a:r>
            <a:endParaRPr lang="en-US" dirty="0"/>
          </a:p>
        </p:txBody>
      </p:sp>
      <p:sp>
        <p:nvSpPr>
          <p:cNvPr id="6" name="Content Placeholder 5"/>
          <p:cNvSpPr>
            <a:spLocks noGrp="1"/>
          </p:cNvSpPr>
          <p:nvPr>
            <p:ph sz="quarter" idx="4"/>
          </p:nvPr>
        </p:nvSpPr>
        <p:spPr>
          <a:xfrm>
            <a:off x="685800" y="2438400"/>
            <a:ext cx="7772400" cy="3810000"/>
          </a:xfrm>
        </p:spPr>
        <p:txBody>
          <a:bodyPr/>
          <a:lstStyle/>
          <a:p>
            <a:pPr marL="342900" indent="-342900">
              <a:buFont typeface="Arial" pitchFamily="34" charset="0"/>
              <a:buChar char="•"/>
            </a:pPr>
            <a:r>
              <a:rPr lang="en-US" dirty="0" smtClean="0"/>
              <a:t>The authors implemented a difference-in-difference framework</a:t>
            </a:r>
          </a:p>
          <a:p>
            <a:pPr marL="800100" lvl="1" indent="-342900"/>
            <a:r>
              <a:rPr lang="en-US" dirty="0" smtClean="0"/>
              <a:t>to compare within-student variation in performance during the exam period between tournament and non-tournament years using seven years (</a:t>
            </a:r>
            <a:r>
              <a:rPr lang="en-US" dirty="0" smtClean="0"/>
              <a:t>2002-2008</a:t>
            </a:r>
            <a:r>
              <a:rPr lang="en-US" dirty="0" smtClean="0"/>
              <a:t>) of student-subject data on almost all the students in England.</a:t>
            </a:r>
          </a:p>
          <a:p>
            <a:pPr marL="800100" lvl="1" indent="-342900"/>
            <a:r>
              <a:rPr lang="en-US" dirty="0" smtClean="0"/>
              <a:t>Non-tournament years are control years.</a:t>
            </a:r>
          </a:p>
          <a:p>
            <a:pPr marL="800100" lvl="1" indent="-342900"/>
            <a:r>
              <a:rPr lang="en-US" dirty="0" smtClean="0"/>
              <a:t>Tournament years are treatment years.</a:t>
            </a:r>
            <a:endParaRPr lang="en-US" dirty="0"/>
          </a:p>
        </p:txBody>
      </p:sp>
      <p:sp>
        <p:nvSpPr>
          <p:cNvPr id="4" name="TextBox 3"/>
          <p:cNvSpPr txBox="1"/>
          <p:nvPr/>
        </p:nvSpPr>
        <p:spPr>
          <a:xfrm>
            <a:off x="990600" y="1676400"/>
            <a:ext cx="2885405" cy="461665"/>
          </a:xfrm>
          <a:prstGeom prst="rect">
            <a:avLst/>
          </a:prstGeom>
          <a:noFill/>
        </p:spPr>
        <p:txBody>
          <a:bodyPr wrap="none" rtlCol="0">
            <a:spAutoFit/>
          </a:bodyPr>
          <a:lstStyle/>
          <a:p>
            <a:r>
              <a:rPr lang="en-US" sz="2400" b="1" dirty="0" smtClean="0">
                <a:latin typeface="+mj-lt"/>
              </a:rPr>
              <a:t>(2) ESTIMATION</a:t>
            </a:r>
            <a:endParaRPr lang="en-US" sz="2400" b="1" dirty="0">
              <a:latin typeface="+mj-lt"/>
            </a:endParaRPr>
          </a:p>
        </p:txBody>
      </p:sp>
    </p:spTree>
    <p:extLst>
      <p:ext uri="{BB962C8B-B14F-4D97-AF65-F5344CB8AC3E}">
        <p14:creationId xmlns:p14="http://schemas.microsoft.com/office/powerpoint/2010/main" val="34117981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718"/>
            <a:ext cx="8001000" cy="685482"/>
          </a:xfrm>
        </p:spPr>
        <p:txBody>
          <a:bodyPr/>
          <a:lstStyle/>
          <a:p>
            <a:r>
              <a:rPr lang="en-US" dirty="0" smtClean="0"/>
              <a:t>4. results</a:t>
            </a:r>
            <a:endParaRPr lang="en-US" dirty="0"/>
          </a:p>
        </p:txBody>
      </p:sp>
      <p:sp>
        <p:nvSpPr>
          <p:cNvPr id="3" name="Text Placeholder 2"/>
          <p:cNvSpPr>
            <a:spLocks noGrp="1"/>
          </p:cNvSpPr>
          <p:nvPr>
            <p:ph type="body" idx="1"/>
          </p:nvPr>
        </p:nvSpPr>
        <p:spPr>
          <a:xfrm>
            <a:off x="228600" y="963168"/>
            <a:ext cx="4690872" cy="639762"/>
          </a:xfrm>
        </p:spPr>
        <p:txBody>
          <a:bodyPr/>
          <a:lstStyle/>
          <a:p>
            <a:r>
              <a:rPr lang="en-US" dirty="0" smtClean="0"/>
              <a:t>Group Diff-in-diff</a:t>
            </a:r>
            <a:endParaRPr lang="en-US" dirty="0"/>
          </a:p>
        </p:txBody>
      </p:sp>
      <p:sp>
        <p:nvSpPr>
          <p:cNvPr id="5" name="Text Placeholder 4"/>
          <p:cNvSpPr>
            <a:spLocks noGrp="1"/>
          </p:cNvSpPr>
          <p:nvPr>
            <p:ph type="body" sz="quarter" idx="3"/>
          </p:nvPr>
        </p:nvSpPr>
        <p:spPr>
          <a:xfrm>
            <a:off x="6553200" y="838200"/>
            <a:ext cx="2362200" cy="639762"/>
          </a:xfrm>
        </p:spPr>
        <p:txBody>
          <a:bodyPr/>
          <a:lstStyle/>
          <a:p>
            <a:r>
              <a:rPr lang="en-US" dirty="0" smtClean="0"/>
              <a:t>comments</a:t>
            </a:r>
            <a:endParaRPr lang="en-US" dirty="0"/>
          </a:p>
        </p:txBody>
      </p:sp>
      <p:pic>
        <p:nvPicPr>
          <p:cNvPr id="2050"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 y="1676400"/>
            <a:ext cx="6451071"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6"/>
          <p:cNvSpPr>
            <a:spLocks noGrp="1"/>
          </p:cNvSpPr>
          <p:nvPr>
            <p:ph sz="quarter" idx="4"/>
          </p:nvPr>
        </p:nvSpPr>
        <p:spPr>
          <a:xfrm>
            <a:off x="6172200" y="1600200"/>
            <a:ext cx="2819400" cy="4572000"/>
          </a:xfrm>
        </p:spPr>
        <p:txBody>
          <a:bodyPr>
            <a:normAutofit fontScale="70000" lnSpcReduction="20000"/>
          </a:bodyPr>
          <a:lstStyle/>
          <a:p>
            <a:pPr marL="342900" indent="-342900">
              <a:buFont typeface="Arial" pitchFamily="34" charset="0"/>
              <a:buChar char="•"/>
            </a:pPr>
            <a:r>
              <a:rPr lang="en-US" dirty="0" smtClean="0"/>
              <a:t>The average over all students in the group of their score in late exams in tournament years minus the mean score in early exams in tournament years, relative to the same calculation for non-tournament years.</a:t>
            </a:r>
          </a:p>
          <a:p>
            <a:pPr marL="342900" indent="-342900">
              <a:buFont typeface="Arial" pitchFamily="34" charset="0"/>
              <a:buChar char="•"/>
            </a:pPr>
            <a:r>
              <a:rPr lang="en-US" dirty="0" smtClean="0"/>
              <a:t>The pattern across groups show bigger effects for boys than girls, bigger effects for disadvantaged groups, and a u-shape in ability, with the least effect in the middle group.</a:t>
            </a:r>
            <a:endParaRPr lang="en-US" dirty="0"/>
          </a:p>
        </p:txBody>
      </p:sp>
    </p:spTree>
    <p:extLst>
      <p:ext uri="{BB962C8B-B14F-4D97-AF65-F5344CB8AC3E}">
        <p14:creationId xmlns:p14="http://schemas.microsoft.com/office/powerpoint/2010/main" val="15986011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718"/>
            <a:ext cx="8001000" cy="685482"/>
          </a:xfrm>
        </p:spPr>
        <p:txBody>
          <a:bodyPr/>
          <a:lstStyle/>
          <a:p>
            <a:r>
              <a:rPr lang="en-US" dirty="0" smtClean="0"/>
              <a:t>4. results</a:t>
            </a:r>
            <a:endParaRPr lang="en-US" dirty="0"/>
          </a:p>
        </p:txBody>
      </p:sp>
      <p:sp>
        <p:nvSpPr>
          <p:cNvPr id="3" name="Text Placeholder 2"/>
          <p:cNvSpPr>
            <a:spLocks noGrp="1"/>
          </p:cNvSpPr>
          <p:nvPr>
            <p:ph type="body" idx="1"/>
          </p:nvPr>
        </p:nvSpPr>
        <p:spPr>
          <a:xfrm>
            <a:off x="80816" y="886969"/>
            <a:ext cx="4690872" cy="639762"/>
          </a:xfrm>
        </p:spPr>
        <p:txBody>
          <a:bodyPr/>
          <a:lstStyle/>
          <a:p>
            <a:r>
              <a:rPr lang="en-US" dirty="0" smtClean="0"/>
              <a:t>Student*subject fixed effect regression</a:t>
            </a:r>
            <a:endParaRPr lang="en-US" dirty="0"/>
          </a:p>
        </p:txBody>
      </p:sp>
      <p:sp>
        <p:nvSpPr>
          <p:cNvPr id="5" name="Text Placeholder 4"/>
          <p:cNvSpPr>
            <a:spLocks noGrp="1"/>
          </p:cNvSpPr>
          <p:nvPr>
            <p:ph type="body" sz="quarter" idx="3"/>
          </p:nvPr>
        </p:nvSpPr>
        <p:spPr>
          <a:xfrm>
            <a:off x="6629400" y="990600"/>
            <a:ext cx="3291840" cy="639762"/>
          </a:xfrm>
        </p:spPr>
        <p:txBody>
          <a:bodyPr/>
          <a:lstStyle/>
          <a:p>
            <a:r>
              <a:rPr lang="en-US" dirty="0" smtClean="0"/>
              <a:t>comments</a:t>
            </a:r>
            <a:endParaRPr lang="en-US" dirty="0"/>
          </a:p>
        </p:txBody>
      </p:sp>
      <p:pic>
        <p:nvPicPr>
          <p:cNvPr id="9" name="Picture 3"/>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0" y="1676401"/>
            <a:ext cx="6410023"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Content Placeholder 6"/>
          <p:cNvSpPr>
            <a:spLocks noGrp="1"/>
          </p:cNvSpPr>
          <p:nvPr>
            <p:ph sz="quarter" idx="4"/>
          </p:nvPr>
        </p:nvSpPr>
        <p:spPr>
          <a:xfrm>
            <a:off x="6553200" y="1828800"/>
            <a:ext cx="2438400" cy="5056632"/>
          </a:xfrm>
        </p:spPr>
        <p:txBody>
          <a:bodyPr>
            <a:normAutofit fontScale="70000" lnSpcReduction="20000"/>
          </a:bodyPr>
          <a:lstStyle/>
          <a:p>
            <a:pPr marL="342900" indent="-342900">
              <a:buFont typeface="Arial" pitchFamily="34" charset="0"/>
              <a:buChar char="•"/>
            </a:pPr>
            <a:r>
              <a:rPr lang="en-US" dirty="0" smtClean="0"/>
              <a:t>(1) Year dummies</a:t>
            </a:r>
          </a:p>
          <a:p>
            <a:pPr marL="342900" indent="-342900">
              <a:buFont typeface="Arial" pitchFamily="34" charset="0"/>
              <a:buChar char="•"/>
            </a:pPr>
            <a:r>
              <a:rPr lang="en-US" dirty="0" smtClean="0"/>
              <a:t>(2) year dummies plus individual characteristics</a:t>
            </a:r>
          </a:p>
          <a:p>
            <a:pPr marL="342900" indent="-342900">
              <a:buFont typeface="Arial" pitchFamily="34" charset="0"/>
              <a:buChar char="•"/>
            </a:pPr>
            <a:r>
              <a:rPr lang="en-US" dirty="0" smtClean="0"/>
              <a:t>(3) year dummies and student fixed effects</a:t>
            </a:r>
          </a:p>
          <a:p>
            <a:pPr marL="342900" indent="-342900">
              <a:buFont typeface="Arial" pitchFamily="34" charset="0"/>
              <a:buChar char="•"/>
            </a:pPr>
            <a:r>
              <a:rPr lang="en-US" dirty="0" smtClean="0"/>
              <a:t>Clustered std. dev. At the individual level</a:t>
            </a:r>
          </a:p>
          <a:p>
            <a:pPr marL="342900" indent="-342900">
              <a:buFont typeface="Arial" pitchFamily="34" charset="0"/>
              <a:buChar char="•"/>
            </a:pPr>
            <a:r>
              <a:rPr lang="en-US" dirty="0" smtClean="0"/>
              <a:t>Typically students do better in later exams than earlier ones.</a:t>
            </a:r>
          </a:p>
          <a:p>
            <a:pPr marL="342900" indent="-342900">
              <a:buFont typeface="Arial" pitchFamily="34" charset="0"/>
              <a:buChar char="•"/>
            </a:pPr>
            <a:r>
              <a:rPr lang="en-US" dirty="0" smtClean="0"/>
              <a:t>The interaction variable shows a negative effect and is precisely determined. </a:t>
            </a:r>
            <a:endParaRPr lang="en-US" dirty="0"/>
          </a:p>
        </p:txBody>
      </p:sp>
    </p:spTree>
    <p:extLst>
      <p:ext uri="{BB962C8B-B14F-4D97-AF65-F5344CB8AC3E}">
        <p14:creationId xmlns:p14="http://schemas.microsoft.com/office/powerpoint/2010/main" val="10492352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718"/>
            <a:ext cx="8001000" cy="1371600"/>
          </a:xfrm>
        </p:spPr>
        <p:txBody>
          <a:bodyPr/>
          <a:lstStyle/>
          <a:p>
            <a:r>
              <a:rPr lang="en-US" dirty="0" smtClean="0"/>
              <a:t>4. results</a:t>
            </a:r>
            <a:endParaRPr lang="en-US" dirty="0"/>
          </a:p>
        </p:txBody>
      </p:sp>
      <p:sp>
        <p:nvSpPr>
          <p:cNvPr id="3" name="Text Placeholder 2"/>
          <p:cNvSpPr>
            <a:spLocks noGrp="1"/>
          </p:cNvSpPr>
          <p:nvPr>
            <p:ph type="body" idx="1"/>
          </p:nvPr>
        </p:nvSpPr>
        <p:spPr>
          <a:xfrm>
            <a:off x="228600" y="1572768"/>
            <a:ext cx="4690872" cy="639762"/>
          </a:xfrm>
        </p:spPr>
        <p:txBody>
          <a:bodyPr/>
          <a:lstStyle/>
          <a:p>
            <a:r>
              <a:rPr lang="en-US" dirty="0" smtClean="0"/>
              <a:t>Comparing the diff-in-diff and the total effect</a:t>
            </a:r>
            <a:endParaRPr lang="en-US" dirty="0"/>
          </a:p>
        </p:txBody>
      </p:sp>
      <p:sp>
        <p:nvSpPr>
          <p:cNvPr id="5" name="Text Placeholder 4"/>
          <p:cNvSpPr>
            <a:spLocks noGrp="1"/>
          </p:cNvSpPr>
          <p:nvPr>
            <p:ph type="body" sz="quarter" idx="3"/>
          </p:nvPr>
        </p:nvSpPr>
        <p:spPr>
          <a:xfrm>
            <a:off x="6705600" y="1600200"/>
            <a:ext cx="1981200" cy="639762"/>
          </a:xfrm>
        </p:spPr>
        <p:txBody>
          <a:bodyPr/>
          <a:lstStyle/>
          <a:p>
            <a:r>
              <a:rPr lang="en-US" dirty="0" smtClean="0"/>
              <a:t>comments</a:t>
            </a:r>
            <a:endParaRPr lang="en-US" dirty="0"/>
          </a:p>
        </p:txBody>
      </p:sp>
      <p:sp>
        <p:nvSpPr>
          <p:cNvPr id="6" name="Content Placeholder 5"/>
          <p:cNvSpPr>
            <a:spLocks noGrp="1"/>
          </p:cNvSpPr>
          <p:nvPr>
            <p:ph sz="quarter" idx="4"/>
          </p:nvPr>
        </p:nvSpPr>
        <p:spPr>
          <a:xfrm>
            <a:off x="6705600" y="2286000"/>
            <a:ext cx="2209800" cy="4038600"/>
          </a:xfrm>
        </p:spPr>
        <p:txBody>
          <a:bodyPr>
            <a:normAutofit fontScale="70000" lnSpcReduction="20000"/>
          </a:bodyPr>
          <a:lstStyle/>
          <a:p>
            <a:pPr marL="342900" indent="-342900">
              <a:buFont typeface="Arial" pitchFamily="34" charset="0"/>
              <a:buChar char="•"/>
            </a:pPr>
            <a:r>
              <a:rPr lang="en-US" dirty="0" smtClean="0"/>
              <a:t>The difference in the late-early difference between tournament and non-tournament years</a:t>
            </a:r>
          </a:p>
          <a:p>
            <a:pPr marL="342900" indent="-342900">
              <a:buFont typeface="Arial" pitchFamily="34" charset="0"/>
              <a:buChar char="•"/>
            </a:pPr>
            <a:r>
              <a:rPr lang="en-US" dirty="0" smtClean="0"/>
              <a:t>Overall effect</a:t>
            </a:r>
          </a:p>
          <a:p>
            <a:pPr marL="342900" indent="-342900">
              <a:buFont typeface="Arial" pitchFamily="34" charset="0"/>
              <a:buChar char="•"/>
            </a:pPr>
            <a:r>
              <a:rPr lang="en-US" dirty="0" smtClean="0"/>
              <a:t>NT: control</a:t>
            </a:r>
          </a:p>
          <a:p>
            <a:pPr marL="342900" indent="-342900">
              <a:buFont typeface="Arial" pitchFamily="34" charset="0"/>
              <a:buChar char="•"/>
            </a:pPr>
            <a:r>
              <a:rPr lang="en-US" dirty="0" smtClean="0"/>
              <a:t>T: assumed counterfactual</a:t>
            </a:r>
          </a:p>
          <a:p>
            <a:pPr marL="342900" indent="-342900">
              <a:buFont typeface="Arial" pitchFamily="34" charset="0"/>
              <a:buChar char="•"/>
            </a:pPr>
            <a:r>
              <a:rPr lang="en-US" dirty="0" smtClean="0"/>
              <a:t>Dash-T: true counterfactual</a:t>
            </a:r>
          </a:p>
          <a:p>
            <a:pPr marL="342900" indent="-342900">
              <a:buFont typeface="Arial" pitchFamily="34" charset="0"/>
              <a:buChar char="•"/>
            </a:pPr>
            <a:r>
              <a:rPr lang="en-US" dirty="0" smtClean="0"/>
              <a:t>D: true treatment effect</a:t>
            </a:r>
            <a:endParaRPr lang="en-US" dirty="0"/>
          </a:p>
        </p:txBody>
      </p:sp>
      <p:pic>
        <p:nvPicPr>
          <p:cNvPr id="1026"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228599" y="2286000"/>
            <a:ext cx="6324601" cy="3850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36178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conclusion</a:t>
            </a:r>
            <a:endParaRPr lang="en-US" dirty="0"/>
          </a:p>
        </p:txBody>
      </p:sp>
      <p:sp>
        <p:nvSpPr>
          <p:cNvPr id="3" name="Text Placeholder 2"/>
          <p:cNvSpPr>
            <a:spLocks noGrp="1"/>
          </p:cNvSpPr>
          <p:nvPr>
            <p:ph type="body" idx="1"/>
          </p:nvPr>
        </p:nvSpPr>
        <p:spPr>
          <a:xfrm>
            <a:off x="381000" y="1572768"/>
            <a:ext cx="8229600" cy="639762"/>
          </a:xfrm>
        </p:spPr>
        <p:txBody>
          <a:bodyPr/>
          <a:lstStyle/>
          <a:p>
            <a:r>
              <a:rPr lang="en-US" dirty="0" smtClean="0"/>
              <a:t>Results</a:t>
            </a:r>
            <a:endParaRPr lang="en-US" dirty="0"/>
          </a:p>
        </p:txBody>
      </p:sp>
      <p:sp>
        <p:nvSpPr>
          <p:cNvPr id="4" name="Content Placeholder 3"/>
          <p:cNvSpPr>
            <a:spLocks noGrp="1"/>
          </p:cNvSpPr>
          <p:nvPr>
            <p:ph sz="half" idx="2"/>
          </p:nvPr>
        </p:nvSpPr>
        <p:spPr>
          <a:xfrm>
            <a:off x="381000" y="2259366"/>
            <a:ext cx="8229600" cy="3840480"/>
          </a:xfrm>
        </p:spPr>
        <p:txBody>
          <a:bodyPr>
            <a:normAutofit fontScale="62500" lnSpcReduction="20000"/>
          </a:bodyPr>
          <a:lstStyle/>
          <a:p>
            <a:pPr marL="342900" indent="-342900">
              <a:buFont typeface="Arial" pitchFamily="34" charset="0"/>
              <a:buChar char="•"/>
            </a:pPr>
            <a:r>
              <a:rPr lang="en-US" dirty="0" smtClean="0"/>
              <a:t>They found a significant negative average effect of the tournament on exam performance, substantial for particular groups: the average impact of a fall in effort is .12 standard deviations of student performance.</a:t>
            </a:r>
          </a:p>
          <a:p>
            <a:pPr marL="342900" indent="-342900">
              <a:buFont typeface="Arial" pitchFamily="34" charset="0"/>
              <a:buChar char="•"/>
            </a:pPr>
            <a:r>
              <a:rPr lang="en-US" dirty="0" smtClean="0"/>
              <a:t>Highly affected groups are (1) low ability (2) male students from (3) disadvantaged families.</a:t>
            </a:r>
          </a:p>
          <a:p>
            <a:pPr marL="342900" indent="-342900">
              <a:buFont typeface="Arial" pitchFamily="34" charset="0"/>
              <a:buChar char="•"/>
            </a:pPr>
            <a:r>
              <a:rPr lang="en-US" dirty="0" smtClean="0"/>
              <a:t>They assume this impact arises through a reduction in student effort, with study time being allocated to watching the soccer tournament. </a:t>
            </a:r>
          </a:p>
          <a:p>
            <a:pPr marL="342900" indent="-342900">
              <a:buFont typeface="Arial" pitchFamily="34" charset="0"/>
              <a:buChar char="•"/>
            </a:pPr>
            <a:r>
              <a:rPr lang="en-US" dirty="0" smtClean="0"/>
              <a:t>The variation in impact derives from differing tastes for soccer, arising in turn from cultural norms and idiosyncratic factors, and from the differential effectiveness of an hour of study on exam performance.</a:t>
            </a:r>
          </a:p>
          <a:p>
            <a:pPr marL="342900" indent="-342900">
              <a:buFont typeface="Arial" pitchFamily="34" charset="0"/>
              <a:buChar char="•"/>
            </a:pPr>
            <a:r>
              <a:rPr lang="en-US" dirty="0" smtClean="0"/>
              <a:t>Their results show that having important exams during the tournament period reduces educational attainment; therefore, they argue that the benefits of moving the exams just a few weeks earlier in tournament years may well be significant.</a:t>
            </a:r>
          </a:p>
          <a:p>
            <a:pPr marL="342900" indent="-342900">
              <a:buFont typeface="Arial" pitchFamily="34" charset="0"/>
              <a:buChar char="•"/>
            </a:pPr>
            <a:r>
              <a:rPr lang="en-US" dirty="0" smtClean="0"/>
              <a:t>Their results implies that student effort plays a prominent role in the education production function.</a:t>
            </a:r>
          </a:p>
        </p:txBody>
      </p:sp>
    </p:spTree>
    <p:extLst>
      <p:ext uri="{BB962C8B-B14F-4D97-AF65-F5344CB8AC3E}">
        <p14:creationId xmlns:p14="http://schemas.microsoft.com/office/powerpoint/2010/main" val="36936178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 Main Comments</a:t>
            </a:r>
            <a:endParaRPr lang="en-US" dirty="0"/>
          </a:p>
        </p:txBody>
      </p:sp>
      <p:sp>
        <p:nvSpPr>
          <p:cNvPr id="7" name="Content Placeholder 6"/>
          <p:cNvSpPr>
            <a:spLocks noGrp="1"/>
          </p:cNvSpPr>
          <p:nvPr>
            <p:ph idx="1"/>
          </p:nvPr>
        </p:nvSpPr>
        <p:spPr>
          <a:xfrm>
            <a:off x="457200" y="1752600"/>
            <a:ext cx="7620000" cy="4800600"/>
          </a:xfrm>
        </p:spPr>
        <p:txBody>
          <a:bodyPr>
            <a:normAutofit fontScale="92500" lnSpcReduction="20000"/>
          </a:bodyPr>
          <a:lstStyle/>
          <a:p>
            <a:pPr marL="342900" indent="-342900">
              <a:buFont typeface="Arial" pitchFamily="34" charset="0"/>
              <a:buChar char="•"/>
            </a:pPr>
            <a:r>
              <a:rPr lang="en-US" dirty="0" smtClean="0"/>
              <a:t>Introduction</a:t>
            </a:r>
          </a:p>
          <a:p>
            <a:pPr marL="800100" lvl="1" indent="-342900"/>
            <a:r>
              <a:rPr lang="en-US" dirty="0" smtClean="0"/>
              <a:t>Within-student variation</a:t>
            </a:r>
          </a:p>
          <a:p>
            <a:pPr marL="342900" indent="-342900">
              <a:buFont typeface="Arial" pitchFamily="34" charset="0"/>
              <a:buChar char="•"/>
            </a:pPr>
            <a:r>
              <a:rPr lang="en-US" dirty="0" smtClean="0"/>
              <a:t>Identification Strategy</a:t>
            </a:r>
            <a:endParaRPr lang="en-US" dirty="0"/>
          </a:p>
          <a:p>
            <a:pPr marL="800100" lvl="1" indent="-342900"/>
            <a:r>
              <a:rPr lang="en-US" dirty="0" smtClean="0"/>
              <a:t>Variables: bad weather, Olympic games, downturn of economy, private/public school, or regional dummies</a:t>
            </a:r>
          </a:p>
          <a:p>
            <a:pPr marL="800100" lvl="1" indent="-342900"/>
            <a:r>
              <a:rPr lang="en-US" dirty="0" smtClean="0"/>
              <a:t>Assumption: sports event period -&gt; not studying</a:t>
            </a:r>
          </a:p>
          <a:p>
            <a:pPr marL="342900" indent="-342900">
              <a:buFont typeface="Arial" pitchFamily="34" charset="0"/>
              <a:buChar char="•"/>
            </a:pPr>
            <a:r>
              <a:rPr lang="en-US" dirty="0" smtClean="0"/>
              <a:t>Estimation</a:t>
            </a:r>
          </a:p>
          <a:p>
            <a:pPr marL="800100" lvl="1" indent="-342900"/>
            <a:r>
              <a:rPr lang="en-US" dirty="0" smtClean="0"/>
              <a:t>Dependent variable unit (std. dev.): ambiguous</a:t>
            </a:r>
          </a:p>
          <a:p>
            <a:pPr marL="800100" lvl="1" indent="-342900"/>
            <a:r>
              <a:rPr lang="en-US" dirty="0" smtClean="0"/>
              <a:t>World cup and UEFA: treated in a same way</a:t>
            </a:r>
          </a:p>
          <a:p>
            <a:pPr marL="800100" lvl="1" indent="-342900"/>
            <a:r>
              <a:rPr lang="en-US" dirty="0" smtClean="0"/>
              <a:t>Their first trial: overall diff-in-diff is insignificant</a:t>
            </a:r>
          </a:p>
          <a:p>
            <a:pPr marL="800100" lvl="1" indent="-342900"/>
            <a:r>
              <a:rPr lang="en-US" dirty="0" smtClean="0"/>
              <a:t>Late/early for untreated years: ambiguous</a:t>
            </a:r>
          </a:p>
          <a:p>
            <a:pPr marL="342900" indent="-342900">
              <a:buFont typeface="Arial" pitchFamily="34" charset="0"/>
              <a:buChar char="•"/>
            </a:pPr>
            <a:r>
              <a:rPr lang="en-US" dirty="0" smtClean="0"/>
              <a:t>Results</a:t>
            </a:r>
          </a:p>
          <a:p>
            <a:pPr marL="800100" lvl="1" indent="-342900"/>
            <a:r>
              <a:rPr lang="en-US" dirty="0" smtClean="0"/>
              <a:t>Moving GCSEs: should be more careful, monetary issue transient? What about a shortened period time for all of the students? National competitiveness in England</a:t>
            </a:r>
          </a:p>
          <a:p>
            <a:pPr marL="800100" lvl="1" indent="-342900"/>
            <a:endParaRPr lang="en-US" dirty="0" smtClean="0"/>
          </a:p>
          <a:p>
            <a:pPr marL="800100" lvl="1" indent="-342900"/>
            <a:endParaRPr lang="en-US" dirty="0" smtClean="0"/>
          </a:p>
          <a:p>
            <a:pPr marL="800100" lvl="1" indent="-342900"/>
            <a:endParaRPr lang="en-US" dirty="0" smtClean="0"/>
          </a:p>
        </p:txBody>
      </p:sp>
    </p:spTree>
    <p:extLst>
      <p:ext uri="{BB962C8B-B14F-4D97-AF65-F5344CB8AC3E}">
        <p14:creationId xmlns:p14="http://schemas.microsoft.com/office/powerpoint/2010/main" val="29349226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718"/>
            <a:ext cx="8305800" cy="1371600"/>
          </a:xfrm>
        </p:spPr>
        <p:txBody>
          <a:bodyPr/>
          <a:lstStyle/>
          <a:p>
            <a:r>
              <a:rPr lang="en-US" dirty="0" smtClean="0"/>
              <a:t>6. Main Comments (cont.)</a:t>
            </a:r>
            <a:endParaRPr lang="en-US" dirty="0"/>
          </a:p>
        </p:txBody>
      </p:sp>
      <p:sp>
        <p:nvSpPr>
          <p:cNvPr id="7" name="Content Placeholder 6"/>
          <p:cNvSpPr>
            <a:spLocks noGrp="1"/>
          </p:cNvSpPr>
          <p:nvPr>
            <p:ph idx="1"/>
          </p:nvPr>
        </p:nvSpPr>
        <p:spPr>
          <a:xfrm>
            <a:off x="457200" y="1752600"/>
            <a:ext cx="7620000" cy="4800600"/>
          </a:xfrm>
        </p:spPr>
        <p:txBody>
          <a:bodyPr>
            <a:normAutofit fontScale="92500" lnSpcReduction="20000"/>
          </a:bodyPr>
          <a:lstStyle/>
          <a:p>
            <a:pPr marL="342900" indent="-342900">
              <a:buFont typeface="Arial" pitchFamily="34" charset="0"/>
              <a:buChar char="•"/>
            </a:pPr>
            <a:r>
              <a:rPr lang="en-US" dirty="0" smtClean="0"/>
              <a:t>Identification Assumption</a:t>
            </a:r>
            <a:endParaRPr lang="en-US" dirty="0" smtClean="0"/>
          </a:p>
          <a:p>
            <a:pPr marL="800100" lvl="1" indent="-342900"/>
            <a:r>
              <a:rPr lang="en-US" dirty="0"/>
              <a:t>The authors assume the increasing leisure value will decrease the effort on study. I would suggest the authors to have some solid behavior theory to back up their identification assumption. </a:t>
            </a:r>
            <a:endParaRPr lang="en-US" dirty="0" smtClean="0"/>
          </a:p>
          <a:p>
            <a:pPr marL="342900" indent="-342900">
              <a:buFont typeface="Arial" pitchFamily="34" charset="0"/>
              <a:buChar char="•"/>
            </a:pPr>
            <a:r>
              <a:rPr lang="en-US" dirty="0" smtClean="0"/>
              <a:t>Data</a:t>
            </a:r>
            <a:endParaRPr lang="en-US" dirty="0" smtClean="0"/>
          </a:p>
          <a:p>
            <a:pPr marL="800100" lvl="1" indent="-342900"/>
            <a:r>
              <a:rPr lang="en-US" dirty="0"/>
              <a:t>The authors use the television viewing data to analyze the tournaments coverage. This is a good instruments. However, why do not they include the internet viewing data? </a:t>
            </a:r>
            <a:r>
              <a:rPr lang="en-US" dirty="0" smtClean="0"/>
              <a:t>They </a:t>
            </a:r>
            <a:r>
              <a:rPr lang="en-US" dirty="0"/>
              <a:t>target </a:t>
            </a:r>
            <a:r>
              <a:rPr lang="en-US" dirty="0" smtClean="0"/>
              <a:t>at young children.</a:t>
            </a:r>
          </a:p>
          <a:p>
            <a:pPr marL="342900" indent="-342900">
              <a:buFont typeface="Arial" pitchFamily="34" charset="0"/>
              <a:buChar char="•"/>
            </a:pPr>
            <a:r>
              <a:rPr lang="en-US" dirty="0" smtClean="0"/>
              <a:t>Robustness Check</a:t>
            </a:r>
            <a:endParaRPr lang="en-US" dirty="0" smtClean="0"/>
          </a:p>
          <a:p>
            <a:pPr marL="800100" lvl="1" indent="-342900"/>
            <a:r>
              <a:rPr lang="en-US" dirty="0"/>
              <a:t>I think the authors should add an outlier test portion to their robustness check. For example, some super smart students can study way less than normal students to do well on the test. Also, some students probably study very hard ahead to save the date for watching soccer tournaments. The tournaments could reduce their study time during that particular time, </a:t>
            </a:r>
            <a:endParaRPr lang="en-US" dirty="0" smtClean="0"/>
          </a:p>
          <a:p>
            <a:pPr marL="800100" lvl="1" indent="-342900"/>
            <a:endParaRPr lang="en-US" dirty="0" smtClean="0"/>
          </a:p>
        </p:txBody>
      </p:sp>
    </p:spTree>
    <p:extLst>
      <p:ext uri="{BB962C8B-B14F-4D97-AF65-F5344CB8AC3E}">
        <p14:creationId xmlns:p14="http://schemas.microsoft.com/office/powerpoint/2010/main" val="25369535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718"/>
            <a:ext cx="8001000" cy="1371600"/>
          </a:xfrm>
        </p:spPr>
        <p:txBody>
          <a:bodyPr/>
          <a:lstStyle/>
          <a:p>
            <a:r>
              <a:rPr lang="en-US" dirty="0" smtClean="0"/>
              <a:t>7. Minor </a:t>
            </a:r>
            <a:r>
              <a:rPr lang="en-US" dirty="0" smtClean="0"/>
              <a:t>comments</a:t>
            </a:r>
            <a:endParaRPr lang="en-US" dirty="0"/>
          </a:p>
        </p:txBody>
      </p:sp>
      <p:sp>
        <p:nvSpPr>
          <p:cNvPr id="8" name="Content Placeholder 7"/>
          <p:cNvSpPr>
            <a:spLocks noGrp="1"/>
          </p:cNvSpPr>
          <p:nvPr>
            <p:ph idx="1"/>
          </p:nvPr>
        </p:nvSpPr>
        <p:spPr/>
        <p:txBody>
          <a:bodyPr>
            <a:normAutofit/>
          </a:bodyPr>
          <a:lstStyle/>
          <a:p>
            <a:pPr marL="342900" lvl="0" indent="-342900">
              <a:buFont typeface="Arial" pitchFamily="34" charset="0"/>
              <a:buChar char="•"/>
            </a:pPr>
            <a:r>
              <a:rPr lang="en-US" sz="2100" dirty="0"/>
              <a:t>Why do the authors only use 7 years data? Why do not they use several more years’ data to </a:t>
            </a:r>
            <a:r>
              <a:rPr lang="en-US" sz="2100" dirty="0" smtClean="0"/>
              <a:t>improve the </a:t>
            </a:r>
            <a:r>
              <a:rPr lang="en-US" sz="2100" dirty="0"/>
              <a:t>external validity? </a:t>
            </a:r>
          </a:p>
          <a:p>
            <a:pPr marL="342900" lvl="0" indent="-342900">
              <a:buFont typeface="Arial" pitchFamily="34" charset="0"/>
              <a:buChar char="•"/>
            </a:pPr>
            <a:r>
              <a:rPr lang="en-US" sz="2100" dirty="0"/>
              <a:t>Why do they pick 2008 data into their sample population? </a:t>
            </a:r>
            <a:r>
              <a:rPr lang="en-US" sz="2100" dirty="0" smtClean="0"/>
              <a:t>It is </a:t>
            </a:r>
            <a:r>
              <a:rPr lang="en-US" sz="2100" dirty="0"/>
              <a:t>hard to handle </a:t>
            </a:r>
            <a:r>
              <a:rPr lang="en-US" sz="2100" dirty="0" smtClean="0"/>
              <a:t>the </a:t>
            </a:r>
            <a:r>
              <a:rPr lang="en-US" sz="2100" dirty="0"/>
              <a:t>2008 data </a:t>
            </a:r>
            <a:r>
              <a:rPr lang="en-US" sz="2100" dirty="0" smtClean="0"/>
              <a:t>since </a:t>
            </a:r>
            <a:r>
              <a:rPr lang="en-US" sz="2100" dirty="0"/>
              <a:t>the </a:t>
            </a:r>
            <a:r>
              <a:rPr lang="en-US" sz="2100" dirty="0" smtClean="0"/>
              <a:t>English </a:t>
            </a:r>
            <a:r>
              <a:rPr lang="en-US" sz="2100" dirty="0"/>
              <a:t>national soccer team complication. Why don’t they avoid the </a:t>
            </a:r>
            <a:r>
              <a:rPr lang="en-US" sz="2100" dirty="0" smtClean="0"/>
              <a:t>complication</a:t>
            </a:r>
            <a:r>
              <a:rPr lang="en-US" sz="2100" dirty="0" smtClean="0"/>
              <a:t>?</a:t>
            </a:r>
            <a:endParaRPr lang="en-US" sz="2100" dirty="0"/>
          </a:p>
        </p:txBody>
      </p:sp>
    </p:spTree>
    <p:extLst>
      <p:ext uri="{BB962C8B-B14F-4D97-AF65-F5344CB8AC3E}">
        <p14:creationId xmlns:p14="http://schemas.microsoft.com/office/powerpoint/2010/main" val="26113521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718"/>
            <a:ext cx="7924800" cy="1371600"/>
          </a:xfrm>
        </p:spPr>
        <p:txBody>
          <a:bodyPr/>
          <a:lstStyle/>
          <a:p>
            <a:r>
              <a:rPr lang="en-US" dirty="0" smtClean="0"/>
              <a:t>7. Minor </a:t>
            </a:r>
            <a:r>
              <a:rPr lang="en-US" dirty="0" smtClean="0"/>
              <a:t>comments</a:t>
            </a:r>
            <a:endParaRPr lang="en-US" dirty="0"/>
          </a:p>
        </p:txBody>
      </p:sp>
      <p:sp>
        <p:nvSpPr>
          <p:cNvPr id="8" name="Content Placeholder 7"/>
          <p:cNvSpPr>
            <a:spLocks noGrp="1"/>
          </p:cNvSpPr>
          <p:nvPr>
            <p:ph idx="1"/>
          </p:nvPr>
        </p:nvSpPr>
        <p:spPr/>
        <p:txBody>
          <a:bodyPr/>
          <a:lstStyle/>
          <a:p>
            <a:pPr marL="342900" lvl="0" indent="-342900">
              <a:buFont typeface="Arial" pitchFamily="34" charset="0"/>
              <a:buChar char="•"/>
            </a:pPr>
            <a:r>
              <a:rPr lang="en-US" dirty="0" smtClean="0"/>
              <a:t>When quantifying the effect, </a:t>
            </a:r>
            <a:r>
              <a:rPr lang="en-US" dirty="0"/>
              <a:t>the average of three compulsory subjects in summer exam over final mark is about 60%; and, the authors doubled regression coefficients for the original influence of the exams in table 7. How so? Also, it looks like the other subjects have a very different contribution </a:t>
            </a:r>
            <a:r>
              <a:rPr lang="en-US" dirty="0" smtClean="0"/>
              <a:t>rate of </a:t>
            </a:r>
            <a:r>
              <a:rPr lang="en-US" dirty="0"/>
              <a:t>summer exams</a:t>
            </a:r>
            <a:r>
              <a:rPr lang="en-US" dirty="0" smtClean="0"/>
              <a:t>.</a:t>
            </a:r>
            <a:endParaRPr lang="en-US" dirty="0"/>
          </a:p>
          <a:p>
            <a:pPr marL="342900" lvl="0" indent="-342900">
              <a:buFont typeface="Arial" pitchFamily="34" charset="0"/>
              <a:buChar char="•"/>
            </a:pPr>
            <a:r>
              <a:rPr lang="en-US" dirty="0" smtClean="0"/>
              <a:t>Some missing legends in figures, no </a:t>
            </a:r>
            <a:r>
              <a:rPr lang="en-US" dirty="0" err="1" smtClean="0"/>
              <a:t>denotement</a:t>
            </a:r>
            <a:r>
              <a:rPr lang="en-US" dirty="0" smtClean="0"/>
              <a:t> of fixed effect in the table, and different explanation between description part and tables/figures.</a:t>
            </a:r>
            <a:endParaRPr lang="en-US" dirty="0"/>
          </a:p>
          <a:p>
            <a:endParaRPr lang="en-US" dirty="0"/>
          </a:p>
        </p:txBody>
      </p:sp>
    </p:spTree>
    <p:extLst>
      <p:ext uri="{BB962C8B-B14F-4D97-AF65-F5344CB8AC3E}">
        <p14:creationId xmlns:p14="http://schemas.microsoft.com/office/powerpoint/2010/main" val="36936178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718"/>
            <a:ext cx="8458200" cy="1371600"/>
          </a:xfrm>
        </p:spPr>
        <p:txBody>
          <a:bodyPr/>
          <a:lstStyle/>
          <a:p>
            <a:r>
              <a:rPr lang="en-US" dirty="0" smtClean="0"/>
              <a:t>8. overall comments</a:t>
            </a:r>
            <a:endParaRPr lang="en-US" dirty="0"/>
          </a:p>
        </p:txBody>
      </p:sp>
      <p:sp>
        <p:nvSpPr>
          <p:cNvPr id="7" name="Content Placeholder 6"/>
          <p:cNvSpPr>
            <a:spLocks noGrp="1"/>
          </p:cNvSpPr>
          <p:nvPr>
            <p:ph idx="1"/>
          </p:nvPr>
        </p:nvSpPr>
        <p:spPr/>
        <p:txBody>
          <a:bodyPr>
            <a:normAutofit lnSpcReduction="10000"/>
          </a:bodyPr>
          <a:lstStyle/>
          <a:p>
            <a:pPr marL="342900" lvl="1" indent="-342900">
              <a:spcAft>
                <a:spcPts val="600"/>
              </a:spcAft>
              <a:buClrTx/>
            </a:pPr>
            <a:r>
              <a:rPr lang="en-US" i="1" dirty="0"/>
              <a:t>This is a very interesting research, given that the authors have used nationwide data and compared the treatment effect with non-treatment years. The results are pretty stable, and it gives an implication that main sports events could affect socially alienated groups (low-ability students and those who are from disadvantage families) in a negative way. It could imply the England government to change or modify the exam schedule, but this should happen with a very careful consideration. I would like to say that this is a good research but the authors should give more explanations how this research is different from existing study, how it will have to contribute to the education </a:t>
            </a:r>
            <a:r>
              <a:rPr lang="en-US" i="1" dirty="0" smtClean="0"/>
              <a:t>field. Also, the authors need to correct errors </a:t>
            </a:r>
            <a:r>
              <a:rPr lang="en-US" i="1" dirty="0" smtClean="0"/>
              <a:t>and add up missing explanation </a:t>
            </a:r>
            <a:r>
              <a:rPr lang="en-US" i="1" dirty="0" smtClean="0"/>
              <a:t>that </a:t>
            </a:r>
            <a:r>
              <a:rPr lang="en-US" i="1" dirty="0"/>
              <a:t>they should </a:t>
            </a:r>
            <a:r>
              <a:rPr lang="en-US" i="1"/>
              <a:t>have </a:t>
            </a:r>
            <a:r>
              <a:rPr lang="en-US" i="1" smtClean="0"/>
              <a:t>described in </a:t>
            </a:r>
            <a:r>
              <a:rPr lang="en-US" i="1" dirty="0"/>
              <a:t>their description parts, tables, and </a:t>
            </a:r>
            <a:r>
              <a:rPr lang="en-US" i="1" dirty="0" smtClean="0"/>
              <a:t>figures</a:t>
            </a:r>
            <a:r>
              <a:rPr lang="en-US" i="1" dirty="0"/>
              <a:t>. It will be re-reviewed with an edited version. Thanks</a:t>
            </a:r>
            <a:r>
              <a:rPr lang="en-US" i="1" dirty="0" smtClean="0"/>
              <a:t>.</a:t>
            </a:r>
            <a:endParaRPr lang="en-US" dirty="0"/>
          </a:p>
        </p:txBody>
      </p:sp>
    </p:spTree>
    <p:extLst>
      <p:ext uri="{BB962C8B-B14F-4D97-AF65-F5344CB8AC3E}">
        <p14:creationId xmlns:p14="http://schemas.microsoft.com/office/powerpoint/2010/main" val="158020315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Thanks</a:t>
            </a:r>
            <a:endParaRPr lang="en-US" dirty="0"/>
          </a:p>
        </p:txBody>
      </p:sp>
    </p:spTree>
    <p:extLst>
      <p:ext uri="{BB962C8B-B14F-4D97-AF65-F5344CB8AC3E}">
        <p14:creationId xmlns:p14="http://schemas.microsoft.com/office/powerpoint/2010/main" val="243063162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Essential</Template>
  <TotalTime>684</TotalTime>
  <Words>1404</Words>
  <Application>Microsoft Office PowerPoint</Application>
  <PresentationFormat>On-screen Show (4:3)</PresentationFormat>
  <Paragraphs>121</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Arial Black</vt:lpstr>
      <vt:lpstr>Essential</vt:lpstr>
      <vt:lpstr>Using international soccer tournaments to understand the education production function  - Robert Metcalfe, Simon Burgess, &amp; Steven Proud    ECMT 677 | Referee Report | 11/18/13</vt:lpstr>
      <vt:lpstr>1. Introduction</vt:lpstr>
      <vt:lpstr>1. introduction</vt:lpstr>
      <vt:lpstr>1. iNTRODUCTION</vt:lpstr>
      <vt:lpstr>1. introduction</vt:lpstr>
      <vt:lpstr>2. Identification assumptions &amp; strategy </vt:lpstr>
      <vt:lpstr>2. Identification assumptions &amp; strategy </vt:lpstr>
      <vt:lpstr>3. data</vt:lpstr>
      <vt:lpstr>3. DATA</vt:lpstr>
      <vt:lpstr>3. data</vt:lpstr>
      <vt:lpstr>3. data</vt:lpstr>
      <vt:lpstr>4. results</vt:lpstr>
      <vt:lpstr>4. results</vt:lpstr>
      <vt:lpstr>4. results</vt:lpstr>
      <vt:lpstr>5. conclusion</vt:lpstr>
      <vt:lpstr>6. Main Comments</vt:lpstr>
      <vt:lpstr>6. Main Comments (cont.)</vt:lpstr>
      <vt:lpstr>7. Minor comments</vt:lpstr>
      <vt:lpstr>7. Minor comments</vt:lpstr>
      <vt:lpstr>8. overall comments</vt:lpstr>
      <vt:lpstr>Thanks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dc:creator>
  <cp:lastModifiedBy>admin</cp:lastModifiedBy>
  <cp:revision>36</cp:revision>
  <dcterms:created xsi:type="dcterms:W3CDTF">2013-11-15T18:51:33Z</dcterms:created>
  <dcterms:modified xsi:type="dcterms:W3CDTF">2013-11-18T04:16:42Z</dcterms:modified>
</cp:coreProperties>
</file>