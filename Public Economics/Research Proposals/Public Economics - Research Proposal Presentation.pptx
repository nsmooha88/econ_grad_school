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57" r:id="rId3"/>
    <p:sldId id="262" r:id="rId4"/>
    <p:sldId id="263" r:id="rId5"/>
    <p:sldId id="261" r:id="rId6"/>
    <p:sldId id="266" r:id="rId7"/>
    <p:sldId id="267" r:id="rId8"/>
    <p:sldId id="269" r:id="rId9"/>
    <p:sldId id="258" r:id="rId10"/>
    <p:sldId id="260" r:id="rId11"/>
    <p:sldId id="270" r:id="rId12"/>
    <p:sldId id="259" r:id="rId13"/>
    <p:sldId id="268"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8" d="100"/>
          <a:sy n="88" d="100"/>
        </p:scale>
        <p:origin x="-96" y="-2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interSettings" Target="printerSettings/printerSettings1.bin"/><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1B8E71D-E7D1-3643-959F-DA0FB7A02D7E}" type="datetimeFigureOut">
              <a:rPr lang="en-US" smtClean="0"/>
              <a:t>11/25/13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E5925C5-3766-B941-AE62-9D50A8ADC6AF}" type="slidenum">
              <a:rPr lang="en-US" smtClean="0"/>
              <a:t>‹#›</a:t>
            </a:fld>
            <a:endParaRPr lang="en-US"/>
          </a:p>
        </p:txBody>
      </p:sp>
    </p:spTree>
    <p:extLst>
      <p:ext uri="{BB962C8B-B14F-4D97-AF65-F5344CB8AC3E}">
        <p14:creationId xmlns:p14="http://schemas.microsoft.com/office/powerpoint/2010/main" val="81536411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E5925C5-3766-B941-AE62-9D50A8ADC6AF}" type="slidenum">
              <a:rPr lang="en-US" smtClean="0"/>
              <a:t>2</a:t>
            </a:fld>
            <a:endParaRPr lang="en-US"/>
          </a:p>
        </p:txBody>
      </p:sp>
    </p:spTree>
    <p:extLst>
      <p:ext uri="{BB962C8B-B14F-4D97-AF65-F5344CB8AC3E}">
        <p14:creationId xmlns:p14="http://schemas.microsoft.com/office/powerpoint/2010/main" val="37444247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E5925C5-3766-B941-AE62-9D50A8ADC6AF}" type="slidenum">
              <a:rPr lang="en-US" smtClean="0"/>
              <a:t>3</a:t>
            </a:fld>
            <a:endParaRPr lang="en-US"/>
          </a:p>
        </p:txBody>
      </p:sp>
    </p:spTree>
    <p:extLst>
      <p:ext uri="{BB962C8B-B14F-4D97-AF65-F5344CB8AC3E}">
        <p14:creationId xmlns:p14="http://schemas.microsoft.com/office/powerpoint/2010/main" val="1332278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2157319"/>
            <a:ext cx="8915400" cy="877824"/>
          </a:xfrm>
        </p:spPr>
        <p:txBody>
          <a:bodyPr/>
          <a:lstStyle/>
          <a:p>
            <a:r>
              <a:rPr lang="en-US" smtClean="0"/>
              <a:t>Click to edit Master title style</a:t>
            </a:r>
            <a:endParaRPr/>
          </a:p>
        </p:txBody>
      </p:sp>
      <p:sp>
        <p:nvSpPr>
          <p:cNvPr id="3" name="Subtitle 2"/>
          <p:cNvSpPr>
            <a:spLocks noGrp="1"/>
          </p:cNvSpPr>
          <p:nvPr>
            <p:ph type="subTitle" idx="1"/>
          </p:nvPr>
        </p:nvSpPr>
        <p:spPr>
          <a:xfrm>
            <a:off x="914400" y="3034553"/>
            <a:ext cx="8001000" cy="3823447"/>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292608" tIns="91440" rIns="274320" bIns="91440" rtlCol="0" anchor="t" anchorCtr="0">
            <a:normAutofit/>
          </a:bodyPr>
          <a:lstStyle>
            <a:lvl1pPr marL="0" indent="0" algn="l" defTabSz="914400" rtl="0" eaLnBrk="1" latinLnBrk="0" hangingPunct="1">
              <a:spcBef>
                <a:spcPts val="2000"/>
              </a:spcBef>
              <a:buClr>
                <a:schemeClr val="accent1"/>
              </a:buClr>
              <a:buFont typeface="Wingdings 2" pitchFamily="18" charset="2"/>
              <a:buNone/>
              <a:defRPr sz="1800" kern="1200">
                <a:solidFill>
                  <a:schemeClr val="tx1">
                    <a:lumMod val="65000"/>
                    <a:lumOff val="3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70FAA508-F0CD-46EA-95FB-26B559A0B5D9}" type="datetimeFigureOut">
              <a:rPr lang="en-US" smtClean="0"/>
              <a:t>11/25/13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822907-8A9D-4F6B-98F6-913902AD56B5}"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70FAA508-F0CD-46EA-95FB-26B559A0B5D9}" type="datetimeFigureOut">
              <a:rPr lang="en-US" smtClean="0"/>
              <a:t>11/25/13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822907-8A9D-4F6B-98F6-913902AD56B5}"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0" y="5025435"/>
            <a:ext cx="8915400" cy="914400"/>
          </a:xfrm>
        </p:spPr>
        <p:txBody>
          <a:bodyPr/>
          <a:lstStyle/>
          <a:p>
            <a:r>
              <a:rPr lang="en-US" smtClean="0"/>
              <a:t>Click to edit Master title style</a:t>
            </a:r>
            <a:endParaRPr/>
          </a:p>
        </p:txBody>
      </p:sp>
      <p:sp>
        <p:nvSpPr>
          <p:cNvPr id="3" name="Subtitle 2"/>
          <p:cNvSpPr>
            <a:spLocks noGrp="1"/>
          </p:cNvSpPr>
          <p:nvPr>
            <p:ph type="subTitle" idx="1"/>
          </p:nvPr>
        </p:nvSpPr>
        <p:spPr>
          <a:xfrm>
            <a:off x="914400" y="5943600"/>
            <a:ext cx="8001000" cy="914400"/>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92608" tIns="91440" rIns="274320" bIns="91440" rtlCol="0" anchor="t" anchorCtr="0"/>
          <a:lstStyle>
            <a:lvl1pPr marL="0" indent="0" algn="l" defTabSz="914400" rtl="0" eaLnBrk="1" latinLnBrk="0" hangingPunct="1">
              <a:spcBef>
                <a:spcPts val="300"/>
              </a:spcBef>
              <a:buNone/>
              <a:defRPr sz="1800" kern="1200">
                <a:solidFill>
                  <a:schemeClr val="tx1">
                    <a:lumMod val="65000"/>
                    <a:lumOff val="3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70FAA508-F0CD-46EA-95FB-26B559A0B5D9}" type="datetimeFigureOut">
              <a:rPr lang="en-US" smtClean="0"/>
              <a:t>11/25/13</a:t>
            </a:fld>
            <a:endParaRPr lang="en-US"/>
          </a:p>
        </p:txBody>
      </p:sp>
      <p:sp>
        <p:nvSpPr>
          <p:cNvPr id="5" name="Footer Placeholder 4"/>
          <p:cNvSpPr>
            <a:spLocks noGrp="1"/>
          </p:cNvSpPr>
          <p:nvPr>
            <p:ph type="ftr" sz="quarter" idx="11"/>
          </p:nvPr>
        </p:nvSpPr>
        <p:spPr/>
        <p:txBody>
          <a:bodyPr/>
          <a:lstStyle/>
          <a:p>
            <a:endParaRPr lang="en-US"/>
          </a:p>
        </p:txBody>
      </p:sp>
      <p:sp>
        <p:nvSpPr>
          <p:cNvPr id="9" name="Picture Placeholder 8"/>
          <p:cNvSpPr>
            <a:spLocks noGrp="1"/>
          </p:cNvSpPr>
          <p:nvPr>
            <p:ph type="pic" sz="quarter" idx="13"/>
          </p:nvPr>
        </p:nvSpPr>
        <p:spPr>
          <a:xfrm>
            <a:off x="927100" y="1129553"/>
            <a:ext cx="7988300" cy="3886200"/>
          </a:xfrm>
        </p:spPr>
        <p:txBody>
          <a:bodyPr>
            <a:normAutofit/>
          </a:bodyPr>
          <a:lstStyle>
            <a:lvl1pPr marL="0" indent="0">
              <a:buNone/>
              <a:defRPr sz="1800"/>
            </a:lvl1pPr>
          </a:lstStyle>
          <a:p>
            <a:r>
              <a:rPr lang="en-US" smtClean="0"/>
              <a:t>Drag picture to placeholder or click icon to add</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3200399"/>
            <a:ext cx="8915400" cy="2286000"/>
          </a:xfrm>
          <a:solidFill>
            <a:schemeClr val="tx2"/>
          </a:solidFill>
        </p:spPr>
        <p:txBody>
          <a:bodyPr vert="horz" lIns="1188720" tIns="45720" rIns="274320" bIns="45720" rtlCol="0" anchor="b" anchorCtr="0">
            <a:normAutofit/>
          </a:bodyPr>
          <a:lstStyle>
            <a:lvl1pPr marL="0" indent="0" algn="l" defTabSz="914400" rtl="0" eaLnBrk="1" latinLnBrk="0" hangingPunct="1">
              <a:spcBef>
                <a:spcPct val="0"/>
              </a:spcBef>
              <a:buNone/>
              <a:defRPr sz="3600" kern="1200">
                <a:solidFill>
                  <a:schemeClr val="bg1"/>
                </a:solidFill>
                <a:latin typeface="+mj-lt"/>
                <a:ea typeface="+mj-ea"/>
                <a:cs typeface="+mj-cs"/>
              </a:defRPr>
            </a:lvl1pPr>
          </a:lstStyle>
          <a:p>
            <a:r>
              <a:rPr lang="en-US" smtClean="0"/>
              <a:t>Click to edit Master title style</a:t>
            </a:r>
            <a:endParaRPr/>
          </a:p>
        </p:txBody>
      </p:sp>
      <p:sp>
        <p:nvSpPr>
          <p:cNvPr id="3" name="Text Placeholder 2"/>
          <p:cNvSpPr>
            <a:spLocks noGrp="1"/>
          </p:cNvSpPr>
          <p:nvPr>
            <p:ph type="body" idx="1"/>
          </p:nvPr>
        </p:nvSpPr>
        <p:spPr>
          <a:xfrm>
            <a:off x="914400" y="5484607"/>
            <a:ext cx="8001000" cy="777240"/>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292608" tIns="91440" rIns="274320" bIns="91440" rtlCol="0" anchor="ctr" anchorCtr="0">
            <a:normAutofit/>
          </a:bodyPr>
          <a:lstStyle>
            <a:lvl1pPr marL="0" indent="0" algn="l" defTabSz="914400" rtl="0" eaLnBrk="1" latinLnBrk="0" hangingPunct="1">
              <a:spcBef>
                <a:spcPts val="300"/>
              </a:spcBef>
              <a:buClr>
                <a:schemeClr val="accent1"/>
              </a:buClr>
              <a:buFont typeface="Wingdings 2" pitchFamily="18" charset="2"/>
              <a:buNone/>
              <a:defRPr sz="1800" kern="1200">
                <a:solidFill>
                  <a:schemeClr val="tx1">
                    <a:lumMod val="65000"/>
                    <a:lumOff val="35000"/>
                  </a:schemeClr>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0FAA508-F0CD-46EA-95FB-26B559A0B5D9}" type="datetimeFigureOut">
              <a:rPr lang="en-US" smtClean="0"/>
              <a:t>11/25/13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822907-8A9D-4F6B-98F6-913902AD56B5}"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117600" y="2595563"/>
            <a:ext cx="3566160" cy="3681412"/>
          </a:xfrm>
        </p:spPr>
        <p:txBody>
          <a:bodyPr>
            <a:normAutofit/>
          </a:bodyPr>
          <a:lstStyle>
            <a:lvl1pPr>
              <a:defRPr sz="1800"/>
            </a:lvl1pPr>
            <a:lvl2pPr>
              <a:defRPr sz="1800"/>
            </a:lvl2pPr>
            <a:lvl3pPr>
              <a:defRPr sz="1800"/>
            </a:lvl3pPr>
            <a:lvl4pPr>
              <a:defRPr sz="1800"/>
            </a:lvl4pPr>
            <a:lvl5pPr>
              <a:defRPr sz="1800"/>
            </a:lvl5pPr>
            <a:lvl6pPr marL="2055813" indent="-344488">
              <a:defRPr sz="1800"/>
            </a:lvl6pPr>
            <a:lvl7pPr marL="2055813" indent="-344488">
              <a:defRPr sz="1800"/>
            </a:lvl7pPr>
            <a:lvl8pPr marL="2055813" indent="-344488">
              <a:defRPr sz="1800"/>
            </a:lvl8pPr>
            <a:lvl9pPr marL="2055813" indent="-344488">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Content Placeholder 3"/>
          <p:cNvSpPr>
            <a:spLocks noGrp="1"/>
          </p:cNvSpPr>
          <p:nvPr>
            <p:ph sz="half" idx="2"/>
          </p:nvPr>
        </p:nvSpPr>
        <p:spPr>
          <a:xfrm>
            <a:off x="5147534" y="2595563"/>
            <a:ext cx="3566160" cy="3681412"/>
          </a:xfrm>
        </p:spPr>
        <p:txBody>
          <a:bodyPr>
            <a:normAutofit/>
          </a:bodyPr>
          <a:lstStyle>
            <a:lvl1pPr>
              <a:defRPr sz="1800"/>
            </a:lvl1pPr>
            <a:lvl2pPr>
              <a:defRPr sz="1800"/>
            </a:lvl2pPr>
            <a:lvl3pPr>
              <a:defRPr sz="1800"/>
            </a:lvl3pPr>
            <a:lvl4pPr>
              <a:defRPr sz="1800"/>
            </a:lvl4pPr>
            <a:lvl5pPr>
              <a:defRPr sz="1800"/>
            </a:lvl5pPr>
            <a:lvl6pPr marL="2055813" indent="-344488">
              <a:defRPr sz="1800"/>
            </a:lvl6pPr>
            <a:lvl7pPr marL="2055813" indent="-344488">
              <a:defRPr sz="1800"/>
            </a:lvl7pPr>
            <a:lvl8pPr marL="2055813" indent="-344488">
              <a:defRPr sz="1800"/>
            </a:lvl8pPr>
            <a:lvl9pPr marL="2055813" indent="-344488">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a:xfrm>
            <a:off x="6580094" y="188259"/>
            <a:ext cx="2133600" cy="365125"/>
          </a:xfrm>
        </p:spPr>
        <p:txBody>
          <a:bodyPr/>
          <a:lstStyle/>
          <a:p>
            <a:fld id="{70FAA508-F0CD-46EA-95FB-26B559A0B5D9}" type="datetimeFigureOut">
              <a:rPr lang="en-US" smtClean="0"/>
              <a:t>11/25/13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822907-8A9D-4F6B-98F6-913902AD56B5}"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1120588" y="2017713"/>
            <a:ext cx="3566160" cy="877887"/>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20588" y="3065929"/>
            <a:ext cx="3566160" cy="3211046"/>
          </a:xfrm>
        </p:spPr>
        <p:txBody>
          <a:bodyPr>
            <a:normAutofit/>
          </a:bodyPr>
          <a:lstStyle>
            <a:lvl1pPr>
              <a:defRPr sz="1800"/>
            </a:lvl1pPr>
            <a:lvl2pPr>
              <a:defRPr sz="1800"/>
            </a:lvl2pPr>
            <a:lvl3pPr>
              <a:defRPr sz="1800"/>
            </a:lvl3pPr>
            <a:lvl4pPr>
              <a:defRPr sz="1800"/>
            </a:lvl4pPr>
            <a:lvl5pPr>
              <a:defRPr sz="1800"/>
            </a:lvl5pPr>
            <a:lvl6pPr marL="2055813" indent="-344488">
              <a:defRPr sz="1600"/>
            </a:lvl6pPr>
            <a:lvl7pPr marL="2055813" indent="-344488">
              <a:defRPr sz="1600"/>
            </a:lvl7pPr>
            <a:lvl8pPr marL="2055813" indent="-344488">
              <a:defRPr sz="1600"/>
            </a:lvl8pPr>
            <a:lvl9pPr marL="2055813" indent="-344488">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Text Placeholder 4"/>
          <p:cNvSpPr>
            <a:spLocks noGrp="1"/>
          </p:cNvSpPr>
          <p:nvPr>
            <p:ph type="body" sz="quarter" idx="3"/>
          </p:nvPr>
        </p:nvSpPr>
        <p:spPr>
          <a:xfrm>
            <a:off x="5147534" y="2017713"/>
            <a:ext cx="3566160" cy="877887"/>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147534" y="3065929"/>
            <a:ext cx="3566160" cy="3211046"/>
          </a:xfrm>
        </p:spPr>
        <p:txBody>
          <a:bodyPr>
            <a:normAutofit/>
          </a:bodyPr>
          <a:lstStyle>
            <a:lvl1pPr>
              <a:defRPr sz="1800"/>
            </a:lvl1pPr>
            <a:lvl2pPr>
              <a:defRPr sz="1800"/>
            </a:lvl2pPr>
            <a:lvl3pPr>
              <a:defRPr sz="1800"/>
            </a:lvl3pPr>
            <a:lvl4pPr>
              <a:defRPr sz="1800"/>
            </a:lvl4pPr>
            <a:lvl5pPr>
              <a:defRPr sz="1800"/>
            </a:lvl5pPr>
            <a:lvl6pPr marL="2055813" indent="-344488">
              <a:defRPr sz="1600"/>
            </a:lvl6pPr>
            <a:lvl7pPr marL="2055813" indent="-344488">
              <a:defRPr sz="1600"/>
            </a:lvl7pPr>
            <a:lvl8pPr marL="2055813" indent="-344488">
              <a:defRPr sz="1600"/>
            </a:lvl8pPr>
            <a:lvl9pPr marL="2055813" indent="-344488">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7" name="Date Placeholder 6"/>
          <p:cNvSpPr>
            <a:spLocks noGrp="1"/>
          </p:cNvSpPr>
          <p:nvPr>
            <p:ph type="dt" sz="half" idx="10"/>
          </p:nvPr>
        </p:nvSpPr>
        <p:spPr>
          <a:xfrm>
            <a:off x="6580094" y="188259"/>
            <a:ext cx="2133600" cy="365125"/>
          </a:xfrm>
        </p:spPr>
        <p:txBody>
          <a:bodyPr/>
          <a:lstStyle/>
          <a:p>
            <a:fld id="{70FAA508-F0CD-46EA-95FB-26B559A0B5D9}" type="datetimeFigureOut">
              <a:rPr lang="en-US" smtClean="0"/>
              <a:t>11/25/13</a:t>
            </a:fld>
            <a:endParaRPr lang="en-US"/>
          </a:p>
        </p:txBody>
      </p:sp>
      <p:sp>
        <p:nvSpPr>
          <p:cNvPr id="8" name="Footer Placeholder 7"/>
          <p:cNvSpPr>
            <a:spLocks noGrp="1"/>
          </p:cNvSpPr>
          <p:nvPr>
            <p:ph type="ftr" sz="quarter" idx="11"/>
          </p:nvPr>
        </p:nvSpPr>
        <p:spPr>
          <a:xfrm>
            <a:off x="1120588" y="188259"/>
            <a:ext cx="2895600" cy="365125"/>
          </a:xfrm>
        </p:spPr>
        <p:txBody>
          <a:bodyPr/>
          <a:lstStyle/>
          <a:p>
            <a:endParaRPr lang="en-US"/>
          </a:p>
        </p:txBody>
      </p:sp>
      <p:sp>
        <p:nvSpPr>
          <p:cNvPr id="9" name="Slide Number Placeholder 8"/>
          <p:cNvSpPr>
            <a:spLocks noGrp="1"/>
          </p:cNvSpPr>
          <p:nvPr>
            <p:ph type="sldNum" sz="quarter" idx="12"/>
          </p:nvPr>
        </p:nvSpPr>
        <p:spPr/>
        <p:txBody>
          <a:bodyPr/>
          <a:lstStyle/>
          <a:p>
            <a:fld id="{4A822907-8A9D-4F6B-98F6-913902AD56B5}" type="slidenum">
              <a:rPr lang="en-US" smtClean="0"/>
              <a:t>‹#›</a:t>
            </a:fld>
            <a:endParaRPr lang="en-US"/>
          </a:p>
        </p:txBody>
      </p:sp>
      <p:cxnSp>
        <p:nvCxnSpPr>
          <p:cNvPr id="11" name="Straight Connector 10"/>
          <p:cNvCxnSpPr/>
          <p:nvPr/>
        </p:nvCxnSpPr>
        <p:spPr>
          <a:xfrm>
            <a:off x="1212028"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5238974"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212028"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5238974"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212028"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238974"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70FAA508-F0CD-46EA-95FB-26B559A0B5D9}" type="datetimeFigureOut">
              <a:rPr lang="en-US" smtClean="0"/>
              <a:t>11/25/13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822907-8A9D-4F6B-98F6-913902AD56B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FAA508-F0CD-46EA-95FB-26B559A0B5D9}" type="datetimeFigureOut">
              <a:rPr lang="en-US" smtClean="0"/>
              <a:t>11/25/13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A822907-8A9D-4F6B-98F6-913902AD56B5}"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1124712"/>
            <a:ext cx="8915400" cy="914400"/>
          </a:xfrm>
          <a:solidFill>
            <a:schemeClr val="tx2"/>
          </a:solidFill>
        </p:spPr>
        <p:txBody>
          <a:bodyPr vert="horz" lIns="1188720" tIns="45720" rIns="274320" bIns="45720" rtlCol="0" anchor="ctr">
            <a:normAutofit/>
          </a:bodyPr>
          <a:lstStyle>
            <a:lvl1pPr marL="0" indent="0" algn="l" defTabSz="914400" rtl="0" eaLnBrk="1" latinLnBrk="0" hangingPunct="1">
              <a:spcBef>
                <a:spcPct val="0"/>
              </a:spcBef>
              <a:buNone/>
              <a:defRPr sz="3600" kern="1200">
                <a:solidFill>
                  <a:schemeClr val="bg1"/>
                </a:solidFill>
                <a:latin typeface="+mj-lt"/>
                <a:ea typeface="+mj-ea"/>
                <a:cs typeface="+mj-cs"/>
              </a:defRPr>
            </a:lvl1pPr>
          </a:lstStyle>
          <a:p>
            <a:r>
              <a:rPr lang="en-US" smtClean="0"/>
              <a:t>Click to edit Master title style</a:t>
            </a:r>
            <a:endParaRPr/>
          </a:p>
        </p:txBody>
      </p:sp>
      <p:sp>
        <p:nvSpPr>
          <p:cNvPr id="3" name="Content Placeholder 2"/>
          <p:cNvSpPr>
            <a:spLocks noGrp="1"/>
          </p:cNvSpPr>
          <p:nvPr>
            <p:ph idx="1"/>
          </p:nvPr>
        </p:nvSpPr>
        <p:spPr>
          <a:xfrm>
            <a:off x="5147534" y="2590800"/>
            <a:ext cx="3566160" cy="3686175"/>
          </a:xfrm>
        </p:spPr>
        <p:txBody>
          <a:bodyPr/>
          <a:lstStyle>
            <a:lvl1pPr>
              <a:defRPr sz="1800"/>
            </a:lvl1pPr>
            <a:lvl2pPr>
              <a:defRPr sz="1800"/>
            </a:lvl2pPr>
            <a:lvl3pPr>
              <a:defRPr sz="1800"/>
            </a:lvl3pPr>
            <a:lvl4pPr>
              <a:defRPr sz="1800"/>
            </a:lvl4pPr>
            <a:lvl5pPr>
              <a:defRPr sz="1800"/>
            </a:lvl5pPr>
            <a:lvl6pPr marL="2055813" indent="-344488">
              <a:defRPr sz="2000"/>
            </a:lvl6pPr>
            <a:lvl7pPr marL="2055813" indent="-344488">
              <a:defRPr sz="2000"/>
            </a:lvl7pPr>
            <a:lvl8pPr marL="2055813" indent="-344488">
              <a:defRPr sz="2000"/>
            </a:lvl8pPr>
            <a:lvl9pPr marL="2055813" indent="-344488">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Text Placeholder 3"/>
          <p:cNvSpPr>
            <a:spLocks noGrp="1"/>
          </p:cNvSpPr>
          <p:nvPr>
            <p:ph type="body" sz="half" idx="2"/>
          </p:nvPr>
        </p:nvSpPr>
        <p:spPr>
          <a:xfrm>
            <a:off x="900952" y="2039111"/>
            <a:ext cx="3566160" cy="4224528"/>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292608" tIns="274320" rIns="274320" bIns="274320" rtlCol="0" anchor="t" anchorCtr="0">
            <a:normAutofit/>
          </a:bodyPr>
          <a:lstStyle>
            <a:lvl1pPr marL="0" indent="0" algn="l" defTabSz="914400" rtl="0" eaLnBrk="1" latinLnBrk="0" hangingPunct="1">
              <a:spcBef>
                <a:spcPts val="2000"/>
              </a:spcBef>
              <a:buClr>
                <a:schemeClr val="accent1"/>
              </a:buClr>
              <a:buFont typeface="Wingdings 2" pitchFamily="18" charset="2"/>
              <a:buNone/>
              <a:defRPr sz="1800" kern="1200">
                <a:solidFill>
                  <a:schemeClr val="tx1">
                    <a:lumMod val="65000"/>
                    <a:lumOff val="35000"/>
                  </a:schemeClr>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6580094" y="188259"/>
            <a:ext cx="2133600" cy="365125"/>
          </a:xfrm>
        </p:spPr>
        <p:txBody>
          <a:bodyPr/>
          <a:lstStyle/>
          <a:p>
            <a:fld id="{70FAA508-F0CD-46EA-95FB-26B559A0B5D9}" type="datetimeFigureOut">
              <a:rPr lang="en-US" smtClean="0"/>
              <a:t>11/25/13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822907-8A9D-4F6B-98F6-913902AD56B5}"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1124712"/>
            <a:ext cx="8915400" cy="914400"/>
          </a:xfrm>
          <a:solidFill>
            <a:schemeClr val="tx2"/>
          </a:solidFill>
        </p:spPr>
        <p:txBody>
          <a:bodyPr vert="horz" lIns="1188720" tIns="45720" rIns="274320" bIns="45720" rtlCol="0" anchor="ctr">
            <a:normAutofit/>
          </a:bodyPr>
          <a:lstStyle>
            <a:lvl1pPr marL="0" indent="0" algn="l" defTabSz="914400" rtl="0" eaLnBrk="1" latinLnBrk="0" hangingPunct="1">
              <a:spcBef>
                <a:spcPct val="0"/>
              </a:spcBef>
              <a:buNone/>
              <a:defRPr sz="3600" kern="1200">
                <a:solidFill>
                  <a:schemeClr val="bg1"/>
                </a:solidFill>
                <a:latin typeface="+mj-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5487987" y="2048256"/>
            <a:ext cx="3427413" cy="4206240"/>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a:p>
        </p:txBody>
      </p:sp>
      <p:sp>
        <p:nvSpPr>
          <p:cNvPr id="4" name="Text Placeholder 3"/>
          <p:cNvSpPr>
            <a:spLocks noGrp="1"/>
          </p:cNvSpPr>
          <p:nvPr>
            <p:ph type="body" sz="half" idx="2"/>
          </p:nvPr>
        </p:nvSpPr>
        <p:spPr>
          <a:xfrm>
            <a:off x="914400" y="2039112"/>
            <a:ext cx="4572000" cy="4224528"/>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292608" tIns="274320" rIns="274320" bIns="274320" rtlCol="0" anchor="t" anchorCtr="0">
            <a:normAutofit/>
          </a:bodyPr>
          <a:lstStyle>
            <a:lvl1pPr marL="0" indent="0">
              <a:buNone/>
              <a:defRPr sz="1800" kern="1200">
                <a:solidFill>
                  <a:schemeClr val="tx1">
                    <a:lumMod val="65000"/>
                    <a:lumOff val="35000"/>
                  </a:schemeClr>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l" defTabSz="914400" rtl="0" eaLnBrk="1" latinLnBrk="0" hangingPunct="1">
              <a:spcBef>
                <a:spcPts val="2000"/>
              </a:spcBef>
              <a:buClr>
                <a:schemeClr val="accent1"/>
              </a:buClr>
              <a:buFont typeface="Wingdings 2" pitchFamily="18" charset="2"/>
              <a:buNone/>
            </a:pPr>
            <a:r>
              <a:rPr lang="en-US" smtClean="0"/>
              <a:t>Click to edit Master text styles</a:t>
            </a:r>
          </a:p>
        </p:txBody>
      </p:sp>
      <p:sp>
        <p:nvSpPr>
          <p:cNvPr id="5" name="Date Placeholder 4"/>
          <p:cNvSpPr>
            <a:spLocks noGrp="1"/>
          </p:cNvSpPr>
          <p:nvPr>
            <p:ph type="dt" sz="half" idx="10"/>
          </p:nvPr>
        </p:nvSpPr>
        <p:spPr>
          <a:xfrm>
            <a:off x="6580094" y="188259"/>
            <a:ext cx="2133600" cy="365125"/>
          </a:xfrm>
        </p:spPr>
        <p:txBody>
          <a:bodyPr/>
          <a:lstStyle/>
          <a:p>
            <a:fld id="{70FAA508-F0CD-46EA-95FB-26B559A0B5D9}" type="datetimeFigureOut">
              <a:rPr lang="en-US" smtClean="0"/>
              <a:t>11/25/13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822907-8A9D-4F6B-98F6-913902AD56B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icture above Caption">
    <p:spTree>
      <p:nvGrpSpPr>
        <p:cNvPr id="1" name=""/>
        <p:cNvGrpSpPr/>
        <p:nvPr/>
      </p:nvGrpSpPr>
      <p:grpSpPr>
        <a:xfrm>
          <a:off x="0" y="0"/>
          <a:ext cx="0" cy="0"/>
          <a:chOff x="0" y="0"/>
          <a:chExt cx="0" cy="0"/>
        </a:xfrm>
      </p:grpSpPr>
      <p:sp>
        <p:nvSpPr>
          <p:cNvPr id="2" name="Title 1"/>
          <p:cNvSpPr>
            <a:spLocks noGrp="1"/>
          </p:cNvSpPr>
          <p:nvPr>
            <p:ph type="ctrTitle"/>
          </p:nvPr>
        </p:nvSpPr>
        <p:spPr>
          <a:xfrm>
            <a:off x="0" y="4114800"/>
            <a:ext cx="8915400" cy="877824"/>
          </a:xfrm>
        </p:spPr>
        <p:txBody>
          <a:bodyPr tIns="137160" bIns="137160" anchor="b" anchorCtr="0">
            <a:normAutofit/>
          </a:bodyPr>
          <a:lstStyle>
            <a:lvl1pPr>
              <a:defRPr sz="2400"/>
            </a:lvl1pPr>
          </a:lstStyle>
          <a:p>
            <a:r>
              <a:rPr lang="en-US" smtClean="0"/>
              <a:t>Click to edit Master title style</a:t>
            </a:r>
            <a:endParaRPr/>
          </a:p>
        </p:txBody>
      </p:sp>
      <p:sp>
        <p:nvSpPr>
          <p:cNvPr id="3" name="Subtitle 2"/>
          <p:cNvSpPr>
            <a:spLocks noGrp="1"/>
          </p:cNvSpPr>
          <p:nvPr>
            <p:ph type="subTitle" idx="1"/>
          </p:nvPr>
        </p:nvSpPr>
        <p:spPr>
          <a:xfrm>
            <a:off x="914400" y="5002305"/>
            <a:ext cx="8001000" cy="1855695"/>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92608" tIns="137160" rIns="274320" bIns="137160" rtlCol="0" anchor="t" anchorCtr="0">
            <a:normAutofit/>
          </a:bodyPr>
          <a:lstStyle>
            <a:lvl1pPr marL="0" indent="0" algn="l" defTabSz="914400" rtl="0" eaLnBrk="1" latinLnBrk="0" hangingPunct="1">
              <a:spcBef>
                <a:spcPts val="300"/>
              </a:spcBef>
              <a:buNone/>
              <a:defRPr sz="1600" kern="1200">
                <a:solidFill>
                  <a:schemeClr val="tx1">
                    <a:lumMod val="65000"/>
                    <a:lumOff val="3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70FAA508-F0CD-46EA-95FB-26B559A0B5D9}" type="datetimeFigureOut">
              <a:rPr lang="en-US" smtClean="0"/>
              <a:t>11/25/13</a:t>
            </a:fld>
            <a:endParaRPr lang="en-US"/>
          </a:p>
        </p:txBody>
      </p:sp>
      <p:sp>
        <p:nvSpPr>
          <p:cNvPr id="5" name="Footer Placeholder 4"/>
          <p:cNvSpPr>
            <a:spLocks noGrp="1"/>
          </p:cNvSpPr>
          <p:nvPr>
            <p:ph type="ftr" sz="quarter" idx="11"/>
          </p:nvPr>
        </p:nvSpPr>
        <p:spPr/>
        <p:txBody>
          <a:bodyPr/>
          <a:lstStyle/>
          <a:p>
            <a:endParaRPr lang="en-US"/>
          </a:p>
        </p:txBody>
      </p:sp>
      <p:sp>
        <p:nvSpPr>
          <p:cNvPr id="9" name="Picture Placeholder 8"/>
          <p:cNvSpPr>
            <a:spLocks noGrp="1"/>
          </p:cNvSpPr>
          <p:nvPr>
            <p:ph type="pic" sz="quarter" idx="13"/>
          </p:nvPr>
        </p:nvSpPr>
        <p:spPr>
          <a:xfrm>
            <a:off x="927100" y="1129553"/>
            <a:ext cx="7988300" cy="2980944"/>
          </a:xfrm>
        </p:spPr>
        <p:txBody>
          <a:bodyPr>
            <a:normAutofit/>
          </a:bodyPr>
          <a:lstStyle>
            <a:lvl1pPr marL="0" indent="0">
              <a:buNone/>
              <a:defRPr sz="1800"/>
            </a:lvl1pPr>
          </a:lstStyle>
          <a:p>
            <a:r>
              <a:rPr lang="en-US" smtClean="0"/>
              <a:t>Drag picture to placeholder or click icon to add</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2" name="Title 1"/>
          <p:cNvSpPr>
            <a:spLocks noGrp="1"/>
          </p:cNvSpPr>
          <p:nvPr>
            <p:ph type="ctrTitle"/>
          </p:nvPr>
        </p:nvSpPr>
        <p:spPr>
          <a:xfrm>
            <a:off x="0" y="4114800"/>
            <a:ext cx="8915400" cy="877824"/>
          </a:xfrm>
        </p:spPr>
        <p:txBody>
          <a:bodyPr tIns="137160" bIns="137160" anchor="b" anchorCtr="0">
            <a:normAutofit/>
          </a:bodyPr>
          <a:lstStyle>
            <a:lvl1pPr>
              <a:defRPr sz="2400"/>
            </a:lvl1pPr>
          </a:lstStyle>
          <a:p>
            <a:r>
              <a:rPr lang="en-US" smtClean="0"/>
              <a:t>Click to edit Master title style</a:t>
            </a:r>
            <a:endParaRPr/>
          </a:p>
        </p:txBody>
      </p:sp>
      <p:sp>
        <p:nvSpPr>
          <p:cNvPr id="3" name="Subtitle 2"/>
          <p:cNvSpPr>
            <a:spLocks noGrp="1"/>
          </p:cNvSpPr>
          <p:nvPr>
            <p:ph type="subTitle" idx="1"/>
          </p:nvPr>
        </p:nvSpPr>
        <p:spPr>
          <a:xfrm>
            <a:off x="914400" y="5002305"/>
            <a:ext cx="8001000" cy="1855695"/>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92608" tIns="137160" rIns="274320" bIns="137160" rtlCol="0" anchor="t" anchorCtr="0">
            <a:normAutofit/>
          </a:bodyPr>
          <a:lstStyle>
            <a:lvl1pPr marL="0" indent="0" algn="l" defTabSz="914400" rtl="0" eaLnBrk="1" latinLnBrk="0" hangingPunct="1">
              <a:spcBef>
                <a:spcPts val="300"/>
              </a:spcBef>
              <a:buNone/>
              <a:defRPr sz="1600" kern="1200">
                <a:solidFill>
                  <a:schemeClr val="tx1">
                    <a:lumMod val="65000"/>
                    <a:lumOff val="3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a:xfrm>
            <a:off x="6580094" y="188259"/>
            <a:ext cx="2133600" cy="365125"/>
          </a:xfrm>
        </p:spPr>
        <p:txBody>
          <a:bodyPr/>
          <a:lstStyle/>
          <a:p>
            <a:fld id="{70FAA508-F0CD-46EA-95FB-26B559A0B5D9}" type="datetimeFigureOut">
              <a:rPr lang="en-US" smtClean="0"/>
              <a:t>11/25/13</a:t>
            </a:fld>
            <a:endParaRPr lang="en-US"/>
          </a:p>
        </p:txBody>
      </p:sp>
      <p:sp>
        <p:nvSpPr>
          <p:cNvPr id="5" name="Footer Placeholder 4"/>
          <p:cNvSpPr>
            <a:spLocks noGrp="1"/>
          </p:cNvSpPr>
          <p:nvPr>
            <p:ph type="ftr" sz="quarter" idx="11"/>
          </p:nvPr>
        </p:nvSpPr>
        <p:spPr/>
        <p:txBody>
          <a:bodyPr/>
          <a:lstStyle/>
          <a:p>
            <a:endParaRPr lang="en-US"/>
          </a:p>
        </p:txBody>
      </p:sp>
      <p:sp>
        <p:nvSpPr>
          <p:cNvPr id="9" name="Picture Placeholder 8"/>
          <p:cNvSpPr>
            <a:spLocks noGrp="1"/>
          </p:cNvSpPr>
          <p:nvPr>
            <p:ph type="pic" sz="quarter" idx="13"/>
          </p:nvPr>
        </p:nvSpPr>
        <p:spPr>
          <a:xfrm>
            <a:off x="927100" y="1129553"/>
            <a:ext cx="3986784" cy="2980944"/>
          </a:xfrm>
        </p:spPr>
        <p:txBody>
          <a:bodyPr>
            <a:normAutofit/>
          </a:bodyPr>
          <a:lstStyle>
            <a:lvl1pPr marL="0" indent="0">
              <a:buNone/>
              <a:defRPr sz="1800"/>
            </a:lvl1pPr>
          </a:lstStyle>
          <a:p>
            <a:r>
              <a:rPr lang="en-US" smtClean="0"/>
              <a:t>Drag picture to placeholder or click icon to add</a:t>
            </a:r>
            <a:endParaRPr/>
          </a:p>
        </p:txBody>
      </p:sp>
      <p:sp>
        <p:nvSpPr>
          <p:cNvPr id="7" name="Picture Placeholder 8"/>
          <p:cNvSpPr>
            <a:spLocks noGrp="1"/>
          </p:cNvSpPr>
          <p:nvPr>
            <p:ph type="pic" sz="quarter" idx="14"/>
          </p:nvPr>
        </p:nvSpPr>
        <p:spPr>
          <a:xfrm>
            <a:off x="4928616" y="1129553"/>
            <a:ext cx="3986784" cy="2980944"/>
          </a:xfrm>
        </p:spPr>
        <p:txBody>
          <a:bodyPr>
            <a:normAutofit/>
          </a:bodyPr>
          <a:lstStyle>
            <a:lvl1pPr marL="0" indent="0">
              <a:buNone/>
              <a:defRPr sz="1800"/>
            </a:lvl1pPr>
          </a:lstStyle>
          <a:p>
            <a:r>
              <a:rPr lang="en-US" smtClean="0"/>
              <a:t>Drag picture to placeholder or click icon to add</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2" name="Title 1"/>
          <p:cNvSpPr>
            <a:spLocks noGrp="1"/>
          </p:cNvSpPr>
          <p:nvPr>
            <p:ph type="ctrTitle"/>
          </p:nvPr>
        </p:nvSpPr>
        <p:spPr>
          <a:xfrm>
            <a:off x="0" y="4114800"/>
            <a:ext cx="8915400" cy="877824"/>
          </a:xfrm>
        </p:spPr>
        <p:txBody>
          <a:bodyPr tIns="137160" bIns="137160" anchor="b" anchorCtr="0">
            <a:normAutofit/>
          </a:bodyPr>
          <a:lstStyle>
            <a:lvl1pPr>
              <a:defRPr sz="2400"/>
            </a:lvl1pPr>
          </a:lstStyle>
          <a:p>
            <a:r>
              <a:rPr lang="en-US" smtClean="0"/>
              <a:t>Click to edit Master title style</a:t>
            </a:r>
            <a:endParaRPr/>
          </a:p>
        </p:txBody>
      </p:sp>
      <p:sp>
        <p:nvSpPr>
          <p:cNvPr id="3" name="Subtitle 2"/>
          <p:cNvSpPr>
            <a:spLocks noGrp="1"/>
          </p:cNvSpPr>
          <p:nvPr>
            <p:ph type="subTitle" idx="1"/>
          </p:nvPr>
        </p:nvSpPr>
        <p:spPr>
          <a:xfrm>
            <a:off x="914400" y="5002305"/>
            <a:ext cx="8001000" cy="1855695"/>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92608" tIns="137160" rIns="274320" bIns="137160" rtlCol="0" anchor="t" anchorCtr="0">
            <a:normAutofit/>
          </a:bodyPr>
          <a:lstStyle>
            <a:lvl1pPr marL="0" indent="0" algn="l" defTabSz="914400" rtl="0" eaLnBrk="1" latinLnBrk="0" hangingPunct="1">
              <a:spcBef>
                <a:spcPts val="300"/>
              </a:spcBef>
              <a:buNone/>
              <a:defRPr sz="1600" kern="1200">
                <a:solidFill>
                  <a:schemeClr val="tx1">
                    <a:lumMod val="65000"/>
                    <a:lumOff val="3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6580094" y="188259"/>
            <a:ext cx="2133600" cy="365125"/>
          </a:xfrm>
        </p:spPr>
        <p:txBody>
          <a:bodyPr/>
          <a:lstStyle/>
          <a:p>
            <a:fld id="{70FAA508-F0CD-46EA-95FB-26B559A0B5D9}" type="datetimeFigureOut">
              <a:rPr lang="en-US" smtClean="0"/>
              <a:t>11/25/13</a:t>
            </a:fld>
            <a:endParaRPr lang="en-US"/>
          </a:p>
        </p:txBody>
      </p:sp>
      <p:sp>
        <p:nvSpPr>
          <p:cNvPr id="5" name="Footer Placeholder 4"/>
          <p:cNvSpPr>
            <a:spLocks noGrp="1"/>
          </p:cNvSpPr>
          <p:nvPr>
            <p:ph type="ftr" sz="quarter" idx="11"/>
          </p:nvPr>
        </p:nvSpPr>
        <p:spPr/>
        <p:txBody>
          <a:bodyPr/>
          <a:lstStyle/>
          <a:p>
            <a:endParaRPr lang="en-US"/>
          </a:p>
        </p:txBody>
      </p:sp>
      <p:sp>
        <p:nvSpPr>
          <p:cNvPr id="9" name="Picture Placeholder 8"/>
          <p:cNvSpPr>
            <a:spLocks noGrp="1"/>
          </p:cNvSpPr>
          <p:nvPr>
            <p:ph type="pic" sz="quarter" idx="13"/>
          </p:nvPr>
        </p:nvSpPr>
        <p:spPr>
          <a:xfrm>
            <a:off x="927100" y="1129553"/>
            <a:ext cx="6601968" cy="2980944"/>
          </a:xfrm>
        </p:spPr>
        <p:txBody>
          <a:bodyPr>
            <a:normAutofit/>
          </a:bodyPr>
          <a:lstStyle>
            <a:lvl1pPr marL="0" indent="0">
              <a:buNone/>
              <a:defRPr sz="1800"/>
            </a:lvl1pPr>
          </a:lstStyle>
          <a:p>
            <a:r>
              <a:rPr lang="en-US" smtClean="0"/>
              <a:t>Drag picture to placeholder or click icon to add</a:t>
            </a:r>
            <a:endParaRPr/>
          </a:p>
        </p:txBody>
      </p:sp>
      <p:sp>
        <p:nvSpPr>
          <p:cNvPr id="7" name="Picture Placeholder 8"/>
          <p:cNvSpPr>
            <a:spLocks noGrp="1"/>
          </p:cNvSpPr>
          <p:nvPr>
            <p:ph type="pic" sz="quarter" idx="14"/>
          </p:nvPr>
        </p:nvSpPr>
        <p:spPr>
          <a:xfrm>
            <a:off x="7543800" y="1129553"/>
            <a:ext cx="1371600" cy="1481328"/>
          </a:xfrm>
        </p:spPr>
        <p:txBody>
          <a:bodyPr>
            <a:normAutofit/>
          </a:bodyPr>
          <a:lstStyle>
            <a:lvl1pPr marL="0" indent="0">
              <a:buNone/>
              <a:defRPr sz="1800"/>
            </a:lvl1pPr>
          </a:lstStyle>
          <a:p>
            <a:r>
              <a:rPr lang="en-US" smtClean="0"/>
              <a:t>Drag picture to placeholder or click icon to add</a:t>
            </a:r>
            <a:endParaRPr/>
          </a:p>
        </p:txBody>
      </p:sp>
      <p:sp>
        <p:nvSpPr>
          <p:cNvPr id="8" name="Picture Placeholder 8"/>
          <p:cNvSpPr>
            <a:spLocks noGrp="1"/>
          </p:cNvSpPr>
          <p:nvPr>
            <p:ph type="pic" sz="quarter" idx="15"/>
          </p:nvPr>
        </p:nvSpPr>
        <p:spPr>
          <a:xfrm>
            <a:off x="7543800" y="2629169"/>
            <a:ext cx="1371600" cy="1481328"/>
          </a:xfrm>
        </p:spPr>
        <p:txBody>
          <a:bodyPr>
            <a:normAutofit/>
          </a:bodyPr>
          <a:lstStyle>
            <a:lvl1pPr marL="0" indent="0">
              <a:buNone/>
              <a:defRPr sz="1800"/>
            </a:lvl1pPr>
          </a:lstStyle>
          <a:p>
            <a:r>
              <a:rPr lang="en-US" smtClean="0"/>
              <a:t>Drag picture to placeholder or click icon to add</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70FAA508-F0CD-46EA-95FB-26B559A0B5D9}" type="datetimeFigureOut">
              <a:rPr lang="en-US" smtClean="0"/>
              <a:t>11/25/13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822907-8A9D-4F6B-98F6-913902AD56B5}"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87553" y="1129554"/>
            <a:ext cx="914400" cy="5533278"/>
          </a:xfrm>
        </p:spPr>
        <p:txBody>
          <a:bodyPr vert="eaVert" lIns="274320" tIns="685800" bIns="685800"/>
          <a:lstStyle/>
          <a:p>
            <a:r>
              <a:rPr lang="en-US" smtClean="0"/>
              <a:t>Click to edit Master title style</a:t>
            </a:r>
            <a:endParaRPr/>
          </a:p>
        </p:txBody>
      </p:sp>
      <p:sp>
        <p:nvSpPr>
          <p:cNvPr id="3" name="Vertical Text Placeholder 2"/>
          <p:cNvSpPr>
            <a:spLocks noGrp="1"/>
          </p:cNvSpPr>
          <p:nvPr>
            <p:ph type="body" orient="vert" idx="1"/>
          </p:nvPr>
        </p:nvSpPr>
        <p:spPr>
          <a:xfrm>
            <a:off x="1117600" y="1734671"/>
            <a:ext cx="6426200" cy="4542304"/>
          </a:xfrm>
        </p:spPr>
        <p:txBody>
          <a:bodyPr vert="eaVert"/>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70FAA508-F0CD-46EA-95FB-26B559A0B5D9}" type="datetimeFigureOut">
              <a:rPr lang="en-US" smtClean="0"/>
              <a:t>11/25/13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822907-8A9D-4F6B-98F6-913902AD56B5}"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123856"/>
            <a:ext cx="8913813" cy="914400"/>
          </a:xfrm>
          <a:prstGeom prst="rect">
            <a:avLst/>
          </a:prstGeom>
          <a:solidFill>
            <a:schemeClr val="tx2"/>
          </a:solidFill>
        </p:spPr>
        <p:txBody>
          <a:bodyPr vert="horz" lIns="1188720" tIns="45720" rIns="274320" bIns="45720" rtlCol="0" anchor="ctr">
            <a:normAutofit/>
          </a:bodyPr>
          <a:lstStyle/>
          <a:p>
            <a:r>
              <a:rPr lang="en-US" smtClean="0"/>
              <a:t>Click to edit Master title style</a:t>
            </a:r>
            <a:endParaRPr/>
          </a:p>
        </p:txBody>
      </p:sp>
      <p:sp>
        <p:nvSpPr>
          <p:cNvPr id="3" name="Text Placeholder 2"/>
          <p:cNvSpPr>
            <a:spLocks noGrp="1"/>
          </p:cNvSpPr>
          <p:nvPr>
            <p:ph type="body" idx="1"/>
          </p:nvPr>
        </p:nvSpPr>
        <p:spPr>
          <a:xfrm>
            <a:off x="1114424" y="2595562"/>
            <a:ext cx="7610476" cy="367076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2"/>
          </p:nvPr>
        </p:nvSpPr>
        <p:spPr>
          <a:xfrm>
            <a:off x="6580094" y="188259"/>
            <a:ext cx="2133600" cy="365125"/>
          </a:xfrm>
          <a:prstGeom prst="rect">
            <a:avLst/>
          </a:prstGeom>
        </p:spPr>
        <p:txBody>
          <a:bodyPr vert="horz" lIns="91440" tIns="45720" rIns="91440" bIns="45720" rtlCol="0" anchor="ctr"/>
          <a:lstStyle>
            <a:lvl1pPr algn="r">
              <a:defRPr sz="1000">
                <a:solidFill>
                  <a:schemeClr val="tx1">
                    <a:lumMod val="65000"/>
                    <a:lumOff val="35000"/>
                  </a:schemeClr>
                </a:solidFill>
              </a:defRPr>
            </a:lvl1pPr>
          </a:lstStyle>
          <a:p>
            <a:fld id="{70FAA508-F0CD-46EA-95FB-26B559A0B5D9}" type="datetimeFigureOut">
              <a:rPr lang="en-US" smtClean="0"/>
              <a:t>11/25/13</a:t>
            </a:fld>
            <a:endParaRPr lang="en-US"/>
          </a:p>
        </p:txBody>
      </p:sp>
      <p:sp>
        <p:nvSpPr>
          <p:cNvPr id="5" name="Footer Placeholder 4"/>
          <p:cNvSpPr>
            <a:spLocks noGrp="1"/>
          </p:cNvSpPr>
          <p:nvPr>
            <p:ph type="ftr" sz="quarter" idx="3"/>
          </p:nvPr>
        </p:nvSpPr>
        <p:spPr>
          <a:xfrm>
            <a:off x="1120588" y="188259"/>
            <a:ext cx="2895600" cy="365125"/>
          </a:xfrm>
          <a:prstGeom prst="rect">
            <a:avLst/>
          </a:prstGeom>
        </p:spPr>
        <p:txBody>
          <a:bodyPr vert="horz" lIns="91440" tIns="45720" rIns="91440" bIns="45720" rtlCol="0" anchor="ctr"/>
          <a:lstStyle>
            <a:lvl1pPr algn="l">
              <a:defRPr sz="10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789894" y="6569075"/>
            <a:ext cx="457200" cy="365125"/>
          </a:xfrm>
          <a:prstGeom prst="rect">
            <a:avLst/>
          </a:prstGeom>
        </p:spPr>
        <p:txBody>
          <a:bodyPr vert="horz" lIns="91440" tIns="45720" rIns="91440" bIns="45720" rtlCol="0" anchor="ctr"/>
          <a:lstStyle>
            <a:lvl1pPr algn="ctr">
              <a:defRPr sz="800">
                <a:solidFill>
                  <a:schemeClr val="tx1">
                    <a:lumMod val="65000"/>
                    <a:lumOff val="35000"/>
                  </a:schemeClr>
                </a:solidFill>
              </a:defRPr>
            </a:lvl1pPr>
          </a:lstStyle>
          <a:p>
            <a:fld id="{4A822907-8A9D-4F6B-98F6-913902AD56B5}" type="slidenum">
              <a:rPr lang="en-US" smtClean="0"/>
              <a:t>‹#›</a:t>
            </a:fld>
            <a:endParaRPr lang="en-US"/>
          </a:p>
        </p:txBody>
      </p:sp>
      <p:sp>
        <p:nvSpPr>
          <p:cNvPr id="7" name="Rectangle 6"/>
          <p:cNvSpPr/>
          <p:nvPr/>
        </p:nvSpPr>
        <p:spPr>
          <a:xfrm>
            <a:off x="914400" y="0"/>
            <a:ext cx="7999413" cy="182880"/>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914400" y="6675120"/>
            <a:ext cx="7999413" cy="18288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xStyles>
    <p:titleStyle>
      <a:lvl1pPr marL="0" indent="0" algn="l" defTabSz="914400" rtl="0" eaLnBrk="1" latinLnBrk="0" hangingPunct="1">
        <a:spcBef>
          <a:spcPct val="0"/>
        </a:spcBef>
        <a:buNone/>
        <a:defRPr sz="3600" kern="1200">
          <a:solidFill>
            <a:schemeClr val="bg1"/>
          </a:solidFill>
          <a:latin typeface="+mj-lt"/>
          <a:ea typeface="+mj-ea"/>
          <a:cs typeface="+mj-cs"/>
        </a:defRPr>
      </a:lvl1pPr>
    </p:titleStyle>
    <p:body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47272"/>
            <a:ext cx="9144000" cy="1499141"/>
          </a:xfrm>
        </p:spPr>
        <p:txBody>
          <a:bodyPr>
            <a:normAutofit/>
          </a:bodyPr>
          <a:lstStyle/>
          <a:p>
            <a:r>
              <a:rPr lang="en-US" dirty="0" smtClean="0"/>
              <a:t>The Effect of Student Aid on Graduate School Enrollment</a:t>
            </a:r>
            <a:endParaRPr lang="en-US" dirty="0"/>
          </a:p>
        </p:txBody>
      </p:sp>
      <p:sp>
        <p:nvSpPr>
          <p:cNvPr id="3" name="Subtitle 2"/>
          <p:cNvSpPr>
            <a:spLocks noGrp="1"/>
          </p:cNvSpPr>
          <p:nvPr>
            <p:ph type="subTitle" idx="1"/>
          </p:nvPr>
        </p:nvSpPr>
        <p:spPr>
          <a:xfrm>
            <a:off x="575732" y="2272552"/>
            <a:ext cx="8017935" cy="3823447"/>
          </a:xfrm>
        </p:spPr>
        <p:txBody>
          <a:bodyPr/>
          <a:lstStyle/>
          <a:p>
            <a:pPr algn="ctr"/>
            <a:r>
              <a:rPr lang="en-US" dirty="0" smtClean="0"/>
              <a:t>Presented By:</a:t>
            </a:r>
          </a:p>
          <a:p>
            <a:pPr algn="ctr"/>
            <a:r>
              <a:rPr lang="en-US" dirty="0" smtClean="0"/>
              <a:t>Nathan Smooha</a:t>
            </a:r>
          </a:p>
          <a:p>
            <a:pPr algn="ctr"/>
            <a:r>
              <a:rPr lang="en-US" dirty="0" smtClean="0"/>
              <a:t>November 26, 2013</a:t>
            </a:r>
          </a:p>
          <a:p>
            <a:pPr algn="ctr"/>
            <a:r>
              <a:rPr lang="en-US" dirty="0" smtClean="0"/>
              <a:t>Public Economics I</a:t>
            </a:r>
          </a:p>
          <a:p>
            <a:pPr algn="ctr"/>
            <a:r>
              <a:rPr lang="en-US" dirty="0" smtClean="0"/>
              <a:t>Texas A&amp;M University</a:t>
            </a:r>
            <a:endParaRPr lang="en-US" dirty="0"/>
          </a:p>
        </p:txBody>
      </p:sp>
    </p:spTree>
    <p:extLst>
      <p:ext uri="{BB962C8B-B14F-4D97-AF65-F5344CB8AC3E}">
        <p14:creationId xmlns:p14="http://schemas.microsoft.com/office/powerpoint/2010/main" val="30953965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16934"/>
            <a:ext cx="9144000" cy="914400"/>
          </a:xfrm>
        </p:spPr>
        <p:txBody>
          <a:bodyPr/>
          <a:lstStyle/>
          <a:p>
            <a:pPr algn="ctr"/>
            <a:r>
              <a:rPr lang="en-US" dirty="0" smtClean="0"/>
              <a:t>Introduction</a:t>
            </a:r>
            <a:endParaRPr lang="en-US" dirty="0"/>
          </a:p>
        </p:txBody>
      </p:sp>
      <p:sp>
        <p:nvSpPr>
          <p:cNvPr id="3" name="Content Placeholder 2"/>
          <p:cNvSpPr>
            <a:spLocks noGrp="1"/>
          </p:cNvSpPr>
          <p:nvPr>
            <p:ph idx="1"/>
          </p:nvPr>
        </p:nvSpPr>
        <p:spPr>
          <a:xfrm>
            <a:off x="1" y="1131334"/>
            <a:ext cx="9144000" cy="5472666"/>
          </a:xfrm>
        </p:spPr>
        <p:txBody>
          <a:bodyPr/>
          <a:lstStyle/>
          <a:p>
            <a:r>
              <a:rPr lang="en-US" dirty="0" smtClean="0"/>
              <a:t>The United States spends billions of dollars each year on financial aid for both undergraduate and graduate students.</a:t>
            </a:r>
          </a:p>
          <a:p>
            <a:r>
              <a:rPr lang="en-US" dirty="0" smtClean="0"/>
              <a:t>A wide array of policy instruments are used to subsidize college attendance: subsidized loans, merit scholarships, low public tuition, and tax incentives.</a:t>
            </a:r>
          </a:p>
          <a:p>
            <a:r>
              <a:rPr lang="en-US" dirty="0"/>
              <a:t>A large amount of economic research has been dedicated to measuring the effect financial aid has on college attendance and completion</a:t>
            </a:r>
            <a:r>
              <a:rPr lang="en-US" dirty="0" smtClean="0"/>
              <a:t>.</a:t>
            </a:r>
          </a:p>
          <a:p>
            <a:r>
              <a:rPr lang="en-US" dirty="0"/>
              <a:t>The research focuses on the incentives and distributional effects created by government policy toward education</a:t>
            </a:r>
            <a:r>
              <a:rPr lang="en-US" dirty="0" smtClean="0"/>
              <a:t>.</a:t>
            </a:r>
          </a:p>
          <a:p>
            <a:r>
              <a:rPr lang="en-US" dirty="0" smtClean="0"/>
              <a:t>The goal of the research is to understand how different methods for subsidizing education affect schooling decisions.</a:t>
            </a:r>
            <a:endParaRPr lang="en-US" dirty="0"/>
          </a:p>
        </p:txBody>
      </p:sp>
    </p:spTree>
    <p:extLst>
      <p:ext uri="{BB962C8B-B14F-4D97-AF65-F5344CB8AC3E}">
        <p14:creationId xmlns:p14="http://schemas.microsoft.com/office/powerpoint/2010/main" val="270343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9456"/>
            <a:ext cx="9144000" cy="914400"/>
          </a:xfrm>
        </p:spPr>
        <p:txBody>
          <a:bodyPr/>
          <a:lstStyle/>
          <a:p>
            <a:pPr algn="ctr"/>
            <a:r>
              <a:rPr lang="en-US" dirty="0" smtClean="0"/>
              <a:t>Graduate School Statistics</a:t>
            </a:r>
            <a:endParaRPr lang="en-US" dirty="0"/>
          </a:p>
        </p:txBody>
      </p:sp>
      <p:sp>
        <p:nvSpPr>
          <p:cNvPr id="3" name="Content Placeholder 2"/>
          <p:cNvSpPr>
            <a:spLocks noGrp="1"/>
          </p:cNvSpPr>
          <p:nvPr>
            <p:ph idx="1"/>
          </p:nvPr>
        </p:nvSpPr>
        <p:spPr>
          <a:xfrm>
            <a:off x="0" y="1123856"/>
            <a:ext cx="9143999" cy="5586234"/>
          </a:xfrm>
        </p:spPr>
        <p:txBody>
          <a:bodyPr>
            <a:normAutofit/>
          </a:bodyPr>
          <a:lstStyle/>
          <a:p>
            <a:r>
              <a:rPr lang="en-US" dirty="0"/>
              <a:t>T</a:t>
            </a:r>
            <a:r>
              <a:rPr lang="en-US" dirty="0" smtClean="0"/>
              <a:t>he Council of Graduate Schools (CGS) reported total graduate enrollment fell 2.3% following a 0.8% decline in the previous year. The growth in first-time graduate enrollment for U.S. citizens was stagnant at 0.6%</a:t>
            </a:r>
          </a:p>
          <a:p>
            <a:r>
              <a:rPr lang="en-US" dirty="0"/>
              <a:t>These declines follow surges in enrollment in 2008 and 2009 as many unemployed workers sought a haven during the recession.</a:t>
            </a:r>
          </a:p>
          <a:p>
            <a:r>
              <a:rPr lang="en-US" dirty="0" smtClean="0"/>
              <a:t>Enrollment of temporary residents, on the other hand, increased 8%. This figure has been growing as foreign governments pay for more of their citizens to obtain education in the U.S.</a:t>
            </a:r>
          </a:p>
          <a:p>
            <a:r>
              <a:rPr lang="en-US" dirty="0" smtClean="0"/>
              <a:t>There has been a dramatic rise in the share of doctorate degrees awarded by U.S. institutions to students from other countries (Bound et al., 2009). </a:t>
            </a:r>
          </a:p>
          <a:p>
            <a:endParaRPr lang="en-US" dirty="0" smtClean="0"/>
          </a:p>
        </p:txBody>
      </p:sp>
    </p:spTree>
    <p:extLst>
      <p:ext uri="{BB962C8B-B14F-4D97-AF65-F5344CB8AC3E}">
        <p14:creationId xmlns:p14="http://schemas.microsoft.com/office/powerpoint/2010/main" val="17437143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3318"/>
            <a:ext cx="9144000" cy="914400"/>
          </a:xfrm>
        </p:spPr>
        <p:txBody>
          <a:bodyPr>
            <a:normAutofit fontScale="90000"/>
          </a:bodyPr>
          <a:lstStyle/>
          <a:p>
            <a:pPr algn="ctr"/>
            <a:r>
              <a:rPr lang="en-US" dirty="0" smtClean="0"/>
              <a:t>Possible Consequences of the Downward Trend</a:t>
            </a:r>
            <a:endParaRPr lang="en-US" dirty="0"/>
          </a:p>
        </p:txBody>
      </p:sp>
      <p:sp>
        <p:nvSpPr>
          <p:cNvPr id="3" name="Content Placeholder 2"/>
          <p:cNvSpPr>
            <a:spLocks noGrp="1"/>
          </p:cNvSpPr>
          <p:nvPr>
            <p:ph idx="1"/>
          </p:nvPr>
        </p:nvSpPr>
        <p:spPr>
          <a:xfrm>
            <a:off x="0" y="1107718"/>
            <a:ext cx="9144000" cy="5530221"/>
          </a:xfrm>
        </p:spPr>
        <p:txBody>
          <a:bodyPr/>
          <a:lstStyle/>
          <a:p>
            <a:r>
              <a:rPr lang="en-US" dirty="0" smtClean="0"/>
              <a:t>There is strong evidence of a close link between investments in human capital and economic growth.</a:t>
            </a:r>
          </a:p>
          <a:p>
            <a:r>
              <a:rPr lang="en-US" dirty="0" smtClean="0"/>
              <a:t>Since human capital is embodied knowledge and skills, and economic development depends on advances in technological and scientific knowledge, development presumably depends on the accumulation of human capital.</a:t>
            </a:r>
          </a:p>
          <a:p>
            <a:r>
              <a:rPr lang="en-US" dirty="0" smtClean="0"/>
              <a:t>Denison (1985) found that the growth in years of schooling between 1929 and 1982 “explained” about 25 percent of the growth in U.S. per capita income during the period.</a:t>
            </a:r>
          </a:p>
          <a:p>
            <a:r>
              <a:rPr lang="en-US" dirty="0" smtClean="0"/>
              <a:t>Considerable circumstantial evidence also indicates that countries grow more rapidly when education and other skills are more abundant.</a:t>
            </a:r>
            <a:endParaRPr lang="en-US" dirty="0"/>
          </a:p>
        </p:txBody>
      </p:sp>
    </p:spTree>
    <p:extLst>
      <p:ext uri="{BB962C8B-B14F-4D97-AF65-F5344CB8AC3E}">
        <p14:creationId xmlns:p14="http://schemas.microsoft.com/office/powerpoint/2010/main" val="2666417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78888"/>
            <a:ext cx="9144000" cy="914400"/>
          </a:xfrm>
        </p:spPr>
        <p:txBody>
          <a:bodyPr>
            <a:normAutofit fontScale="90000"/>
          </a:bodyPr>
          <a:lstStyle/>
          <a:p>
            <a:pPr algn="ctr"/>
            <a:r>
              <a:rPr lang="en-US" dirty="0" smtClean="0"/>
              <a:t>Possible Explanations for the Downward Trend</a:t>
            </a:r>
            <a:endParaRPr lang="en-US" dirty="0"/>
          </a:p>
        </p:txBody>
      </p:sp>
      <p:sp>
        <p:nvSpPr>
          <p:cNvPr id="3" name="Content Placeholder 2"/>
          <p:cNvSpPr>
            <a:spLocks noGrp="1"/>
          </p:cNvSpPr>
          <p:nvPr>
            <p:ph idx="1"/>
          </p:nvPr>
        </p:nvSpPr>
        <p:spPr>
          <a:xfrm>
            <a:off x="0" y="1093289"/>
            <a:ext cx="9143999" cy="5559080"/>
          </a:xfrm>
        </p:spPr>
        <p:txBody>
          <a:bodyPr/>
          <a:lstStyle/>
          <a:p>
            <a:r>
              <a:rPr lang="en-US" dirty="0"/>
              <a:t>Financial considerations probably played a role in the shift. Students may be dissuaded from continuing their education because of increasing debt.</a:t>
            </a:r>
          </a:p>
          <a:p>
            <a:r>
              <a:rPr lang="en-US" dirty="0" smtClean="0"/>
              <a:t> Two year MBA and master’s degree programs can cost anywhere from $80,000 to $120,000. Of course, PhD programs can have even higher costs.</a:t>
            </a:r>
          </a:p>
          <a:p>
            <a:r>
              <a:rPr lang="en-US" dirty="0" smtClean="0"/>
              <a:t>Even with a salary increase, students need to consider the amount they will take out in loans in order to continue their education. </a:t>
            </a:r>
          </a:p>
          <a:p>
            <a:r>
              <a:rPr lang="en-US" dirty="0" smtClean="0"/>
              <a:t>In addition, there is the possible opportunity cost of forgone wages by leaving the work force to earn a graduate degree.</a:t>
            </a:r>
          </a:p>
          <a:p>
            <a:r>
              <a:rPr lang="en-US" dirty="0"/>
              <a:t>B</a:t>
            </a:r>
            <a:r>
              <a:rPr lang="en-US" dirty="0" smtClean="0"/>
              <a:t>ig changes to how a majority of U.S. graduate students fund their education occurred in 2012.</a:t>
            </a:r>
          </a:p>
        </p:txBody>
      </p:sp>
    </p:spTree>
    <p:extLst>
      <p:ext uri="{BB962C8B-B14F-4D97-AF65-F5344CB8AC3E}">
        <p14:creationId xmlns:p14="http://schemas.microsoft.com/office/powerpoint/2010/main" val="2902476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9456"/>
            <a:ext cx="9144000" cy="914400"/>
          </a:xfrm>
        </p:spPr>
        <p:txBody>
          <a:bodyPr>
            <a:normAutofit fontScale="90000"/>
          </a:bodyPr>
          <a:lstStyle/>
          <a:p>
            <a:pPr algn="ctr"/>
            <a:r>
              <a:rPr lang="en-US" dirty="0" smtClean="0"/>
              <a:t>The Elimination of Subsidized Loans for U.S. Graduate Students</a:t>
            </a:r>
            <a:endParaRPr lang="en-US" dirty="0"/>
          </a:p>
        </p:txBody>
      </p:sp>
      <p:sp>
        <p:nvSpPr>
          <p:cNvPr id="3" name="Content Placeholder 2"/>
          <p:cNvSpPr>
            <a:spLocks noGrp="1"/>
          </p:cNvSpPr>
          <p:nvPr>
            <p:ph idx="1"/>
          </p:nvPr>
        </p:nvSpPr>
        <p:spPr>
          <a:xfrm>
            <a:off x="0" y="1123856"/>
            <a:ext cx="9144000" cy="5542943"/>
          </a:xfrm>
        </p:spPr>
        <p:txBody>
          <a:bodyPr>
            <a:normAutofit/>
          </a:bodyPr>
          <a:lstStyle/>
          <a:p>
            <a:r>
              <a:rPr lang="en-US" dirty="0"/>
              <a:t>Graduate students rely almost twice as much on loans as undergraduates, according to the College Board. In 2009-20010, grad students financed 69% of their costs with federal loans</a:t>
            </a:r>
            <a:r>
              <a:rPr lang="en-US" dirty="0" smtClean="0"/>
              <a:t>.</a:t>
            </a:r>
          </a:p>
          <a:p>
            <a:r>
              <a:rPr lang="en-US" dirty="0" smtClean="0"/>
              <a:t>Nearly half of the average student’s $15,888 in loans was federally subsidized, with the government paying interest while the student is in school and for six months after graduation.</a:t>
            </a:r>
          </a:p>
          <a:p>
            <a:r>
              <a:rPr lang="en-US" dirty="0" smtClean="0"/>
              <a:t>Full-time grad students were able to borrow up to $20,500 a year at 6.8% interest, $8,500 of which was subsidized. Demonstrated financial determined how much of the loan burden would be subsidized.</a:t>
            </a:r>
          </a:p>
          <a:p>
            <a:r>
              <a:rPr lang="en-US" dirty="0" smtClean="0"/>
              <a:t>On July 1, 2012, graduate students were no longer eligible for the federal subsidized Stafford loan. Now, any new federal Stafford loans taken out be graduate students are unsubsidized.</a:t>
            </a:r>
            <a:endParaRPr lang="en-US" dirty="0"/>
          </a:p>
        </p:txBody>
      </p:sp>
    </p:spTree>
    <p:extLst>
      <p:ext uri="{BB962C8B-B14F-4D97-AF65-F5344CB8AC3E}">
        <p14:creationId xmlns:p14="http://schemas.microsoft.com/office/powerpoint/2010/main" val="2238323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9456"/>
            <a:ext cx="9144000" cy="914400"/>
          </a:xfrm>
        </p:spPr>
        <p:txBody>
          <a:bodyPr>
            <a:normAutofit fontScale="90000"/>
          </a:bodyPr>
          <a:lstStyle/>
          <a:p>
            <a:pPr algn="ctr"/>
            <a:r>
              <a:rPr lang="en-US" dirty="0" smtClean="0"/>
              <a:t>More Expensive Financial Aid Options</a:t>
            </a:r>
            <a:endParaRPr lang="en-US" dirty="0"/>
          </a:p>
        </p:txBody>
      </p:sp>
      <p:sp>
        <p:nvSpPr>
          <p:cNvPr id="3" name="Content Placeholder 2"/>
          <p:cNvSpPr>
            <a:spLocks noGrp="1"/>
          </p:cNvSpPr>
          <p:nvPr>
            <p:ph idx="1"/>
          </p:nvPr>
        </p:nvSpPr>
        <p:spPr>
          <a:xfrm>
            <a:off x="0" y="1123856"/>
            <a:ext cx="9144000" cy="5734144"/>
          </a:xfrm>
        </p:spPr>
        <p:txBody>
          <a:bodyPr/>
          <a:lstStyle/>
          <a:p>
            <a:r>
              <a:rPr lang="en-US" dirty="0" smtClean="0"/>
              <a:t>Internships, assistantships, and general workloads can make it difficult for students to work while in graduate school.</a:t>
            </a:r>
          </a:p>
          <a:p>
            <a:r>
              <a:rPr lang="en-US" dirty="0" smtClean="0"/>
              <a:t>Grad students are still able to take up to $20,500 in unsubsidized Stafford loans a year. Though, these loans begin to accrue interest immediately after disbursement with an interest rate of 6.8% and a 1% origination fee. While the annual rate is capped at 9.5%, experts predict the annual rate could exceed the existing rate in 2015.</a:t>
            </a:r>
          </a:p>
          <a:p>
            <a:r>
              <a:rPr lang="en-US" dirty="0" smtClean="0"/>
              <a:t>The government also offers the Grad PLUS loans, which have a fixed rate of 7.9%. Yet, in the future, the annual interest rate on these loans could increase to as high as 10.5%. Interest also begins to accrue following disbursement.</a:t>
            </a:r>
          </a:p>
          <a:p>
            <a:r>
              <a:rPr lang="en-US" dirty="0" smtClean="0"/>
              <a:t>Private loans are available, but they are subject to a variable interest rate, which is predicted to increase in the future. Also, private loans are not eligible for post-graduate financial aid programs.</a:t>
            </a:r>
            <a:endParaRPr lang="en-US" dirty="0"/>
          </a:p>
        </p:txBody>
      </p:sp>
    </p:spTree>
    <p:extLst>
      <p:ext uri="{BB962C8B-B14F-4D97-AF65-F5344CB8AC3E}">
        <p14:creationId xmlns:p14="http://schemas.microsoft.com/office/powerpoint/2010/main" val="2930117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36609"/>
            <a:ext cx="9144000" cy="914400"/>
          </a:xfrm>
        </p:spPr>
        <p:txBody>
          <a:bodyPr>
            <a:normAutofit fontScale="90000"/>
          </a:bodyPr>
          <a:lstStyle/>
          <a:p>
            <a:r>
              <a:rPr lang="en-US" dirty="0" smtClean="0"/>
              <a:t>The Impact of Eliminating Subsidized Loans for Graduate Students</a:t>
            </a:r>
            <a:endParaRPr lang="en-US" dirty="0"/>
          </a:p>
        </p:txBody>
      </p:sp>
      <p:sp>
        <p:nvSpPr>
          <p:cNvPr id="3" name="Content Placeholder 2"/>
          <p:cNvSpPr>
            <a:spLocks noGrp="1"/>
          </p:cNvSpPr>
          <p:nvPr>
            <p:ph idx="1"/>
          </p:nvPr>
        </p:nvSpPr>
        <p:spPr>
          <a:xfrm>
            <a:off x="0" y="1151009"/>
            <a:ext cx="9144000" cy="5515790"/>
          </a:xfrm>
        </p:spPr>
        <p:txBody>
          <a:bodyPr/>
          <a:lstStyle/>
          <a:p>
            <a:r>
              <a:rPr lang="en-US" dirty="0" smtClean="0"/>
              <a:t>The majority of student loans taken out by graduate and professional students come from the federal government.</a:t>
            </a:r>
          </a:p>
          <a:p>
            <a:r>
              <a:rPr lang="en-US" dirty="0" smtClean="0"/>
              <a:t>By eliminating subsidized loans, the government increased the current and future cost of obtaining a graduate degree. </a:t>
            </a:r>
          </a:p>
          <a:p>
            <a:r>
              <a:rPr lang="en-US" dirty="0" smtClean="0"/>
              <a:t>In addition, the decision impacts the already high student loan debt, which reached $867 billion in the fourth quarter of 2011.</a:t>
            </a:r>
          </a:p>
          <a:p>
            <a:r>
              <a:rPr lang="en-US" dirty="0" smtClean="0"/>
              <a:t>This sudden shock to the total cost of graduate education could explain the decrease in overall enrollment in graduate school among U.S. students.</a:t>
            </a:r>
          </a:p>
        </p:txBody>
      </p:sp>
    </p:spTree>
    <p:extLst>
      <p:ext uri="{BB962C8B-B14F-4D97-AF65-F5344CB8AC3E}">
        <p14:creationId xmlns:p14="http://schemas.microsoft.com/office/powerpoint/2010/main" val="2323651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18534"/>
            <a:ext cx="9144000" cy="914400"/>
          </a:xfrm>
        </p:spPr>
        <p:txBody>
          <a:bodyPr/>
          <a:lstStyle/>
          <a:p>
            <a:pPr algn="ctr"/>
            <a:r>
              <a:rPr lang="en-US" dirty="0" smtClean="0"/>
              <a:t>Existing Literature</a:t>
            </a:r>
            <a:endParaRPr lang="en-US" dirty="0"/>
          </a:p>
        </p:txBody>
      </p:sp>
      <p:sp>
        <p:nvSpPr>
          <p:cNvPr id="3" name="Content Placeholder 2"/>
          <p:cNvSpPr>
            <a:spLocks noGrp="1"/>
          </p:cNvSpPr>
          <p:nvPr>
            <p:ph idx="1"/>
          </p:nvPr>
        </p:nvSpPr>
        <p:spPr>
          <a:xfrm>
            <a:off x="0" y="1132934"/>
            <a:ext cx="9144000" cy="5577155"/>
          </a:xfrm>
        </p:spPr>
        <p:txBody>
          <a:bodyPr>
            <a:normAutofit fontScale="92500" lnSpcReduction="10000"/>
          </a:bodyPr>
          <a:lstStyle/>
          <a:p>
            <a:pPr marL="0" indent="0">
              <a:buNone/>
            </a:pPr>
            <a:r>
              <a:rPr lang="en-US" b="1" dirty="0" smtClean="0"/>
              <a:t>Evidence that federal financial aid can increase college enrollment:</a:t>
            </a:r>
          </a:p>
          <a:p>
            <a:r>
              <a:rPr lang="en-US" dirty="0"/>
              <a:t>Recent reviews of the financial aid literature (Deming and </a:t>
            </a:r>
            <a:r>
              <a:rPr lang="en-US" dirty="0" err="1"/>
              <a:t>Dynarski</a:t>
            </a:r>
            <a:r>
              <a:rPr lang="en-US" dirty="0"/>
              <a:t> 2009, Kane 2006) highlight the lack of consistent empirical results</a:t>
            </a:r>
            <a:r>
              <a:rPr lang="en-US" dirty="0" smtClean="0"/>
              <a:t>.</a:t>
            </a:r>
          </a:p>
          <a:p>
            <a:r>
              <a:rPr lang="en-US" dirty="0" err="1" smtClean="0"/>
              <a:t>Dynarski</a:t>
            </a:r>
            <a:r>
              <a:rPr lang="en-US" dirty="0" smtClean="0"/>
              <a:t> (2000) shows that Georgia’s Hope Scholarship program had a large impact on the college attendance rate of middle and high-income youth. </a:t>
            </a:r>
          </a:p>
          <a:p>
            <a:r>
              <a:rPr lang="en-US" dirty="0" err="1" smtClean="0"/>
              <a:t>Dynarski</a:t>
            </a:r>
            <a:r>
              <a:rPr lang="en-US" dirty="0" smtClean="0"/>
              <a:t> (2003</a:t>
            </a:r>
            <a:r>
              <a:rPr lang="en-US" dirty="0"/>
              <a:t>) </a:t>
            </a:r>
            <a:r>
              <a:rPr lang="en-US" dirty="0" smtClean="0"/>
              <a:t>examines </a:t>
            </a:r>
            <a:r>
              <a:rPr lang="en-US" dirty="0"/>
              <a:t>the 1982 revocation of SSI </a:t>
            </a:r>
            <a:r>
              <a:rPr lang="en-US" dirty="0" smtClean="0"/>
              <a:t>benefits and measures </a:t>
            </a:r>
            <a:r>
              <a:rPr lang="en-US" dirty="0"/>
              <a:t>the effect of student aid on college </a:t>
            </a:r>
            <a:r>
              <a:rPr lang="en-US" dirty="0" smtClean="0"/>
              <a:t>attendance by using </a:t>
            </a:r>
            <a:r>
              <a:rPr lang="en-US" dirty="0"/>
              <a:t>a difference-in-differences </a:t>
            </a:r>
            <a:r>
              <a:rPr lang="en-US" dirty="0" smtClean="0"/>
              <a:t>strategy.</a:t>
            </a:r>
          </a:p>
          <a:p>
            <a:r>
              <a:rPr lang="en-US" dirty="0"/>
              <a:t>Kane (2003) </a:t>
            </a:r>
            <a:r>
              <a:rPr lang="en-US" dirty="0" err="1"/>
              <a:t>usea</a:t>
            </a:r>
            <a:r>
              <a:rPr lang="en-US" dirty="0"/>
              <a:t> a regression discontinuity design to study the impact of the </a:t>
            </a:r>
            <a:r>
              <a:rPr lang="en-US" dirty="0" err="1"/>
              <a:t>CalGrant</a:t>
            </a:r>
            <a:r>
              <a:rPr lang="en-US" dirty="0"/>
              <a:t> program in California on college going.</a:t>
            </a:r>
          </a:p>
          <a:p>
            <a:r>
              <a:rPr lang="en-US" dirty="0" err="1"/>
              <a:t>Castleman</a:t>
            </a:r>
            <a:r>
              <a:rPr lang="en-US" dirty="0"/>
              <a:t> &amp; Long (2013) estimates the effects of the Florida Student Access Grant using a regression discontinuity design.</a:t>
            </a:r>
          </a:p>
          <a:p>
            <a:r>
              <a:rPr lang="en-US" dirty="0" err="1"/>
              <a:t>Lovenheim</a:t>
            </a:r>
            <a:r>
              <a:rPr lang="en-US" dirty="0"/>
              <a:t> &amp; Owens (2013) use 2001 changes to the Higher Education Act to estimate the effect of financial aid on a high-risk group of students.</a:t>
            </a:r>
          </a:p>
          <a:p>
            <a:endParaRPr lang="en-US" dirty="0"/>
          </a:p>
        </p:txBody>
      </p:sp>
    </p:spTree>
    <p:extLst>
      <p:ext uri="{BB962C8B-B14F-4D97-AF65-F5344CB8AC3E}">
        <p14:creationId xmlns:p14="http://schemas.microsoft.com/office/powerpoint/2010/main" val="3518274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9456"/>
            <a:ext cx="9144000" cy="914400"/>
          </a:xfrm>
        </p:spPr>
        <p:txBody>
          <a:bodyPr/>
          <a:lstStyle/>
          <a:p>
            <a:pPr algn="ctr"/>
            <a:r>
              <a:rPr lang="en-US" dirty="0" smtClean="0"/>
              <a:t>Existing Literature (cont.)</a:t>
            </a:r>
            <a:endParaRPr lang="en-US" dirty="0"/>
          </a:p>
        </p:txBody>
      </p:sp>
      <p:sp>
        <p:nvSpPr>
          <p:cNvPr id="3" name="Content Placeholder 2"/>
          <p:cNvSpPr>
            <a:spLocks noGrp="1"/>
          </p:cNvSpPr>
          <p:nvPr>
            <p:ph idx="1"/>
          </p:nvPr>
        </p:nvSpPr>
        <p:spPr>
          <a:xfrm>
            <a:off x="0" y="1123856"/>
            <a:ext cx="9143999" cy="5542944"/>
          </a:xfrm>
        </p:spPr>
        <p:txBody>
          <a:bodyPr>
            <a:normAutofit/>
          </a:bodyPr>
          <a:lstStyle/>
          <a:p>
            <a:pPr marL="0" indent="0">
              <a:buNone/>
            </a:pPr>
            <a:r>
              <a:rPr lang="en-US" b="1" dirty="0" smtClean="0"/>
              <a:t>Studies concerning graduate school:</a:t>
            </a:r>
          </a:p>
          <a:p>
            <a:r>
              <a:rPr lang="en-US" dirty="0" err="1" smtClean="0"/>
              <a:t>Groen</a:t>
            </a:r>
            <a:r>
              <a:rPr lang="en-US" dirty="0" smtClean="0"/>
              <a:t> </a:t>
            </a:r>
            <a:r>
              <a:rPr lang="en-US" dirty="0"/>
              <a:t>et al. (2006) </a:t>
            </a:r>
            <a:r>
              <a:rPr lang="en-US" dirty="0" smtClean="0"/>
              <a:t>evaluates </a:t>
            </a:r>
            <a:r>
              <a:rPr lang="en-US" dirty="0"/>
              <a:t>the </a:t>
            </a:r>
            <a:r>
              <a:rPr lang="en-US" dirty="0" smtClean="0"/>
              <a:t>effect </a:t>
            </a:r>
            <a:r>
              <a:rPr lang="en-US" dirty="0"/>
              <a:t>program </a:t>
            </a:r>
            <a:r>
              <a:rPr lang="en-US" dirty="0" smtClean="0"/>
              <a:t>designs have on </a:t>
            </a:r>
            <a:r>
              <a:rPr lang="en-US" dirty="0"/>
              <a:t>graduate student </a:t>
            </a:r>
            <a:r>
              <a:rPr lang="en-US" dirty="0" smtClean="0"/>
              <a:t>outcomes.</a:t>
            </a:r>
          </a:p>
          <a:p>
            <a:r>
              <a:rPr lang="en-US" dirty="0" smtClean="0"/>
              <a:t>Bound et al. (2009) discusses the internalization of U.S. doctorate education.</a:t>
            </a:r>
          </a:p>
          <a:p>
            <a:pPr marL="0" indent="0">
              <a:buNone/>
            </a:pPr>
            <a:r>
              <a:rPr lang="en-US" b="1" dirty="0"/>
              <a:t>Studies concerning student loans</a:t>
            </a:r>
            <a:r>
              <a:rPr lang="en-US" b="1" dirty="0" smtClean="0"/>
              <a:t>:</a:t>
            </a:r>
            <a:endParaRPr lang="en-US" dirty="0" smtClean="0"/>
          </a:p>
          <a:p>
            <a:r>
              <a:rPr lang="en-US" dirty="0" err="1" smtClean="0"/>
              <a:t>Linsenmeier</a:t>
            </a:r>
            <a:r>
              <a:rPr lang="en-US" dirty="0" smtClean="0"/>
              <a:t> et. al (2002) studies the effects of changing the loan portion of financial aid to grants.</a:t>
            </a:r>
          </a:p>
          <a:p>
            <a:r>
              <a:rPr lang="en-US" dirty="0" smtClean="0"/>
              <a:t>Rothstein </a:t>
            </a:r>
            <a:r>
              <a:rPr lang="en-US" dirty="0"/>
              <a:t>&amp; Rouse (2007</a:t>
            </a:r>
            <a:r>
              <a:rPr lang="en-US" dirty="0" smtClean="0"/>
              <a:t>) find some evidence that debt affects students’ academic decisions during college.</a:t>
            </a:r>
          </a:p>
          <a:p>
            <a:r>
              <a:rPr lang="en-US" dirty="0" smtClean="0"/>
              <a:t>Rau et. Al (2013) analyzes the impact of student loans for higher education on enrollment, dropout decisions, and earnings in Chile.</a:t>
            </a:r>
            <a:endParaRPr lang="en-US" dirty="0"/>
          </a:p>
          <a:p>
            <a:endParaRPr lang="en-US" dirty="0" smtClean="0"/>
          </a:p>
        </p:txBody>
      </p:sp>
    </p:spTree>
    <p:extLst>
      <p:ext uri="{BB962C8B-B14F-4D97-AF65-F5344CB8AC3E}">
        <p14:creationId xmlns:p14="http://schemas.microsoft.com/office/powerpoint/2010/main" val="30429990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9456"/>
            <a:ext cx="9144000" cy="914400"/>
          </a:xfrm>
        </p:spPr>
        <p:txBody>
          <a:bodyPr/>
          <a:lstStyle/>
          <a:p>
            <a:pPr algn="ctr"/>
            <a:r>
              <a:rPr lang="en-US" dirty="0" smtClean="0"/>
              <a:t>Adding to the Literature</a:t>
            </a:r>
            <a:endParaRPr lang="en-US" dirty="0"/>
          </a:p>
        </p:txBody>
      </p:sp>
      <p:sp>
        <p:nvSpPr>
          <p:cNvPr id="3" name="Content Placeholder 2"/>
          <p:cNvSpPr>
            <a:spLocks noGrp="1"/>
          </p:cNvSpPr>
          <p:nvPr>
            <p:ph idx="1"/>
          </p:nvPr>
        </p:nvSpPr>
        <p:spPr>
          <a:xfrm>
            <a:off x="0" y="1123856"/>
            <a:ext cx="9144000" cy="5528512"/>
          </a:xfrm>
        </p:spPr>
        <p:txBody>
          <a:bodyPr>
            <a:normAutofit/>
          </a:bodyPr>
          <a:lstStyle/>
          <a:p>
            <a:r>
              <a:rPr lang="en-US" dirty="0"/>
              <a:t>There is a high policy importance of identifying how financial aid affects college investment decisions</a:t>
            </a:r>
            <a:r>
              <a:rPr lang="en-US" dirty="0" smtClean="0"/>
              <a:t>.</a:t>
            </a:r>
          </a:p>
          <a:p>
            <a:r>
              <a:rPr lang="en-US" dirty="0" smtClean="0"/>
              <a:t>With </a:t>
            </a:r>
            <a:r>
              <a:rPr lang="en-US" dirty="0"/>
              <a:t>my paper, I hope to estimate the effect student financial aid, most notably student loans, has on </a:t>
            </a:r>
            <a:r>
              <a:rPr lang="en-US" dirty="0" smtClean="0"/>
              <a:t>individual schooling measures by </a:t>
            </a:r>
            <a:r>
              <a:rPr lang="en-US" dirty="0"/>
              <a:t>taking advantage of </a:t>
            </a:r>
            <a:r>
              <a:rPr lang="en-US" dirty="0" smtClean="0"/>
              <a:t>the sudden exogenous </a:t>
            </a:r>
            <a:r>
              <a:rPr lang="en-US" dirty="0"/>
              <a:t>shock to the </a:t>
            </a:r>
            <a:r>
              <a:rPr lang="en-US" dirty="0" smtClean="0"/>
              <a:t>total cost </a:t>
            </a:r>
            <a:r>
              <a:rPr lang="en-US" dirty="0"/>
              <a:t>of graduate </a:t>
            </a:r>
            <a:r>
              <a:rPr lang="en-US" dirty="0" smtClean="0"/>
              <a:t>education caused by the elimination of subsidized loans.</a:t>
            </a:r>
          </a:p>
          <a:p>
            <a:r>
              <a:rPr lang="en-US" dirty="0" smtClean="0"/>
              <a:t>As was just shown, many papers that estimated the effect of financial aid on college attendance tend to focus on the undergraduate level. My paper adds to the existing literature by, instead, focusing on graduate enrollment. Moreover, it adds vital information to other areas of interest, such as: student loans and human capital formulation.</a:t>
            </a:r>
          </a:p>
          <a:p>
            <a:r>
              <a:rPr lang="en-US" dirty="0" smtClean="0"/>
              <a:t>Future projects concerning the impact of graduate school on labor market outcomes could be formulated by utilizing the results I hope to find from my research project.</a:t>
            </a:r>
            <a:endParaRPr lang="en-US" dirty="0"/>
          </a:p>
        </p:txBody>
      </p:sp>
    </p:spTree>
    <p:extLst>
      <p:ext uri="{BB962C8B-B14F-4D97-AF65-F5344CB8AC3E}">
        <p14:creationId xmlns:p14="http://schemas.microsoft.com/office/powerpoint/2010/main" val="4058331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9456"/>
            <a:ext cx="9144000" cy="914400"/>
          </a:xfrm>
        </p:spPr>
        <p:txBody>
          <a:bodyPr/>
          <a:lstStyle/>
          <a:p>
            <a:pPr algn="ctr"/>
            <a:r>
              <a:rPr lang="en-US" dirty="0" smtClean="0"/>
              <a:t>Research Difficulties</a:t>
            </a:r>
            <a:endParaRPr lang="en-US" dirty="0"/>
          </a:p>
        </p:txBody>
      </p:sp>
      <p:sp>
        <p:nvSpPr>
          <p:cNvPr id="3" name="Content Placeholder 2"/>
          <p:cNvSpPr>
            <a:spLocks noGrp="1"/>
          </p:cNvSpPr>
          <p:nvPr>
            <p:ph idx="1"/>
          </p:nvPr>
        </p:nvSpPr>
        <p:spPr>
          <a:xfrm>
            <a:off x="0" y="1123856"/>
            <a:ext cx="9144000" cy="5557374"/>
          </a:xfrm>
        </p:spPr>
        <p:txBody>
          <a:bodyPr>
            <a:normAutofit/>
          </a:bodyPr>
          <a:lstStyle/>
          <a:p>
            <a:r>
              <a:rPr lang="en-US" dirty="0" smtClean="0"/>
              <a:t>Research on federal aid is hampered by the fact that cross-sectional variation in federal student aid is correlated with differences across students.</a:t>
            </a:r>
          </a:p>
          <a:p>
            <a:r>
              <a:rPr lang="en-US" dirty="0" smtClean="0"/>
              <a:t>The amount of aid available to any particular student is most likely correlated with unobserved factors that also affect the likelihood of investing in higher education.</a:t>
            </a:r>
          </a:p>
          <a:p>
            <a:r>
              <a:rPr lang="en-US" dirty="0" smtClean="0"/>
              <a:t>A lack of exogenous variation across students in aid eligibility makes it difficult to credibly identify the effect of federal student aid for college on post-secondary investment.</a:t>
            </a:r>
            <a:endParaRPr lang="en-US" dirty="0"/>
          </a:p>
        </p:txBody>
      </p:sp>
    </p:spTree>
    <p:extLst>
      <p:ext uri="{BB962C8B-B14F-4D97-AF65-F5344CB8AC3E}">
        <p14:creationId xmlns:p14="http://schemas.microsoft.com/office/powerpoint/2010/main" val="17602181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9456"/>
            <a:ext cx="9144000" cy="914400"/>
          </a:xfrm>
        </p:spPr>
        <p:txBody>
          <a:bodyPr>
            <a:normAutofit/>
          </a:bodyPr>
          <a:lstStyle/>
          <a:p>
            <a:pPr algn="ctr"/>
            <a:r>
              <a:rPr lang="en-US" dirty="0" smtClean="0"/>
              <a:t>Possible Exogenous Variation</a:t>
            </a:r>
            <a:endParaRPr lang="en-US" dirty="0"/>
          </a:p>
        </p:txBody>
      </p:sp>
      <p:sp>
        <p:nvSpPr>
          <p:cNvPr id="3" name="Content Placeholder 2"/>
          <p:cNvSpPr>
            <a:spLocks noGrp="1"/>
          </p:cNvSpPr>
          <p:nvPr>
            <p:ph idx="1"/>
          </p:nvPr>
        </p:nvSpPr>
        <p:spPr>
          <a:xfrm>
            <a:off x="0" y="1123856"/>
            <a:ext cx="9144000" cy="5514082"/>
          </a:xfrm>
        </p:spPr>
        <p:txBody>
          <a:bodyPr/>
          <a:lstStyle/>
          <a:p>
            <a:r>
              <a:rPr lang="en-US" dirty="0"/>
              <a:t>Many graduate students were caught by surprise at the </a:t>
            </a:r>
            <a:r>
              <a:rPr lang="en-US" dirty="0" smtClean="0"/>
              <a:t>elimination of the subsidized loans, </a:t>
            </a:r>
            <a:r>
              <a:rPr lang="en-US" dirty="0"/>
              <a:t>which came about as a result of federal budget negotiations.</a:t>
            </a:r>
          </a:p>
          <a:p>
            <a:r>
              <a:rPr lang="en-US" dirty="0"/>
              <a:t>Because the change was not widely announced, many students found out about the elimination of the subsidized loans after applying for financial aid</a:t>
            </a:r>
            <a:r>
              <a:rPr lang="en-US" dirty="0" smtClean="0"/>
              <a:t>.</a:t>
            </a:r>
          </a:p>
          <a:p>
            <a:r>
              <a:rPr lang="en-US" dirty="0" smtClean="0"/>
              <a:t>Before its elimination, Direct Subsidized Loans were available to graduate students with financial need. Direct Unsubsidized Loans, on the other hand, were available to graduate students without having to demonstrate financial need. Yet, in order to obtain either of the Direct loans, students still had to fill out a FAFSA, and schools determined the amount a student could borrow.</a:t>
            </a:r>
          </a:p>
          <a:p>
            <a:r>
              <a:rPr lang="en-US" dirty="0" smtClean="0"/>
              <a:t>As stated previously, many graduate students are still using loans to help fund their education. Also, Direct Unsubsidized Loans are still available without having to demonstrate financial need.</a:t>
            </a:r>
          </a:p>
          <a:p>
            <a:endParaRPr lang="en-US" dirty="0"/>
          </a:p>
          <a:p>
            <a:endParaRPr lang="en-US" dirty="0"/>
          </a:p>
        </p:txBody>
      </p:sp>
    </p:spTree>
    <p:extLst>
      <p:ext uri="{BB962C8B-B14F-4D97-AF65-F5344CB8AC3E}">
        <p14:creationId xmlns:p14="http://schemas.microsoft.com/office/powerpoint/2010/main" val="20923848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9456"/>
            <a:ext cx="9144000" cy="914400"/>
          </a:xfrm>
        </p:spPr>
        <p:txBody>
          <a:bodyPr/>
          <a:lstStyle/>
          <a:p>
            <a:pPr algn="ctr"/>
            <a:r>
              <a:rPr lang="en-US" dirty="0" smtClean="0"/>
              <a:t>Identification Strategy</a:t>
            </a:r>
            <a:endParaRPr lang="en-US" dirty="0"/>
          </a:p>
        </p:txBody>
      </p:sp>
      <p:sp>
        <p:nvSpPr>
          <p:cNvPr id="3" name="Content Placeholder 2"/>
          <p:cNvSpPr>
            <a:spLocks noGrp="1"/>
          </p:cNvSpPr>
          <p:nvPr>
            <p:ph idx="1"/>
          </p:nvPr>
        </p:nvSpPr>
        <p:spPr>
          <a:xfrm>
            <a:off x="0" y="1123856"/>
            <a:ext cx="9144000" cy="5557373"/>
          </a:xfrm>
        </p:spPr>
        <p:txBody>
          <a:bodyPr>
            <a:normAutofit lnSpcReduction="10000"/>
          </a:bodyPr>
          <a:lstStyle/>
          <a:p>
            <a:r>
              <a:rPr lang="en-US" dirty="0" smtClean="0"/>
              <a:t>In order to measure the effect financial aid has on graduate school enrollment figures, I intend to utilize a difference-in-differences strategy to exploit the exogenous variation caused by the sudden elimination of subsidized student loans for graduate students.</a:t>
            </a:r>
          </a:p>
          <a:p>
            <a:r>
              <a:rPr lang="en-US" dirty="0" smtClean="0"/>
              <a:t>Note that the is only one treatment that appears to affect everyone. To overcome this issue, I need to find a group that ex-ante should be affected more than another. I will compare two groups in which one group was more affected by treatment than another.</a:t>
            </a:r>
            <a:endParaRPr lang="en-US" dirty="0"/>
          </a:p>
          <a:p>
            <a:r>
              <a:rPr lang="en-US" dirty="0" smtClean="0"/>
              <a:t>The treatment group will consist of graduate students who would have been eligible for subsidized loans prior to elimination. The control group will consist of students who were never eligible for subsidized loans, but were still able to receive unsubsidized loans. Note that I will only be focusing on U.S. students.</a:t>
            </a:r>
          </a:p>
          <a:p>
            <a:r>
              <a:rPr lang="en-US" dirty="0" smtClean="0"/>
              <a:t>Identifying Assumption: In the absence of treatment, the change in the outcomes for the treatment and control group would have been the same over time.</a:t>
            </a:r>
          </a:p>
          <a:p>
            <a:endParaRPr lang="en-US" dirty="0"/>
          </a:p>
        </p:txBody>
      </p:sp>
    </p:spTree>
    <p:extLst>
      <p:ext uri="{BB962C8B-B14F-4D97-AF65-F5344CB8AC3E}">
        <p14:creationId xmlns:p14="http://schemas.microsoft.com/office/powerpoint/2010/main" val="1244217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36609"/>
            <a:ext cx="9144000" cy="914400"/>
          </a:xfrm>
        </p:spPr>
        <p:txBody>
          <a:bodyPr/>
          <a:lstStyle/>
          <a:p>
            <a:pPr algn="ctr"/>
            <a:r>
              <a:rPr lang="en-US" dirty="0" smtClean="0"/>
              <a:t>Difference-in-Difference Estimation</a:t>
            </a:r>
            <a:endParaRPr lang="en-US" dirty="0"/>
          </a:p>
        </p:txBody>
      </p:sp>
      <p:sp>
        <p:nvSpPr>
          <p:cNvPr id="3" name="Content Placeholder 2"/>
          <p:cNvSpPr>
            <a:spLocks noGrp="1"/>
          </p:cNvSpPr>
          <p:nvPr>
            <p:ph idx="1"/>
          </p:nvPr>
        </p:nvSpPr>
        <p:spPr>
          <a:xfrm>
            <a:off x="0" y="1151010"/>
            <a:ext cx="9144000" cy="5515790"/>
          </a:xfrm>
        </p:spPr>
        <p:txBody>
          <a:bodyPr>
            <a:normAutofit lnSpcReduction="10000"/>
          </a:bodyPr>
          <a:lstStyle/>
          <a:p>
            <a:r>
              <a:rPr lang="en-US" dirty="0" smtClean="0"/>
              <a:t>The key estimating equation is the following (borrowed from </a:t>
            </a:r>
            <a:r>
              <a:rPr lang="en-US" dirty="0" err="1" smtClean="0"/>
              <a:t>Dynarski</a:t>
            </a:r>
            <a:r>
              <a:rPr lang="en-US" dirty="0" smtClean="0"/>
              <a:t> (2003)):</a:t>
            </a:r>
          </a:p>
          <a:p>
            <a:pPr marL="0" indent="0">
              <a:buNone/>
            </a:pPr>
            <a:r>
              <a:rPr lang="en-US" dirty="0" err="1"/>
              <a:t>y</a:t>
            </a:r>
            <a:r>
              <a:rPr lang="en-US" baseline="-25000" dirty="0" err="1"/>
              <a:t>i</a:t>
            </a:r>
            <a:r>
              <a:rPr lang="en-US" dirty="0"/>
              <a:t> = β</a:t>
            </a:r>
            <a:r>
              <a:rPr lang="en-US" baseline="-25000" dirty="0"/>
              <a:t>0</a:t>
            </a:r>
            <a:r>
              <a:rPr lang="en-US" dirty="0"/>
              <a:t> + β</a:t>
            </a:r>
            <a:r>
              <a:rPr lang="en-US" baseline="-25000" dirty="0"/>
              <a:t>1</a:t>
            </a:r>
            <a:r>
              <a:rPr lang="en-US" dirty="0"/>
              <a:t>Treat</a:t>
            </a:r>
            <a:r>
              <a:rPr lang="en-US" baseline="-25000" dirty="0"/>
              <a:t>i </a:t>
            </a:r>
            <a:r>
              <a:rPr lang="en-US" dirty="0"/>
              <a:t>+ β</a:t>
            </a:r>
            <a:r>
              <a:rPr lang="en-US" baseline="-25000" dirty="0"/>
              <a:t>2</a:t>
            </a:r>
            <a:r>
              <a:rPr lang="en-US" dirty="0"/>
              <a:t> </a:t>
            </a:r>
            <a:r>
              <a:rPr lang="en-US" dirty="0" err="1"/>
              <a:t>Post</a:t>
            </a:r>
            <a:r>
              <a:rPr lang="en-US" baseline="-25000" dirty="0" err="1"/>
              <a:t>i</a:t>
            </a:r>
            <a:r>
              <a:rPr lang="en-US" dirty="0"/>
              <a:t> + β</a:t>
            </a:r>
            <a:r>
              <a:rPr lang="en-US" baseline="-25000" dirty="0"/>
              <a:t>3 </a:t>
            </a:r>
            <a:r>
              <a:rPr lang="en-US" dirty="0"/>
              <a:t>(</a:t>
            </a:r>
            <a:r>
              <a:rPr lang="en-US" dirty="0" err="1"/>
              <a:t>Treat</a:t>
            </a:r>
            <a:r>
              <a:rPr lang="en-US" baseline="-25000" dirty="0" err="1"/>
              <a:t>i</a:t>
            </a:r>
            <a:r>
              <a:rPr lang="en-US" dirty="0"/>
              <a:t> x </a:t>
            </a:r>
            <a:r>
              <a:rPr lang="en-US" dirty="0" err="1"/>
              <a:t>Post</a:t>
            </a:r>
            <a:r>
              <a:rPr lang="en-US" baseline="-25000" dirty="0" err="1"/>
              <a:t>i</a:t>
            </a:r>
            <a:r>
              <a:rPr lang="en-US" dirty="0"/>
              <a:t>) + </a:t>
            </a:r>
            <a:r>
              <a:rPr lang="en-US" dirty="0" err="1"/>
              <a:t>ε</a:t>
            </a:r>
            <a:r>
              <a:rPr lang="en-US" baseline="-25000" dirty="0" err="1"/>
              <a:t>i</a:t>
            </a:r>
            <a:endParaRPr lang="en-US" dirty="0"/>
          </a:p>
          <a:p>
            <a:pPr marL="0" indent="0">
              <a:buNone/>
            </a:pPr>
            <a:r>
              <a:rPr lang="en-US" dirty="0"/>
              <a:t>where </a:t>
            </a:r>
            <a:r>
              <a:rPr lang="en-US" dirty="0" err="1"/>
              <a:t>y</a:t>
            </a:r>
            <a:r>
              <a:rPr lang="en-US" baseline="-25000" dirty="0" err="1"/>
              <a:t>i</a:t>
            </a:r>
            <a:r>
              <a:rPr lang="en-US" dirty="0"/>
              <a:t> is the outcome variable, </a:t>
            </a:r>
            <a:r>
              <a:rPr lang="en-US" dirty="0" err="1"/>
              <a:t>Treat</a:t>
            </a:r>
            <a:r>
              <a:rPr lang="en-US" baseline="-25000" dirty="0" err="1"/>
              <a:t>i</a:t>
            </a:r>
            <a:r>
              <a:rPr lang="en-US" dirty="0"/>
              <a:t> = 1 if individual </a:t>
            </a:r>
            <a:r>
              <a:rPr lang="en-US" dirty="0" err="1"/>
              <a:t>i</a:t>
            </a:r>
            <a:r>
              <a:rPr lang="en-US" dirty="0"/>
              <a:t> is in the treatment group, and </a:t>
            </a:r>
            <a:r>
              <a:rPr lang="en-US" dirty="0" err="1"/>
              <a:t>Post</a:t>
            </a:r>
            <a:r>
              <a:rPr lang="en-US" baseline="-25000" dirty="0" err="1"/>
              <a:t>i</a:t>
            </a:r>
            <a:r>
              <a:rPr lang="en-US" dirty="0"/>
              <a:t> = 1 if individual </a:t>
            </a:r>
            <a:r>
              <a:rPr lang="en-US" dirty="0" err="1"/>
              <a:t>i</a:t>
            </a:r>
            <a:r>
              <a:rPr lang="en-US" dirty="0"/>
              <a:t> obtained a bachelor’s degree prior to July 1, 2012. β</a:t>
            </a:r>
            <a:r>
              <a:rPr lang="en-US" baseline="-25000" dirty="0"/>
              <a:t>3</a:t>
            </a:r>
            <a:r>
              <a:rPr lang="en-US" dirty="0"/>
              <a:t> is the difference-in-difference estimator. It captures the effect on schooling decisions of aid eligibility, and it is measures the intent to treat effect</a:t>
            </a:r>
            <a:r>
              <a:rPr lang="en-US" dirty="0" smtClean="0"/>
              <a:t>.</a:t>
            </a:r>
          </a:p>
          <a:p>
            <a:r>
              <a:rPr lang="en-US" dirty="0" smtClean="0"/>
              <a:t>In my estimation, I will also control for several factors and fixed effects.</a:t>
            </a:r>
          </a:p>
          <a:p>
            <a:pPr marL="0" indent="0">
              <a:buNone/>
            </a:pPr>
            <a:r>
              <a:rPr lang="en-US" dirty="0" smtClean="0"/>
              <a:t>Possible control variables: Age, race, marital status</a:t>
            </a:r>
            <a:r>
              <a:rPr lang="en-US" dirty="0" smtClean="0"/>
              <a:t>, number of children, socio-economic variables (income</a:t>
            </a:r>
            <a:r>
              <a:rPr lang="en-US" dirty="0" smtClean="0"/>
              <a:t>, current debt, </a:t>
            </a:r>
            <a:r>
              <a:rPr lang="en-US" dirty="0" smtClean="0"/>
              <a:t>etc.), area of study </a:t>
            </a:r>
            <a:r>
              <a:rPr lang="en-US" dirty="0" smtClean="0"/>
              <a:t>(if possible), assistantship or fellowship (if possible), masters or PhD (if possible).</a:t>
            </a:r>
          </a:p>
          <a:p>
            <a:pPr marL="0" indent="0">
              <a:buNone/>
            </a:pPr>
            <a:r>
              <a:rPr lang="en-US" dirty="0" smtClean="0"/>
              <a:t>Possible fixed effects: Time fixed effects, school fixed effects (if possible).</a:t>
            </a:r>
          </a:p>
          <a:p>
            <a:pPr marL="0" indent="0">
              <a:buNone/>
            </a:pPr>
            <a:endParaRPr lang="en-US" dirty="0"/>
          </a:p>
          <a:p>
            <a:pPr marL="0" indent="0">
              <a:buNone/>
            </a:pPr>
            <a:endParaRPr lang="en-US" dirty="0" smtClean="0"/>
          </a:p>
          <a:p>
            <a:endParaRPr lang="en-US" dirty="0" smtClean="0"/>
          </a:p>
        </p:txBody>
      </p:sp>
    </p:spTree>
    <p:extLst>
      <p:ext uri="{BB962C8B-B14F-4D97-AF65-F5344CB8AC3E}">
        <p14:creationId xmlns:p14="http://schemas.microsoft.com/office/powerpoint/2010/main" val="33006102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9456"/>
            <a:ext cx="9144000" cy="914400"/>
          </a:xfrm>
        </p:spPr>
        <p:txBody>
          <a:bodyPr>
            <a:normAutofit fontScale="90000"/>
          </a:bodyPr>
          <a:lstStyle/>
          <a:p>
            <a:pPr algn="ctr"/>
            <a:r>
              <a:rPr lang="en-US" dirty="0" smtClean="0"/>
              <a:t>Possible Outcomes to Measure (Contingent on the Data)</a:t>
            </a:r>
            <a:endParaRPr lang="en-US" dirty="0"/>
          </a:p>
        </p:txBody>
      </p:sp>
      <p:sp>
        <p:nvSpPr>
          <p:cNvPr id="3" name="Content Placeholder 2"/>
          <p:cNvSpPr>
            <a:spLocks noGrp="1"/>
          </p:cNvSpPr>
          <p:nvPr>
            <p:ph idx="1"/>
          </p:nvPr>
        </p:nvSpPr>
        <p:spPr>
          <a:xfrm>
            <a:off x="0" y="1123856"/>
            <a:ext cx="9143999" cy="5557373"/>
          </a:xfrm>
        </p:spPr>
        <p:txBody>
          <a:bodyPr>
            <a:normAutofit lnSpcReduction="10000"/>
          </a:bodyPr>
          <a:lstStyle/>
          <a:p>
            <a:r>
              <a:rPr lang="en-US" dirty="0" smtClean="0"/>
              <a:t>Enrolled </a:t>
            </a:r>
            <a:r>
              <a:rPr lang="en-US" dirty="0"/>
              <a:t>= 0 or </a:t>
            </a:r>
            <a:r>
              <a:rPr lang="en-US" dirty="0" smtClean="0"/>
              <a:t>1: Did </a:t>
            </a:r>
            <a:r>
              <a:rPr lang="en-US" dirty="0"/>
              <a:t>individual </a:t>
            </a:r>
            <a:r>
              <a:rPr lang="en-US" dirty="0" err="1"/>
              <a:t>i</a:t>
            </a:r>
            <a:r>
              <a:rPr lang="en-US" dirty="0"/>
              <a:t> ever enroll in graduate school? This outcome measures the probability of attending graduate </a:t>
            </a:r>
            <a:r>
              <a:rPr lang="en-US" dirty="0" smtClean="0"/>
              <a:t>school.</a:t>
            </a:r>
          </a:p>
          <a:p>
            <a:r>
              <a:rPr lang="en-US" dirty="0" smtClean="0"/>
              <a:t>Attended </a:t>
            </a:r>
            <a:r>
              <a:rPr lang="en-US" dirty="0"/>
              <a:t>graduate school </a:t>
            </a:r>
            <a:r>
              <a:rPr lang="en-US" dirty="0" smtClean="0"/>
              <a:t>full-time </a:t>
            </a:r>
            <a:r>
              <a:rPr lang="en-US" dirty="0"/>
              <a:t>= 0 or 1: Did individual </a:t>
            </a:r>
            <a:r>
              <a:rPr lang="en-US" dirty="0" err="1"/>
              <a:t>i</a:t>
            </a:r>
            <a:r>
              <a:rPr lang="en-US" dirty="0"/>
              <a:t> attend graduate school full-time</a:t>
            </a:r>
            <a:r>
              <a:rPr lang="en-US" dirty="0" smtClean="0"/>
              <a:t>? This outcome measures the probability of attending graduate school full-time.</a:t>
            </a:r>
          </a:p>
          <a:p>
            <a:r>
              <a:rPr lang="en-US" dirty="0" smtClean="0"/>
              <a:t>Completed </a:t>
            </a:r>
            <a:r>
              <a:rPr lang="en-US" dirty="0"/>
              <a:t>any years of graduate school = 0 or 1: Did individual </a:t>
            </a:r>
            <a:r>
              <a:rPr lang="en-US" dirty="0" err="1"/>
              <a:t>i</a:t>
            </a:r>
            <a:r>
              <a:rPr lang="en-US" dirty="0"/>
              <a:t> complete a year of graduate </a:t>
            </a:r>
            <a:r>
              <a:rPr lang="en-US" dirty="0" smtClean="0"/>
              <a:t>school? This outcome measures the probability of completing one year of graduate school.</a:t>
            </a:r>
            <a:endParaRPr lang="en-US" dirty="0"/>
          </a:p>
          <a:p>
            <a:r>
              <a:rPr lang="en-US" dirty="0" smtClean="0"/>
              <a:t>Years of graduate school: How many years of graduate school did person </a:t>
            </a:r>
            <a:r>
              <a:rPr lang="en-US" dirty="0" err="1" smtClean="0"/>
              <a:t>i</a:t>
            </a:r>
            <a:r>
              <a:rPr lang="en-US" dirty="0" smtClean="0"/>
              <a:t> complete</a:t>
            </a:r>
          </a:p>
          <a:p>
            <a:r>
              <a:rPr lang="en-US" dirty="0" smtClean="0"/>
              <a:t>Graduate with Masters = 0 or 1: Did person </a:t>
            </a:r>
            <a:r>
              <a:rPr lang="en-US" dirty="0" err="1" smtClean="0"/>
              <a:t>i</a:t>
            </a:r>
            <a:r>
              <a:rPr lang="en-US" dirty="0" smtClean="0"/>
              <a:t> graduate with a masters degree? This outcome measures the probability of graduating with a masters degree.</a:t>
            </a:r>
          </a:p>
          <a:p>
            <a:r>
              <a:rPr lang="en-US" dirty="0" smtClean="0"/>
              <a:t>Graduate with PhD = 0 or 1: Did person </a:t>
            </a:r>
            <a:r>
              <a:rPr lang="en-US" dirty="0" err="1" smtClean="0"/>
              <a:t>i</a:t>
            </a:r>
            <a:r>
              <a:rPr lang="en-US" dirty="0" smtClean="0"/>
              <a:t> graduate with a PhD? This outcome measures the probability of graduating with a PhD.</a:t>
            </a:r>
            <a:endParaRPr lang="en-US" dirty="0"/>
          </a:p>
        </p:txBody>
      </p:sp>
    </p:spTree>
    <p:extLst>
      <p:ext uri="{BB962C8B-B14F-4D97-AF65-F5344CB8AC3E}">
        <p14:creationId xmlns:p14="http://schemas.microsoft.com/office/powerpoint/2010/main" val="41378160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9456"/>
            <a:ext cx="9144000" cy="914400"/>
          </a:xfrm>
        </p:spPr>
        <p:txBody>
          <a:bodyPr/>
          <a:lstStyle/>
          <a:p>
            <a:pPr algn="ctr"/>
            <a:r>
              <a:rPr lang="en-US" dirty="0" smtClean="0"/>
              <a:t>Tests of Identification</a:t>
            </a:r>
            <a:endParaRPr lang="en-US" dirty="0"/>
          </a:p>
        </p:txBody>
      </p:sp>
      <p:sp>
        <p:nvSpPr>
          <p:cNvPr id="3" name="Content Placeholder 2"/>
          <p:cNvSpPr>
            <a:spLocks noGrp="1"/>
          </p:cNvSpPr>
          <p:nvPr>
            <p:ph idx="1"/>
          </p:nvPr>
        </p:nvSpPr>
        <p:spPr>
          <a:xfrm>
            <a:off x="0" y="1179685"/>
            <a:ext cx="9143999" cy="5501544"/>
          </a:xfrm>
        </p:spPr>
        <p:txBody>
          <a:bodyPr/>
          <a:lstStyle/>
          <a:p>
            <a:r>
              <a:rPr lang="en-US" dirty="0" smtClean="0"/>
              <a:t>Graph the outcomes for treatment and control groups before and after treatment to verify they follow the same trajectory pre-treatment.</a:t>
            </a:r>
          </a:p>
          <a:p>
            <a:r>
              <a:rPr lang="en-US" dirty="0" smtClean="0"/>
              <a:t>Compare the means of observable characteristics between the treatment and control group.</a:t>
            </a:r>
          </a:p>
          <a:p>
            <a:r>
              <a:rPr lang="en-US" dirty="0" smtClean="0"/>
              <a:t>Examine whether the difference-in-difference estimator changes when I include controls that are exogenous to the treatment.</a:t>
            </a:r>
          </a:p>
          <a:p>
            <a:r>
              <a:rPr lang="en-US" dirty="0" smtClean="0"/>
              <a:t>Test to see if the treatment and control groups diverge pre-treatment by estimating leading dummy indicators as placebos.</a:t>
            </a:r>
          </a:p>
          <a:p>
            <a:r>
              <a:rPr lang="en-US" dirty="0" smtClean="0"/>
              <a:t>Falsification Tests: Use the same research design to show that treatment does not affect outcomes it should not affect.</a:t>
            </a:r>
          </a:p>
          <a:p>
            <a:r>
              <a:rPr lang="en-US" dirty="0" smtClean="0"/>
              <a:t>Show the effects are larger for subgroups whom you would expect to be more affected, ex-ante.</a:t>
            </a:r>
            <a:endParaRPr lang="en-US" dirty="0"/>
          </a:p>
        </p:txBody>
      </p:sp>
    </p:spTree>
    <p:extLst>
      <p:ext uri="{BB962C8B-B14F-4D97-AF65-F5344CB8AC3E}">
        <p14:creationId xmlns:p14="http://schemas.microsoft.com/office/powerpoint/2010/main" val="31803164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9456"/>
            <a:ext cx="9144000" cy="914400"/>
          </a:xfrm>
        </p:spPr>
        <p:txBody>
          <a:bodyPr/>
          <a:lstStyle/>
          <a:p>
            <a:pPr algn="ctr"/>
            <a:r>
              <a:rPr lang="en-US" dirty="0" smtClean="0"/>
              <a:t>Data Information</a:t>
            </a:r>
            <a:endParaRPr lang="en-US" dirty="0"/>
          </a:p>
        </p:txBody>
      </p:sp>
      <p:sp>
        <p:nvSpPr>
          <p:cNvPr id="3" name="Content Placeholder 2"/>
          <p:cNvSpPr>
            <a:spLocks noGrp="1"/>
          </p:cNvSpPr>
          <p:nvPr>
            <p:ph idx="1"/>
          </p:nvPr>
        </p:nvSpPr>
        <p:spPr>
          <a:xfrm>
            <a:off x="0" y="1136394"/>
            <a:ext cx="9144000" cy="5559265"/>
          </a:xfrm>
        </p:spPr>
        <p:txBody>
          <a:bodyPr/>
          <a:lstStyle/>
          <a:p>
            <a:r>
              <a:rPr lang="en-US" dirty="0" smtClean="0"/>
              <a:t>The National Postsecondary Student Aid Study (NPSAS): The National Center for Education Statistics (NCES) is mandated to collect, analyze, and publish statistics related to education. The NPSAS compiles a comprehensive research dataset, based on student-level records, financial aid provided by the federal government, the states, postsecondary institutions, employers, and private agencies, along with student demographic and enrollment data.</a:t>
            </a:r>
          </a:p>
          <a:p>
            <a:r>
              <a:rPr lang="en-US" dirty="0" smtClean="0"/>
              <a:t>NPSAS data come from multiple sources, including institutional records, government databases, and student interviews. Detailed data on participation in student financial aid programs are extracted from institutional records.</a:t>
            </a:r>
          </a:p>
          <a:p>
            <a:r>
              <a:rPr lang="en-US" dirty="0" smtClean="0"/>
              <a:t>Problem: The NPSAS is a longitudinal survey that is released every four years. The last release was in 2012, and the data spans July 1, 2011 to July 30, 2012. So, this data set reflects cohorts in the pre-period. I would still have to wait on the next release in to obtain data on the post-period and conduct my analysis.</a:t>
            </a:r>
            <a:endParaRPr lang="en-US" dirty="0"/>
          </a:p>
        </p:txBody>
      </p:sp>
    </p:spTree>
    <p:extLst>
      <p:ext uri="{BB962C8B-B14F-4D97-AF65-F5344CB8AC3E}">
        <p14:creationId xmlns:p14="http://schemas.microsoft.com/office/powerpoint/2010/main" val="21095058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9456"/>
            <a:ext cx="9144000" cy="914400"/>
          </a:xfrm>
        </p:spPr>
        <p:txBody>
          <a:bodyPr/>
          <a:lstStyle/>
          <a:p>
            <a:pPr algn="ctr"/>
            <a:r>
              <a:rPr lang="en-US" dirty="0" smtClean="0"/>
              <a:t>Possible Solution</a:t>
            </a:r>
            <a:endParaRPr lang="en-US" dirty="0"/>
          </a:p>
        </p:txBody>
      </p:sp>
      <p:sp>
        <p:nvSpPr>
          <p:cNvPr id="3" name="Content Placeholder 2"/>
          <p:cNvSpPr>
            <a:spLocks noGrp="1"/>
          </p:cNvSpPr>
          <p:nvPr>
            <p:ph idx="1"/>
          </p:nvPr>
        </p:nvSpPr>
        <p:spPr>
          <a:xfrm>
            <a:off x="0" y="1165255"/>
            <a:ext cx="9144000" cy="5472683"/>
          </a:xfrm>
        </p:spPr>
        <p:txBody>
          <a:bodyPr>
            <a:normAutofit fontScale="92500"/>
          </a:bodyPr>
          <a:lstStyle/>
          <a:p>
            <a:r>
              <a:rPr lang="en-US" dirty="0" smtClean="0"/>
              <a:t>Combine data sets from the Current Population Survey (CPS), FAFSA records, and the National Student Clearinghouse (NSC) using social security numbers.</a:t>
            </a:r>
          </a:p>
          <a:p>
            <a:r>
              <a:rPr lang="en-US" dirty="0" smtClean="0"/>
              <a:t> CPS: Households from all 50 states and DC are in the survey for 4 consecutive months, out for 8, and then return for another 4 months before leaving the sample permanently. The CPS provides data on a wide range of  issues, including, employment, earnings, education, and demographics.</a:t>
            </a:r>
          </a:p>
          <a:p>
            <a:r>
              <a:rPr lang="en-US" dirty="0" smtClean="0"/>
              <a:t>FAFSA records contain vital demographic and financial information on all students who apply for financial aid. In addition, it has information on where students are intending to apply (or where they are currently enrolled). Finally, it provides some measure of financial aid eligibility through the Expected Family Contribution (EFC) calculation.</a:t>
            </a:r>
          </a:p>
          <a:p>
            <a:r>
              <a:rPr lang="en-US" dirty="0" smtClean="0"/>
              <a:t>NSC is a non-profit organization which collects individual student enrollment information for roughly 2400 two-year and four-year colleges.</a:t>
            </a:r>
          </a:p>
          <a:p>
            <a:endParaRPr lang="en-US" dirty="0"/>
          </a:p>
        </p:txBody>
      </p:sp>
    </p:spTree>
    <p:extLst>
      <p:ext uri="{BB962C8B-B14F-4D97-AF65-F5344CB8AC3E}">
        <p14:creationId xmlns:p14="http://schemas.microsoft.com/office/powerpoint/2010/main" val="3676285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7749"/>
            <a:ext cx="9144000" cy="914400"/>
          </a:xfrm>
        </p:spPr>
        <p:txBody>
          <a:bodyPr>
            <a:normAutofit fontScale="90000"/>
          </a:bodyPr>
          <a:lstStyle/>
          <a:p>
            <a:pPr algn="ctr"/>
            <a:r>
              <a:rPr lang="en-US" dirty="0" smtClean="0"/>
              <a:t>Second Proposal: Emotional Intelligence Education</a:t>
            </a:r>
            <a:endParaRPr lang="en-US" dirty="0"/>
          </a:p>
        </p:txBody>
      </p:sp>
      <p:sp>
        <p:nvSpPr>
          <p:cNvPr id="3" name="Content Placeholder 2"/>
          <p:cNvSpPr>
            <a:spLocks noGrp="1"/>
          </p:cNvSpPr>
          <p:nvPr>
            <p:ph idx="1"/>
          </p:nvPr>
        </p:nvSpPr>
        <p:spPr>
          <a:xfrm>
            <a:off x="0" y="1134687"/>
            <a:ext cx="9144000" cy="5532112"/>
          </a:xfrm>
        </p:spPr>
        <p:txBody>
          <a:bodyPr>
            <a:normAutofit/>
          </a:bodyPr>
          <a:lstStyle/>
          <a:p>
            <a:r>
              <a:rPr lang="en-US" dirty="0"/>
              <a:t>Emotional intelligence is the ability to identify, assess, and control ones emotions. In the book “Emotional Intelligence: Why It Can Matter More Than IQ,” Daniel </a:t>
            </a:r>
            <a:r>
              <a:rPr lang="en-US" dirty="0" err="1"/>
              <a:t>Goleman</a:t>
            </a:r>
            <a:r>
              <a:rPr lang="en-US" dirty="0"/>
              <a:t> claims that IQ is not an accurate predictor of success. </a:t>
            </a:r>
            <a:r>
              <a:rPr lang="en-US" dirty="0" smtClean="0"/>
              <a:t>There </a:t>
            </a:r>
            <a:r>
              <a:rPr lang="en-US" dirty="0"/>
              <a:t>are many instances in which people with high IQ struggle, while individuals with modest IQ do surprisingly well. </a:t>
            </a:r>
            <a:endParaRPr lang="en-US" dirty="0" smtClean="0"/>
          </a:p>
          <a:p>
            <a:r>
              <a:rPr lang="en-US" dirty="0" smtClean="0"/>
              <a:t>Instead</a:t>
            </a:r>
            <a:r>
              <a:rPr lang="en-US" dirty="0"/>
              <a:t>, </a:t>
            </a:r>
            <a:r>
              <a:rPr lang="en-US" dirty="0" err="1"/>
              <a:t>Goleman</a:t>
            </a:r>
            <a:r>
              <a:rPr lang="en-US" dirty="0"/>
              <a:t> claims that individuals with high degrees of self-awareness, self-discipline, and empathy, factors all associated with “emotional intelligence (EI),” will actually fair much better. People with well-developed emotional skills are also more likely to be content and effective in their lives. Social intelligence is both distinct from academic </a:t>
            </a:r>
            <a:r>
              <a:rPr lang="en-US" dirty="0" smtClean="0"/>
              <a:t>abilities </a:t>
            </a:r>
            <a:r>
              <a:rPr lang="en-US" dirty="0"/>
              <a:t>and a key part of what makes people do well in the practicalities of life.</a:t>
            </a:r>
          </a:p>
        </p:txBody>
      </p:sp>
    </p:spTree>
    <p:extLst>
      <p:ext uri="{BB962C8B-B14F-4D97-AF65-F5344CB8AC3E}">
        <p14:creationId xmlns:p14="http://schemas.microsoft.com/office/powerpoint/2010/main" val="37285469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9456"/>
            <a:ext cx="9144000" cy="914400"/>
          </a:xfrm>
        </p:spPr>
        <p:txBody>
          <a:bodyPr/>
          <a:lstStyle/>
          <a:p>
            <a:pPr algn="ctr"/>
            <a:r>
              <a:rPr lang="en-US" dirty="0" smtClean="0"/>
              <a:t>Criticisms of EI</a:t>
            </a:r>
            <a:endParaRPr lang="en-US" dirty="0"/>
          </a:p>
        </p:txBody>
      </p:sp>
      <p:sp>
        <p:nvSpPr>
          <p:cNvPr id="3" name="Content Placeholder 2"/>
          <p:cNvSpPr>
            <a:spLocks noGrp="1"/>
          </p:cNvSpPr>
          <p:nvPr>
            <p:ph idx="1"/>
          </p:nvPr>
        </p:nvSpPr>
        <p:spPr>
          <a:xfrm>
            <a:off x="0" y="1165255"/>
            <a:ext cx="9144000" cy="5501544"/>
          </a:xfrm>
        </p:spPr>
        <p:txBody>
          <a:bodyPr/>
          <a:lstStyle/>
          <a:p>
            <a:r>
              <a:rPr lang="en-US" dirty="0"/>
              <a:t>However, EI still faces criticism of its own. In fact, some researchers refuse to consider EI as a separate form of intelligence. In their opinion, EI is just another factor they associate with general intelligence. </a:t>
            </a:r>
            <a:endParaRPr lang="en-US" dirty="0" smtClean="0"/>
          </a:p>
          <a:p>
            <a:r>
              <a:rPr lang="en-US" dirty="0" smtClean="0"/>
              <a:t>The </a:t>
            </a:r>
            <a:r>
              <a:rPr lang="en-US" dirty="0"/>
              <a:t>few incremental validity studies conducted on EI have shown that adds little or nothing to the explanation or prediction of common outcomes, such as academic success. Also, research of EI and job performance show mixed results. </a:t>
            </a:r>
            <a:endParaRPr lang="en-US" dirty="0" smtClean="0"/>
          </a:p>
          <a:p>
            <a:r>
              <a:rPr lang="en-US" dirty="0" smtClean="0"/>
              <a:t>In </a:t>
            </a:r>
            <a:r>
              <a:rPr lang="en-US" dirty="0"/>
              <a:t>essence, critics assert that the claims of EI's predictive power are too extreme. Finally, many individuals affirm that the tests created to measure EI actually measure traits associated with personality and general intelligence</a:t>
            </a:r>
          </a:p>
        </p:txBody>
      </p:sp>
    </p:spTree>
    <p:extLst>
      <p:ext uri="{BB962C8B-B14F-4D97-AF65-F5344CB8AC3E}">
        <p14:creationId xmlns:p14="http://schemas.microsoft.com/office/powerpoint/2010/main" val="34743192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9456"/>
            <a:ext cx="9144000" cy="914400"/>
          </a:xfrm>
        </p:spPr>
        <p:txBody>
          <a:bodyPr>
            <a:normAutofit/>
          </a:bodyPr>
          <a:lstStyle/>
          <a:p>
            <a:pPr algn="ctr"/>
            <a:r>
              <a:rPr lang="en-US" dirty="0" smtClean="0"/>
              <a:t>Stagnation of U.S. Education</a:t>
            </a:r>
            <a:endParaRPr lang="en-US" dirty="0"/>
          </a:p>
        </p:txBody>
      </p:sp>
      <p:sp>
        <p:nvSpPr>
          <p:cNvPr id="3" name="Content Placeholder 2"/>
          <p:cNvSpPr>
            <a:spLocks noGrp="1"/>
          </p:cNvSpPr>
          <p:nvPr>
            <p:ph idx="1"/>
          </p:nvPr>
        </p:nvSpPr>
        <p:spPr>
          <a:xfrm>
            <a:off x="0" y="1123856"/>
            <a:ext cx="9144000" cy="5557373"/>
          </a:xfrm>
        </p:spPr>
        <p:txBody>
          <a:bodyPr/>
          <a:lstStyle/>
          <a:p>
            <a:r>
              <a:rPr lang="en-US" dirty="0"/>
              <a:t>Despite the misgivings attributed to EI, many individuals believe that EI education can provide beneficial skills and tools. </a:t>
            </a:r>
            <a:r>
              <a:rPr lang="en-US" dirty="0" smtClean="0"/>
              <a:t>Childhood </a:t>
            </a:r>
            <a:r>
              <a:rPr lang="en-US" dirty="0"/>
              <a:t>is a critical time for the development of EI. Yet, some schools across the country have been apprehensive in applying new theories and methods to improve the quality of education. </a:t>
            </a:r>
            <a:endParaRPr lang="en-US" dirty="0" smtClean="0"/>
          </a:p>
          <a:p>
            <a:r>
              <a:rPr lang="en-US" dirty="0" smtClean="0"/>
              <a:t>Schools </a:t>
            </a:r>
            <a:r>
              <a:rPr lang="en-US" dirty="0"/>
              <a:t>have become too </a:t>
            </a:r>
            <a:r>
              <a:rPr lang="en-US" dirty="0" smtClean="0"/>
              <a:t>concerned </a:t>
            </a:r>
            <a:r>
              <a:rPr lang="en-US" dirty="0"/>
              <a:t>with academic intelligence, which primarily includes reading and math skills, and ranking students based on arbitrary standardized tests. As a result, teachers, administrators, school boards, etc., have faced harsh criticism. </a:t>
            </a:r>
            <a:endParaRPr lang="en-US" dirty="0" smtClean="0"/>
          </a:p>
          <a:p>
            <a:r>
              <a:rPr lang="en-US" dirty="0" smtClean="0"/>
              <a:t>Many </a:t>
            </a:r>
            <a:r>
              <a:rPr lang="en-US" dirty="0"/>
              <a:t>experts believe that school's are doing a poor job of actually fostering a child's interests and cultivating his innate natural gifts. Schools are failing to educate students in important life skills, and they are oblivious to the many different abilities that will help a child succeed. Moreover, schools fail to account for the different kinds of intelligences that are crucial for life success.</a:t>
            </a:r>
          </a:p>
        </p:txBody>
      </p:sp>
    </p:spTree>
    <p:extLst>
      <p:ext uri="{BB962C8B-B14F-4D97-AF65-F5344CB8AC3E}">
        <p14:creationId xmlns:p14="http://schemas.microsoft.com/office/powerpoint/2010/main" val="6306233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36609"/>
            <a:ext cx="9144000" cy="914400"/>
          </a:xfrm>
        </p:spPr>
        <p:txBody>
          <a:bodyPr/>
          <a:lstStyle/>
          <a:p>
            <a:pPr algn="ctr"/>
            <a:r>
              <a:rPr lang="en-US" dirty="0" smtClean="0"/>
              <a:t>A New Education Program</a:t>
            </a:r>
            <a:endParaRPr lang="en-US" dirty="0"/>
          </a:p>
        </p:txBody>
      </p:sp>
      <p:sp>
        <p:nvSpPr>
          <p:cNvPr id="3" name="Content Placeholder 2"/>
          <p:cNvSpPr>
            <a:spLocks noGrp="1"/>
          </p:cNvSpPr>
          <p:nvPr>
            <p:ph idx="1"/>
          </p:nvPr>
        </p:nvSpPr>
        <p:spPr>
          <a:xfrm>
            <a:off x="0" y="1151009"/>
            <a:ext cx="9144000" cy="5501359"/>
          </a:xfrm>
        </p:spPr>
        <p:txBody>
          <a:bodyPr/>
          <a:lstStyle/>
          <a:p>
            <a:r>
              <a:rPr lang="en-US" dirty="0"/>
              <a:t>However, there are still many districts, and even entire states, in the United States that are trying to establish social and emotional learning (SEL) programs. They are even trying to make SEL a curriculum requirement, mandating that students should master these essential skills for living. </a:t>
            </a:r>
            <a:endParaRPr lang="en-US" dirty="0" smtClean="0"/>
          </a:p>
          <a:p>
            <a:r>
              <a:rPr lang="en-US" dirty="0" smtClean="0"/>
              <a:t>For </a:t>
            </a:r>
            <a:r>
              <a:rPr lang="en-US" dirty="0"/>
              <a:t>instance, in Illinois, specific learning standards in SEL abilities have been established for every grade from kindergarten through the last year of high school. Preliminary evidence suggests that these programs not only improve behavior, but they also improve measurable academic achievement. </a:t>
            </a:r>
            <a:endParaRPr lang="en-US" dirty="0" smtClean="0"/>
          </a:p>
          <a:p>
            <a:r>
              <a:rPr lang="en-US" dirty="0" smtClean="0"/>
              <a:t>However, </a:t>
            </a:r>
            <a:r>
              <a:rPr lang="en-US" dirty="0"/>
              <a:t>the researchers obtained the data for these studies using massive surveys, so the serious problems of </a:t>
            </a:r>
            <a:r>
              <a:rPr lang="en-US" dirty="0" err="1"/>
              <a:t>endogeneity</a:t>
            </a:r>
            <a:r>
              <a:rPr lang="en-US" dirty="0"/>
              <a:t> and </a:t>
            </a:r>
            <a:r>
              <a:rPr lang="en-US" dirty="0" smtClean="0"/>
              <a:t>measurement </a:t>
            </a:r>
            <a:r>
              <a:rPr lang="en-US" dirty="0"/>
              <a:t>error are ever present.</a:t>
            </a:r>
          </a:p>
        </p:txBody>
      </p:sp>
    </p:spTree>
    <p:extLst>
      <p:ext uri="{BB962C8B-B14F-4D97-AF65-F5344CB8AC3E}">
        <p14:creationId xmlns:p14="http://schemas.microsoft.com/office/powerpoint/2010/main" val="6317630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2179"/>
            <a:ext cx="9144000" cy="914400"/>
          </a:xfrm>
        </p:spPr>
        <p:txBody>
          <a:bodyPr/>
          <a:lstStyle/>
          <a:p>
            <a:pPr algn="ctr"/>
            <a:r>
              <a:rPr lang="en-US" dirty="0" smtClean="0"/>
              <a:t>A Field Experiment</a:t>
            </a:r>
            <a:endParaRPr lang="en-US" dirty="0"/>
          </a:p>
        </p:txBody>
      </p:sp>
      <p:sp>
        <p:nvSpPr>
          <p:cNvPr id="3" name="Content Placeholder 2"/>
          <p:cNvSpPr>
            <a:spLocks noGrp="1"/>
          </p:cNvSpPr>
          <p:nvPr>
            <p:ph idx="1"/>
          </p:nvPr>
        </p:nvSpPr>
        <p:spPr>
          <a:xfrm>
            <a:off x="0" y="1177978"/>
            <a:ext cx="9144000" cy="5474390"/>
          </a:xfrm>
        </p:spPr>
        <p:txBody>
          <a:bodyPr>
            <a:normAutofit/>
          </a:bodyPr>
          <a:lstStyle/>
          <a:p>
            <a:r>
              <a:rPr lang="en-US" dirty="0"/>
              <a:t> So, is emotional intelligence actually a good predictor of academic success? </a:t>
            </a:r>
            <a:endParaRPr lang="en-US" dirty="0" smtClean="0"/>
          </a:p>
          <a:p>
            <a:r>
              <a:rPr lang="en-US" dirty="0" smtClean="0"/>
              <a:t>My </a:t>
            </a:r>
            <a:r>
              <a:rPr lang="en-US" dirty="0"/>
              <a:t>field experiment would be implemented in order to test the effect EI education has on overall academic performance. </a:t>
            </a:r>
            <a:endParaRPr lang="en-US" dirty="0" smtClean="0"/>
          </a:p>
          <a:p>
            <a:r>
              <a:rPr lang="en-US" dirty="0" smtClean="0"/>
              <a:t>The </a:t>
            </a:r>
            <a:r>
              <a:rPr lang="en-US" dirty="0"/>
              <a:t>experiment would mirror the one implemented by Project STAR, which was a large-scale randomized experiment designed to measure the effect of class size on academic performance. Krueger (1999) provides an econometric analysis of the data</a:t>
            </a:r>
            <a:r>
              <a:rPr lang="en-US" dirty="0" smtClean="0"/>
              <a:t>.</a:t>
            </a:r>
            <a:endParaRPr lang="en-US" dirty="0"/>
          </a:p>
        </p:txBody>
      </p:sp>
    </p:spTree>
    <p:extLst>
      <p:ext uri="{BB962C8B-B14F-4D97-AF65-F5344CB8AC3E}">
        <p14:creationId xmlns:p14="http://schemas.microsoft.com/office/powerpoint/2010/main" val="34625724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9456"/>
            <a:ext cx="9144000" cy="914400"/>
          </a:xfrm>
        </p:spPr>
        <p:txBody>
          <a:bodyPr/>
          <a:lstStyle/>
          <a:p>
            <a:pPr algn="ctr"/>
            <a:r>
              <a:rPr lang="en-US" dirty="0" smtClean="0"/>
              <a:t>Experimental Design</a:t>
            </a:r>
            <a:endParaRPr lang="en-US" dirty="0"/>
          </a:p>
        </p:txBody>
      </p:sp>
      <p:sp>
        <p:nvSpPr>
          <p:cNvPr id="3" name="Content Placeholder 2"/>
          <p:cNvSpPr>
            <a:spLocks noGrp="1"/>
          </p:cNvSpPr>
          <p:nvPr>
            <p:ph idx="1"/>
          </p:nvPr>
        </p:nvSpPr>
        <p:spPr>
          <a:xfrm>
            <a:off x="0" y="1165255"/>
            <a:ext cx="9144000" cy="5487113"/>
          </a:xfrm>
        </p:spPr>
        <p:txBody>
          <a:bodyPr/>
          <a:lstStyle/>
          <a:p>
            <a:r>
              <a:rPr lang="en-US" dirty="0"/>
              <a:t>Thus, for my research design, kindergarten students will be randomly assigned to one of two groups: students who participate in SEL programs and students who do not participate in SEL </a:t>
            </a:r>
            <a:r>
              <a:rPr lang="en-US" dirty="0" smtClean="0"/>
              <a:t>programs. Students </a:t>
            </a:r>
            <a:r>
              <a:rPr lang="en-US" dirty="0"/>
              <a:t>who enter into the experiment in later grades will also be randomly assigned. </a:t>
            </a:r>
            <a:endParaRPr lang="en-US" dirty="0" smtClean="0"/>
          </a:p>
          <a:p>
            <a:r>
              <a:rPr lang="en-US" dirty="0" smtClean="0"/>
              <a:t>After </a:t>
            </a:r>
            <a:r>
              <a:rPr lang="en-US" dirty="0"/>
              <a:t>the initial assignment, student's will remain in their group for four years. At the end of each school year, students will be given a set of standardized tests; the results of these tests, along with final grade point averages, will be analyzed</a:t>
            </a:r>
            <a:r>
              <a:rPr lang="en-US"/>
              <a:t>. </a:t>
            </a:r>
            <a:endParaRPr lang="en-US" smtClean="0"/>
          </a:p>
          <a:p>
            <a:r>
              <a:rPr lang="en-US" smtClean="0"/>
              <a:t>The </a:t>
            </a:r>
            <a:r>
              <a:rPr lang="en-US" dirty="0"/>
              <a:t>ultimate goal of random assignment is to have any and all unobserved characteristics be orthogonal to treatment. This affords me the opportunity to obtain unbiased estimates on the effect SEL programs have on academic success.</a:t>
            </a:r>
          </a:p>
          <a:p>
            <a:endParaRPr lang="en-US" dirty="0"/>
          </a:p>
        </p:txBody>
      </p:sp>
    </p:spTree>
    <p:extLst>
      <p:ext uri="{BB962C8B-B14F-4D97-AF65-F5344CB8AC3E}">
        <p14:creationId xmlns:p14="http://schemas.microsoft.com/office/powerpoint/2010/main" val="683778654"/>
      </p:ext>
    </p:extLst>
  </p:cSld>
  <p:clrMapOvr>
    <a:masterClrMapping/>
  </p:clrMapOvr>
</p:sld>
</file>

<file path=ppt/theme/theme1.xml><?xml version="1.0" encoding="utf-8"?>
<a:theme xmlns:a="http://schemas.openxmlformats.org/drawingml/2006/main" name="Perception">
  <a:themeElements>
    <a:clrScheme name="Perception">
      <a:dk1>
        <a:sysClr val="windowText" lastClr="000000"/>
      </a:dk1>
      <a:lt1>
        <a:sysClr val="window" lastClr="FFFFFF"/>
      </a:lt1>
      <a:dk2>
        <a:srgbClr val="333333"/>
      </a:dk2>
      <a:lt2>
        <a:srgbClr val="BBC0AC"/>
      </a:lt2>
      <a:accent1>
        <a:srgbClr val="A2C816"/>
      </a:accent1>
      <a:accent2>
        <a:srgbClr val="E07602"/>
      </a:accent2>
      <a:accent3>
        <a:srgbClr val="E4C402"/>
      </a:accent3>
      <a:accent4>
        <a:srgbClr val="7DC1EF"/>
      </a:accent4>
      <a:accent5>
        <a:srgbClr val="21449B"/>
      </a:accent5>
      <a:accent6>
        <a:srgbClr val="A2B170"/>
      </a:accent6>
      <a:hlink>
        <a:srgbClr val="8DA440"/>
      </a:hlink>
      <a:folHlink>
        <a:srgbClr val="4C4F3F"/>
      </a:folHlink>
    </a:clrScheme>
    <a:fontScheme name="Perception">
      <a:majorFont>
        <a:latin typeface="Century Gothic"/>
        <a:ea typeface=""/>
        <a:cs typeface=""/>
        <a:font script="Jpan" typeface="メイリオ"/>
        <a:font script="Hans" typeface="宋体"/>
        <a:font script="Hant" typeface="新細明體"/>
      </a:majorFont>
      <a:minorFont>
        <a:latin typeface="Century Gothic"/>
        <a:ea typeface=""/>
        <a:cs typeface=""/>
        <a:font script="Jpan" typeface="メイリオ"/>
        <a:font script="Hans" typeface="宋体"/>
        <a:font script="Hant" typeface="新細明體"/>
      </a:minorFont>
    </a:fontScheme>
    <a:fmtScheme name="Perception">
      <a:fillStyleLst>
        <a:solidFill>
          <a:schemeClr val="phClr"/>
        </a:solidFill>
        <a:solidFill>
          <a:schemeClr val="phClr">
            <a:shade val="90000"/>
          </a:schemeClr>
        </a:solidFill>
        <a:solidFill>
          <a:schemeClr val="phClr">
            <a:shade val="80000"/>
          </a:schemeClr>
        </a:solidFill>
      </a:fillStyleLst>
      <a:lnStyleLst>
        <a:ln w="12700" cap="flat" cmpd="sng" algn="ctr">
          <a:solidFill>
            <a:schemeClr val="phClr">
              <a:satMod val="105000"/>
            </a:schemeClr>
          </a:solidFill>
          <a:prstDash val="solid"/>
        </a:ln>
        <a:ln w="25400" cap="flat" cmpd="sng" algn="ctr">
          <a:solidFill>
            <a:schemeClr val="phClr"/>
          </a:solidFill>
          <a:prstDash val="solid"/>
        </a:ln>
        <a:ln w="25400" cap="flat" cmpd="sng" algn="ctr">
          <a:solidFill>
            <a:schemeClr val="phClr">
              <a:alpha val="80000"/>
            </a:schemeClr>
          </a:solidFill>
          <a:prstDash val="solid"/>
        </a:ln>
      </a:lnStyleLst>
      <a:effectStyleLst>
        <a:effectStyle>
          <a:effectLst/>
        </a:effectStyle>
        <a:effectStyle>
          <a:effectLst/>
          <a:scene3d>
            <a:camera prst="obliqueTopRight"/>
            <a:lightRig rig="threePt" dir="tl"/>
          </a:scene3d>
          <a:sp3d>
            <a:bevelT w="25400" h="25400"/>
          </a:sp3d>
        </a:effectStyle>
        <a:effectStyle>
          <a:effectLst/>
          <a:scene3d>
            <a:camera prst="perspectiveFront" fov="4200000"/>
            <a:lightRig rig="balanced" dir="tl">
              <a:rot lat="0" lon="0" rev="18600000"/>
            </a:lightRig>
          </a:scene3d>
          <a:sp3d prstMaterial="metal">
            <a:bevelT w="63500" h="50800" prst="angle"/>
          </a:sp3d>
        </a:effectStyle>
      </a:effectStyleLst>
      <a:bgFillStyleLst>
        <a:solidFill>
          <a:schemeClr val="phClr">
            <a:tint val="90000"/>
          </a:schemeClr>
        </a:solidFill>
        <a:solidFill>
          <a:schemeClr val="phClr">
            <a:tint val="50000"/>
          </a:schemeClr>
        </a:solidFill>
        <a:solidFill>
          <a:schemeClr val="phClr">
            <a:shade val="60000"/>
          </a:schemeClr>
        </a:soli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Perception.thmx</Template>
  <TotalTime>727</TotalTime>
  <Words>3426</Words>
  <Application>Microsoft Macintosh PowerPoint</Application>
  <PresentationFormat>On-screen Show (4:3)</PresentationFormat>
  <Paragraphs>134</Paragraphs>
  <Slides>25</Slides>
  <Notes>2</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Perception</vt:lpstr>
      <vt:lpstr>The Effect of Student Aid on Graduate School Enrollment</vt:lpstr>
      <vt:lpstr>Introduction</vt:lpstr>
      <vt:lpstr>Graduate School Statistics</vt:lpstr>
      <vt:lpstr>Possible Consequences of the Downward Trend</vt:lpstr>
      <vt:lpstr>Possible Explanations for the Downward Trend</vt:lpstr>
      <vt:lpstr>The Elimination of Subsidized Loans for U.S. Graduate Students</vt:lpstr>
      <vt:lpstr>More Expensive Financial Aid Options</vt:lpstr>
      <vt:lpstr>The Impact of Eliminating Subsidized Loans for Graduate Students</vt:lpstr>
      <vt:lpstr>Existing Literature</vt:lpstr>
      <vt:lpstr>Existing Literature (cont.)</vt:lpstr>
      <vt:lpstr>Adding to the Literature</vt:lpstr>
      <vt:lpstr>Research Difficulties</vt:lpstr>
      <vt:lpstr>Possible Exogenous Variation</vt:lpstr>
      <vt:lpstr>Identification Strategy</vt:lpstr>
      <vt:lpstr>Difference-in-Difference Estimation</vt:lpstr>
      <vt:lpstr>Possible Outcomes to Measure (Contingent on the Data)</vt:lpstr>
      <vt:lpstr>Tests of Identification</vt:lpstr>
      <vt:lpstr>Data Information</vt:lpstr>
      <vt:lpstr>Possible Solution</vt:lpstr>
      <vt:lpstr>Second Proposal: Emotional Intelligence Education</vt:lpstr>
      <vt:lpstr>Criticisms of EI</vt:lpstr>
      <vt:lpstr>Stagnation of U.S. Education</vt:lpstr>
      <vt:lpstr>A New Education Program</vt:lpstr>
      <vt:lpstr>A Field Experiment</vt:lpstr>
      <vt:lpstr>Experimental Design</vt:lpstr>
    </vt:vector>
  </TitlesOfParts>
  <Company>The Florida State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“Does the Military Train Men to be Violent Criminals? New Evidence from Australia’s Conscription Lotteries”</dc:title>
  <dc:creator>Nathan Smooha</dc:creator>
  <cp:lastModifiedBy>Nathan Smooha</cp:lastModifiedBy>
  <cp:revision>124</cp:revision>
  <dcterms:created xsi:type="dcterms:W3CDTF">2013-11-11T20:18:51Z</dcterms:created>
  <dcterms:modified xsi:type="dcterms:W3CDTF">2013-11-25T18:17:18Z</dcterms:modified>
</cp:coreProperties>
</file>